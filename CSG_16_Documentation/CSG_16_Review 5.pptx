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bookmarkIdSeed="2">
  <p:sldMasterIdLst>
    <p:sldMasterId id="2147483659" r:id="rId1"/>
  </p:sldMasterIdLst>
  <p:notesMasterIdLst>
    <p:notesMasterId r:id="rId22"/>
  </p:notesMasterIdLst>
  <p:sldIdLst>
    <p:sldId id="256" r:id="rId2"/>
    <p:sldId id="269" r:id="rId3"/>
    <p:sldId id="291" r:id="rId4"/>
    <p:sldId id="288" r:id="rId5"/>
    <p:sldId id="280" r:id="rId6"/>
    <p:sldId id="292" r:id="rId7"/>
    <p:sldId id="293" r:id="rId8"/>
    <p:sldId id="294" r:id="rId9"/>
    <p:sldId id="295" r:id="rId10"/>
    <p:sldId id="275" r:id="rId11"/>
    <p:sldId id="282" r:id="rId12"/>
    <p:sldId id="299" r:id="rId13"/>
    <p:sldId id="300" r:id="rId14"/>
    <p:sldId id="297" r:id="rId15"/>
    <p:sldId id="296" r:id="rId16"/>
    <p:sldId id="268" r:id="rId17"/>
    <p:sldId id="270" r:id="rId18"/>
    <p:sldId id="265" r:id="rId19"/>
    <p:sldId id="289"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1210EE-13D4-4378-8305-3E469BAED061}" v="6" dt="2025-11-29T14:14:50.963"/>
    <p1510:client id="{9A19B690-56D7-4A13-8B11-E17CADCCC626}" v="13" dt="2025-11-29T13:10:33.863"/>
    <p1510:client id="{B6AE6404-37F8-E8C5-C2B5-FE155EC1DDA1}" v="390" dt="2025-11-29T15:14:45.168"/>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02165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b="0" dirty="0"/>
              <a:t>Al-Driven Public Health Chatbot for Disease Awareness</a:t>
            </a:r>
            <a:endParaRPr dirty="0">
              <a:solidFill>
                <a:schemeClr val="tx1"/>
              </a:solidFill>
              <a:latin typeface="+mj-lt"/>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mj-lt"/>
                <a:ea typeface="Cambria" panose="02040503050406030204" pitchFamily="18" charset="0"/>
              </a:rPr>
              <a:t>Batch Number : CSG_16</a:t>
            </a:r>
            <a:endParaRPr dirty="0">
              <a:latin typeface="+mj-lt"/>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a:buSzPts val="2000"/>
            </a:pPr>
            <a:r>
              <a:rPr lang="en-GB" sz="1800" b="1" dirty="0">
                <a:solidFill>
                  <a:srgbClr val="17365D"/>
                </a:solidFill>
                <a:latin typeface="+mj-lt"/>
                <a:ea typeface="Cambria"/>
                <a:sym typeface="Verdana"/>
              </a:rPr>
              <a:t>Under the Supervision </a:t>
            </a:r>
            <a:r>
              <a:rPr lang="en-GB" sz="1800" b="1" i="0" u="none" strike="noStrike" cap="none" dirty="0">
                <a:solidFill>
                  <a:srgbClr val="17365D"/>
                </a:solidFill>
                <a:latin typeface="+mj-lt"/>
                <a:ea typeface="Cambria"/>
                <a:sym typeface="Verdana"/>
              </a:rPr>
              <a:t>of,</a:t>
            </a:r>
            <a:endParaRPr lang="en-US" sz="1800" b="1" i="0" u="none" strike="noStrike" cap="none" dirty="0">
              <a:solidFill>
                <a:srgbClr val="17365D"/>
              </a:solidFill>
              <a:latin typeface="+mj-lt"/>
              <a:ea typeface="Cambria"/>
            </a:endParaRPr>
          </a:p>
          <a:p>
            <a:pPr>
              <a:spcBef>
                <a:spcPts val="340"/>
              </a:spcBef>
              <a:buClr>
                <a:srgbClr val="17365D"/>
              </a:buClr>
              <a:buSzPts val="1700"/>
            </a:pPr>
            <a:r>
              <a:rPr lang="en-IN" sz="1800" b="1" dirty="0">
                <a:solidFill>
                  <a:srgbClr val="17365D"/>
                </a:solidFill>
                <a:latin typeface="Trebuchet MS"/>
                <a:cs typeface="Trebuchet MS"/>
              </a:rPr>
              <a:t>Mr. Asif Ahmad Najar</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Assistant Professor</a:t>
            </a:r>
            <a:endParaRPr lang="en-US"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US" sz="1800" b="1" i="0" u="none" strike="noStrike" cap="none" dirty="0">
                <a:solidFill>
                  <a:srgbClr val="17365D"/>
                </a:solidFill>
                <a:latin typeface="+mj-lt"/>
                <a:ea typeface="Cambria" panose="02040503050406030204" pitchFamily="18" charset="0"/>
                <a:cs typeface="Verdana"/>
                <a:sym typeface="Verdana"/>
              </a:rPr>
              <a:t>School of Computer Science and Engineering</a:t>
            </a:r>
            <a:endParaRPr lang="en-US"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Presidency University</a:t>
            </a:r>
            <a:endParaRPr sz="1800" dirty="0">
              <a:latin typeface="+mj-lt"/>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704089366"/>
              </p:ext>
            </p:extLst>
          </p:nvPr>
        </p:nvGraphicFramePr>
        <p:xfrm>
          <a:off x="553347" y="2721840"/>
          <a:ext cx="5418675" cy="222510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22695">
                <a:tc>
                  <a:txBody>
                    <a:bodyPr/>
                    <a:lstStyle/>
                    <a:p>
                      <a:pPr marL="0" marR="0" lvl="1" indent="0" algn="ctr" rtl="0">
                        <a:spcBef>
                          <a:spcPts val="0"/>
                        </a:spcBef>
                        <a:spcAft>
                          <a:spcPts val="0"/>
                        </a:spcAft>
                        <a:buNone/>
                      </a:pPr>
                      <a:r>
                        <a:rPr lang="en-GB" sz="2000" b="1" u="none" strike="noStrike" cap="none" dirty="0">
                          <a:solidFill>
                            <a:srgbClr val="17365D"/>
                          </a:solidFill>
                          <a:latin typeface="+mj-lt"/>
                        </a:rPr>
                        <a:t>Roll Number</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mj-lt"/>
                        </a:rPr>
                        <a:t>Student Name</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97873">
                <a:tc>
                  <a:txBody>
                    <a:bodyPr/>
                    <a:lstStyle/>
                    <a:p>
                      <a:pPr marL="0" marR="0" lvl="0" indent="0" algn="ctr" rtl="0">
                        <a:spcBef>
                          <a:spcPts val="0"/>
                        </a:spcBef>
                        <a:spcAft>
                          <a:spcPts val="0"/>
                        </a:spcAft>
                        <a:buFont typeface="+mj-lt"/>
                        <a:buNone/>
                      </a:pPr>
                      <a:r>
                        <a:rPr lang="en-US" sz="1800" b="0" u="none" strike="noStrike" cap="none" dirty="0">
                          <a:latin typeface="+mj-lt"/>
                        </a:rPr>
                        <a:t>20221CSG0020</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S MOHAMMED AFFAN</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7873">
                <a:tc>
                  <a:txBody>
                    <a:bodyPr/>
                    <a:lstStyle/>
                    <a:p>
                      <a:pPr marL="0" marR="0" lvl="0" indent="0" algn="ctr" rtl="0">
                        <a:spcBef>
                          <a:spcPts val="0"/>
                        </a:spcBef>
                        <a:spcAft>
                          <a:spcPts val="0"/>
                        </a:spcAft>
                        <a:buNone/>
                      </a:pPr>
                      <a:r>
                        <a:rPr lang="en-US" sz="1800" b="0" u="none" strike="noStrike" cap="none" dirty="0">
                          <a:latin typeface="+mj-lt"/>
                        </a:rPr>
                        <a:t>20221CSG0059</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KARTHIK MP</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7873">
                <a:tc>
                  <a:txBody>
                    <a:bodyPr/>
                    <a:lstStyle/>
                    <a:p>
                      <a:pPr marL="0" marR="0" lvl="0" indent="0" algn="ctr" rtl="0">
                        <a:spcBef>
                          <a:spcPts val="0"/>
                        </a:spcBef>
                        <a:spcAft>
                          <a:spcPts val="0"/>
                        </a:spcAft>
                        <a:buNone/>
                      </a:pPr>
                      <a:r>
                        <a:rPr lang="en-US" sz="1800" b="0" u="none" strike="noStrike" cap="none" dirty="0">
                          <a:latin typeface="+mj-lt"/>
                        </a:rPr>
                        <a:t>20221CSG0092</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CHAITHRA C</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45266"/>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Verdana" panose="020B0604030504040204" pitchFamily="34" charset="0"/>
                <a:ea typeface="Verdana" panose="020B0604030504040204" pitchFamily="34" charset="0"/>
                <a:cs typeface="Verdana"/>
                <a:sym typeface="Verdana"/>
              </a:rPr>
              <a:t>CSE7101-</a:t>
            </a: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 Capstone Project</a:t>
            </a:r>
            <a:endParaRPr sz="2400" dirty="0">
              <a:latin typeface="Verdana" panose="020B0604030504040204" pitchFamily="34" charset="0"/>
              <a:ea typeface="Verdana" panose="020B0604030504040204" pitchFamily="34"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Review-5</a:t>
            </a:r>
          </a:p>
          <a:p>
            <a:pPr marL="0" marR="0" lvl="0" indent="0" algn="ctr" rtl="0">
              <a:spcBef>
                <a:spcPts val="310"/>
              </a:spcBef>
              <a:spcAft>
                <a:spcPts val="0"/>
              </a:spcAft>
              <a:buClr>
                <a:srgbClr val="17365D"/>
              </a:buClr>
              <a:buSzPct val="100000"/>
              <a:buFont typeface="Arial"/>
              <a:buNone/>
            </a:pPr>
            <a:endParaRPr sz="2400" b="1" i="0" u="none" strike="noStrike" cap="none" dirty="0">
              <a:solidFill>
                <a:srgbClr val="17365D"/>
              </a:solidFill>
              <a:latin typeface="Verdana" panose="020B0604030504040204" pitchFamily="34" charset="0"/>
              <a:ea typeface="Verdana" panose="020B0604030504040204" pitchFamily="34" charset="0"/>
              <a:cs typeface="Verdana"/>
              <a:sym typeface="Verdana"/>
            </a:endParaRPr>
          </a:p>
        </p:txBody>
      </p:sp>
      <p:sp>
        <p:nvSpPr>
          <p:cNvPr id="8" name="Google Shape;91;p13"/>
          <p:cNvSpPr txBox="1"/>
          <p:nvPr/>
        </p:nvSpPr>
        <p:spPr>
          <a:xfrm>
            <a:off x="2540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a:t>
            </a:r>
            <a:r>
              <a:rPr lang="en-IN" sz="1800" b="1" dirty="0">
                <a:latin typeface="+mj-lt"/>
              </a:rPr>
              <a:t>CSG-Computer Science &amp; Technology(AI ML)</a:t>
            </a:r>
            <a:endParaRPr lang="en-US" sz="1800" b="1" i="0" u="none" strike="noStrike" cap="none" dirty="0">
              <a:solidFill>
                <a:schemeClr val="accent1"/>
              </a:solidFill>
              <a:latin typeface="+mj-lt"/>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a:t>
            </a:r>
            <a:r>
              <a:rPr lang="en-US" sz="1800" b="1" dirty="0" err="1">
                <a:solidFill>
                  <a:schemeClr val="accent1"/>
                </a:solidFill>
                <a:latin typeface="+mj-lt"/>
                <a:ea typeface="Cambria" panose="02040503050406030204" pitchFamily="18" charset="0"/>
                <a:cs typeface="Verdana"/>
                <a:sym typeface="Verdana"/>
              </a:rPr>
              <a:t>HoD</a:t>
            </a:r>
            <a:r>
              <a:rPr lang="en-US" sz="1800" b="1" dirty="0">
                <a:solidFill>
                  <a:schemeClr val="accent1"/>
                </a:solidFill>
                <a:latin typeface="+mj-lt"/>
                <a:ea typeface="Cambria" panose="02040503050406030204" pitchFamily="18" charset="0"/>
                <a:cs typeface="Verdana"/>
                <a:sym typeface="Verdana"/>
              </a:rPr>
              <a:t>: </a:t>
            </a:r>
            <a:r>
              <a:rPr lang="en-IN" sz="1800" b="1" dirty="0">
                <a:latin typeface="Cambria"/>
                <a:cs typeface="Cambria"/>
              </a:rPr>
              <a:t>Dr</a:t>
            </a:r>
            <a:r>
              <a:rPr lang="en-IN" sz="1800" b="1" spc="-25" dirty="0">
                <a:latin typeface="Cambria"/>
                <a:cs typeface="Cambria"/>
              </a:rPr>
              <a:t> </a:t>
            </a:r>
            <a:r>
              <a:rPr lang="en-IN" sz="1800" b="1" dirty="0">
                <a:latin typeface="Cambria"/>
                <a:cs typeface="Cambria"/>
              </a:rPr>
              <a:t>.</a:t>
            </a:r>
            <a:r>
              <a:rPr lang="en-IN" sz="1800" b="1" spc="-10" dirty="0">
                <a:latin typeface="Cambria"/>
                <a:cs typeface="Cambria"/>
              </a:rPr>
              <a:t> Pallavi</a:t>
            </a:r>
            <a:endParaRPr lang="en-IN" sz="1800" b="1" dirty="0">
              <a:latin typeface="+mj-lt"/>
            </a:endParaRPr>
          </a:p>
          <a:p>
            <a:pPr>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Project Coordinator: </a:t>
            </a:r>
            <a:r>
              <a:rPr lang="en-IN" sz="1800" b="1" dirty="0">
                <a:latin typeface="Cambria"/>
                <a:cs typeface="Cambria"/>
              </a:rPr>
              <a:t>Ms</a:t>
            </a:r>
            <a:r>
              <a:rPr lang="en-IN" sz="1800" b="1" spc="-30" dirty="0">
                <a:latin typeface="Cambria"/>
                <a:cs typeface="Cambria"/>
              </a:rPr>
              <a:t> </a:t>
            </a:r>
            <a:r>
              <a:rPr lang="en-IN" sz="1800" b="1" dirty="0">
                <a:latin typeface="Cambria"/>
                <a:cs typeface="Cambria"/>
              </a:rPr>
              <a:t>Benitha</a:t>
            </a:r>
            <a:r>
              <a:rPr lang="en-IN" sz="1800" b="1" spc="-45" dirty="0">
                <a:latin typeface="Cambria"/>
                <a:cs typeface="Cambria"/>
              </a:rPr>
              <a:t> </a:t>
            </a:r>
            <a:r>
              <a:rPr lang="en-IN" sz="1800" b="1" dirty="0" err="1">
                <a:latin typeface="Cambria"/>
                <a:cs typeface="Cambria"/>
              </a:rPr>
              <a:t>Christinal</a:t>
            </a:r>
            <a:r>
              <a:rPr lang="en-IN" sz="1800" b="1" spc="-50" dirty="0">
                <a:latin typeface="Cambria"/>
                <a:cs typeface="Cambria"/>
              </a:rPr>
              <a:t> J</a:t>
            </a:r>
            <a:endParaRPr lang="en-US" sz="1800" b="1" dirty="0">
              <a:solidFill>
                <a:srgbClr val="FF0000"/>
              </a:solidFill>
              <a:latin typeface="+mj-lt"/>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mj-lt"/>
                <a:ea typeface="Cambria" panose="02040503050406030204" pitchFamily="18" charset="0"/>
                <a:cs typeface="Verdana"/>
                <a:sym typeface="Verdana"/>
              </a:rPr>
              <a:t>Dr. Sampath A K , Dr. Geetha A </a:t>
            </a:r>
            <a:endParaRPr sz="1800" b="1" i="0" u="none" strike="noStrike" cap="none" dirty="0">
              <a:solidFill>
                <a:schemeClr val="tx1"/>
              </a:solidFill>
              <a:latin typeface="+mj-lt"/>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390977"/>
            <a:ext cx="10668000" cy="487500"/>
          </a:xfrm>
          <a:prstGeom prst="rect">
            <a:avLst/>
          </a:prstGeom>
          <a:noFill/>
          <a:ln>
            <a:noFill/>
          </a:ln>
        </p:spPr>
        <p:txBody>
          <a:bodyPr spcFirstLastPara="1" wrap="square" lIns="91425" tIns="45700" rIns="91425" bIns="45700" anchor="ctr" anchorCtr="0">
            <a:noAutofit/>
          </a:bodyPr>
          <a:lstStyle/>
          <a:p>
            <a:r>
              <a:rPr lang="en-US" dirty="0">
                <a:latin typeface="Verdana" panose="020B0604030504040204" pitchFamily="34" charset="0"/>
                <a:ea typeface="Verdana" panose="020B0604030504040204" pitchFamily="34" charset="0"/>
              </a:rPr>
              <a:t>Abstract</a:t>
            </a:r>
          </a:p>
        </p:txBody>
      </p:sp>
      <p:sp>
        <p:nvSpPr>
          <p:cNvPr id="97" name="Google Shape;97;p14"/>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76200" indent="0">
              <a:lnSpc>
                <a:spcPct val="150000"/>
              </a:lnSpc>
              <a:buNone/>
            </a:pPr>
            <a:r>
              <a:rPr lang="en-US" sz="2000" dirty="0"/>
              <a:t>Access to reliable and up-to-date healthcare information remains a major challenge in rural and semi-urban areas due to limited infrastructure and widespread misinformation. This project proposes an AI-based public health chatbot that delivers accurate and accessible healthcare awareness using Retrieval-Augmented Generation (RAG) combined with FAISS-based semantic search. The system provides symptom awareness, drug information, and hospital discovery through WhatsApp integration while ensuring safe, non-diagnostic, and context-aware responses.	</a:t>
            </a:r>
            <a:endParaRPr lang="en-US" sz="2200" dirty="0">
              <a:latin typeface="+mn-lt"/>
              <a:ea typeface="Verdana" panose="020B0604030504040204" pitchFamily="34"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9D902-E4E1-0246-C473-FCEA19774026}"/>
              </a:ext>
            </a:extLst>
          </p:cNvPr>
          <p:cNvSpPr>
            <a:spLocks noGrp="1"/>
          </p:cNvSpPr>
          <p:nvPr>
            <p:ph type="title"/>
          </p:nvPr>
        </p:nvSpPr>
        <p:spPr/>
        <p:txBody>
          <a:bodyPr/>
          <a:lstStyle/>
          <a:p>
            <a:r>
              <a:rPr lang="en-US" dirty="0"/>
              <a:t>Introduction</a:t>
            </a:r>
            <a:endParaRPr lang="en-IN" dirty="0"/>
          </a:p>
        </p:txBody>
      </p:sp>
      <p:sp>
        <p:nvSpPr>
          <p:cNvPr id="3" name="Text Placeholder 2">
            <a:extLst>
              <a:ext uri="{FF2B5EF4-FFF2-40B4-BE49-F238E27FC236}">
                <a16:creationId xmlns:a16="http://schemas.microsoft.com/office/drawing/2014/main" id="{46E28879-0BF6-FB65-9AE4-383A35A6C820}"/>
              </a:ext>
            </a:extLst>
          </p:cNvPr>
          <p:cNvSpPr>
            <a:spLocks noGrp="1"/>
          </p:cNvSpPr>
          <p:nvPr>
            <p:ph type="body" idx="1"/>
          </p:nvPr>
        </p:nvSpPr>
        <p:spPr>
          <a:xfrm>
            <a:off x="812800" y="1234911"/>
            <a:ext cx="10668000" cy="5200455"/>
          </a:xfrm>
        </p:spPr>
        <p:txBody>
          <a:bodyPr>
            <a:noAutofit/>
          </a:bodyPr>
          <a:lstStyle/>
          <a:p>
            <a:pPr marL="76200" indent="0">
              <a:lnSpc>
                <a:spcPct val="150000"/>
              </a:lnSpc>
              <a:buNone/>
            </a:pPr>
            <a:r>
              <a:rPr lang="en-US" sz="2000" dirty="0"/>
              <a:t>Healthcare accessibility gaps, especially in rural areas, often lead people to rely on unverified sources, resulting in delayed treatment and poor health decisions. With the growing use of smartphones and messaging platforms like WhatsApp, there is an opportunity to provide structured and reliable healthcare information through conversational AI. However, standalone AI models can produce incorrect information, making it necessary to design a system that ensures accuracy and safety.</a:t>
            </a:r>
            <a:endParaRPr lang="en-IN" sz="2000" dirty="0">
              <a:latin typeface="Times New Roman"/>
            </a:endParaRPr>
          </a:p>
        </p:txBody>
      </p:sp>
    </p:spTree>
    <p:extLst>
      <p:ext uri="{BB962C8B-B14F-4D97-AF65-F5344CB8AC3E}">
        <p14:creationId xmlns:p14="http://schemas.microsoft.com/office/powerpoint/2010/main" val="287345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5397-AE58-98FC-1FC4-DBEC4E14E5B0}"/>
              </a:ext>
            </a:extLst>
          </p:cNvPr>
          <p:cNvSpPr>
            <a:spLocks noGrp="1"/>
          </p:cNvSpPr>
          <p:nvPr>
            <p:ph type="title"/>
          </p:nvPr>
        </p:nvSpPr>
        <p:spPr/>
        <p:txBody>
          <a:bodyPr/>
          <a:lstStyle/>
          <a:p>
            <a:r>
              <a:rPr lang="en-IN" dirty="0"/>
              <a:t>Literature Survey </a:t>
            </a:r>
          </a:p>
        </p:txBody>
      </p:sp>
      <p:sp>
        <p:nvSpPr>
          <p:cNvPr id="4" name="Rectangle 1">
            <a:extLst>
              <a:ext uri="{FF2B5EF4-FFF2-40B4-BE49-F238E27FC236}">
                <a16:creationId xmlns:a16="http://schemas.microsoft.com/office/drawing/2014/main" id="{75084421-3D15-80BE-817A-4F087AEBE055}"/>
              </a:ext>
            </a:extLst>
          </p:cNvPr>
          <p:cNvSpPr>
            <a:spLocks noGrp="1" noChangeArrowheads="1"/>
          </p:cNvSpPr>
          <p:nvPr>
            <p:ph type="body" idx="1"/>
          </p:nvPr>
        </p:nvSpPr>
        <p:spPr bwMode="auto">
          <a:xfrm>
            <a:off x="812800" y="1033202"/>
            <a:ext cx="10668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None/>
            </a:pPr>
            <a:r>
              <a:rPr lang="en-US" sz="2000" dirty="0"/>
              <a:t>Existing healthcare chatbots are either rule-based systems with limited flexibility or AI-based systems that suffer from hallucination and lack of reliability. Research shows that Retrieval-Augmented Generation improves factual accuracy by grounding responses in verified documents. However, most existing systems lack structured routing, safety mechanisms, and real-time healthcare integration, highlighting the need for a more reliable and comprehensive solution.</a:t>
            </a:r>
            <a:endParaRPr lang="en-US" altLang="en-US" sz="2000" b="0" i="0" u="none" strike="noStrike" cap="none" normalizeH="0" baseline="0" dirty="0">
              <a:ln>
                <a:noFill/>
              </a:ln>
              <a:solidFill>
                <a:schemeClr val="tx1"/>
              </a:solidFill>
              <a:effectLst/>
              <a:latin typeface="Times New Roman"/>
            </a:endParaRPr>
          </a:p>
        </p:txBody>
      </p:sp>
    </p:spTree>
    <p:extLst>
      <p:ext uri="{BB962C8B-B14F-4D97-AF65-F5344CB8AC3E}">
        <p14:creationId xmlns:p14="http://schemas.microsoft.com/office/powerpoint/2010/main" val="346472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1347-D2C5-CDC8-D448-248FCB1F115A}"/>
              </a:ext>
            </a:extLst>
          </p:cNvPr>
          <p:cNvSpPr>
            <a:spLocks noGrp="1"/>
          </p:cNvSpPr>
          <p:nvPr>
            <p:ph type="title"/>
          </p:nvPr>
        </p:nvSpPr>
        <p:spPr/>
        <p:txBody>
          <a:bodyPr/>
          <a:lstStyle/>
          <a:p>
            <a:r>
              <a:rPr lang="en-IN" dirty="0"/>
              <a:t>Literature Survey (10 papers)</a:t>
            </a:r>
          </a:p>
        </p:txBody>
      </p:sp>
      <p:graphicFrame>
        <p:nvGraphicFramePr>
          <p:cNvPr id="3" name="Table 2">
            <a:extLst>
              <a:ext uri="{FF2B5EF4-FFF2-40B4-BE49-F238E27FC236}">
                <a16:creationId xmlns:a16="http://schemas.microsoft.com/office/drawing/2014/main" id="{651385E5-CF7C-5877-60B2-7A104DF930AD}"/>
              </a:ext>
            </a:extLst>
          </p:cNvPr>
          <p:cNvGraphicFramePr>
            <a:graphicFrameLocks noGrp="1"/>
          </p:cNvGraphicFramePr>
          <p:nvPr>
            <p:extLst>
              <p:ext uri="{D42A27DB-BD31-4B8C-83A1-F6EECF244321}">
                <p14:modId xmlns:p14="http://schemas.microsoft.com/office/powerpoint/2010/main" val="1883145792"/>
              </p:ext>
            </p:extLst>
          </p:nvPr>
        </p:nvGraphicFramePr>
        <p:xfrm>
          <a:off x="812800" y="976047"/>
          <a:ext cx="10668000" cy="5010334"/>
        </p:xfrm>
        <a:graphic>
          <a:graphicData uri="http://schemas.openxmlformats.org/drawingml/2006/table">
            <a:tbl>
              <a:tblPr firstRow="1" firstCol="1" bandRow="1"/>
              <a:tblGrid>
                <a:gridCol w="748872">
                  <a:extLst>
                    <a:ext uri="{9D8B030D-6E8A-4147-A177-3AD203B41FA5}">
                      <a16:colId xmlns:a16="http://schemas.microsoft.com/office/drawing/2014/main" val="3606111364"/>
                    </a:ext>
                  </a:extLst>
                </a:gridCol>
                <a:gridCol w="1746607">
                  <a:extLst>
                    <a:ext uri="{9D8B030D-6E8A-4147-A177-3AD203B41FA5}">
                      <a16:colId xmlns:a16="http://schemas.microsoft.com/office/drawing/2014/main" val="168556897"/>
                    </a:ext>
                  </a:extLst>
                </a:gridCol>
                <a:gridCol w="2116477">
                  <a:extLst>
                    <a:ext uri="{9D8B030D-6E8A-4147-A177-3AD203B41FA5}">
                      <a16:colId xmlns:a16="http://schemas.microsoft.com/office/drawing/2014/main" val="1621247066"/>
                    </a:ext>
                  </a:extLst>
                </a:gridCol>
                <a:gridCol w="1952089">
                  <a:extLst>
                    <a:ext uri="{9D8B030D-6E8A-4147-A177-3AD203B41FA5}">
                      <a16:colId xmlns:a16="http://schemas.microsoft.com/office/drawing/2014/main" val="1475459654"/>
                    </a:ext>
                  </a:extLst>
                </a:gridCol>
                <a:gridCol w="2024009">
                  <a:extLst>
                    <a:ext uri="{9D8B030D-6E8A-4147-A177-3AD203B41FA5}">
                      <a16:colId xmlns:a16="http://schemas.microsoft.com/office/drawing/2014/main" val="3593954666"/>
                    </a:ext>
                  </a:extLst>
                </a:gridCol>
                <a:gridCol w="2079946">
                  <a:extLst>
                    <a:ext uri="{9D8B030D-6E8A-4147-A177-3AD203B41FA5}">
                      <a16:colId xmlns:a16="http://schemas.microsoft.com/office/drawing/2014/main" val="3564549498"/>
                    </a:ext>
                  </a:extLst>
                </a:gridCol>
              </a:tblGrid>
              <a:tr h="296808">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Ref. No.</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Authors &amp; Year</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Focus Area</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Approach Used</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Key Contribution</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gn="just">
                        <a:lnSpc>
                          <a:spcPct val="107000"/>
                        </a:lnSpc>
                        <a:spcAft>
                          <a:spcPts val="800"/>
                        </a:spcAft>
                        <a:buNone/>
                      </a:pPr>
                      <a:r>
                        <a:rPr lang="en-IN" sz="1000" b="1" kern="100">
                          <a:solidFill>
                            <a:srgbClr val="FFFFFF"/>
                          </a:solidFill>
                          <a:effectLst/>
                          <a:latin typeface="Verdana" panose="020B0604030504040204" pitchFamily="34" charset="0"/>
                          <a:ea typeface="Verdana" panose="020B0604030504040204" pitchFamily="34" charset="0"/>
                          <a:cs typeface="Times New Roman" panose="02020603050405020304" pitchFamily="18" charset="0"/>
                        </a:rPr>
                        <a:t>Identified Gap</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1890463393"/>
                  </a:ext>
                </a:extLst>
              </a:tr>
              <a:tr h="607318">
                <a:tc>
                  <a:txBody>
                    <a:bodyPr/>
                    <a:lstStyle/>
                    <a:p>
                      <a:pPr algn="just">
                        <a:lnSpc>
                          <a:spcPct val="107000"/>
                        </a:lnSpc>
                        <a:spcAft>
                          <a:spcPts val="800"/>
                        </a:spcAft>
                        <a:buNone/>
                      </a:pPr>
                      <a:r>
                        <a:rPr lang="en-IN" sz="1000" b="1"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[1]</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Laranjo et al., 2018</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Healthcare conversational agents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Systematic review of rule-based and AI chatbots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Validated role of chatbots in patient education and engagement</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Limited contextual intelligence and weak evaluation standards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282083692"/>
                  </a:ext>
                </a:extLst>
              </a:tr>
              <a:tr h="607318">
                <a:tc>
                  <a:txBody>
                    <a:bodyPr/>
                    <a:lstStyle/>
                    <a:p>
                      <a:pPr algn="just">
                        <a:lnSpc>
                          <a:spcPct val="107000"/>
                        </a:lnSpc>
                        <a:spcAft>
                          <a:spcPts val="800"/>
                        </a:spcAft>
                        <a:buNone/>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[2]</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Bickmore et al., 2018</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Safety in health chatbots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Design-focused conversational frameworks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Emphasized need for safety guardrails and non-diagnostic responses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No technical grounding mechanism for response validation</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3849366409"/>
                  </a:ext>
                </a:extLst>
              </a:tr>
              <a:tr h="452063">
                <a:tc>
                  <a:txBody>
                    <a:bodyPr/>
                    <a:lstStyle/>
                    <a:p>
                      <a:pPr algn="just">
                        <a:lnSpc>
                          <a:spcPct val="107000"/>
                        </a:lnSpc>
                        <a:spcAft>
                          <a:spcPts val="800"/>
                        </a:spcAft>
                        <a:buNone/>
                      </a:pPr>
                      <a:r>
                        <a:rPr lang="en-IN" sz="1000" b="1"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[3]</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Wilson &amp; Marasoiu, 2022</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Public health chatbot deployments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Scoping review</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Demonstrated scalability for health awareness campaigns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Mostly rule-based, limited NLP sophistication</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294847553"/>
                  </a:ext>
                </a:extLst>
              </a:tr>
              <a:tr h="452063">
                <a:tc>
                  <a:txBody>
                    <a:bodyPr/>
                    <a:lstStyle/>
                    <a:p>
                      <a:pPr algn="just">
                        <a:lnSpc>
                          <a:spcPct val="107000"/>
                        </a:lnSpc>
                        <a:spcAft>
                          <a:spcPts val="800"/>
                        </a:spcAft>
                        <a:buNone/>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[4]</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dirty="0">
                          <a:effectLst/>
                          <a:latin typeface="Verdana" panose="020B0604030504040204" pitchFamily="34" charset="0"/>
                          <a:ea typeface="Verdana" panose="020B0604030504040204" pitchFamily="34" charset="0"/>
                          <a:cs typeface="Times New Roman" panose="02020603050405020304" pitchFamily="18" charset="0"/>
                        </a:rPr>
                        <a:t>Branda et al., 2025</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AI chatbots in emergencies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Narrative review</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Highlighted outbreak communication effectiveness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Lack of structured factual grounding and reliability control</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1012969533"/>
                  </a:ext>
                </a:extLst>
              </a:tr>
              <a:tr h="452063">
                <a:tc>
                  <a:txBody>
                    <a:bodyPr/>
                    <a:lstStyle/>
                    <a:p>
                      <a:pPr algn="just">
                        <a:lnSpc>
                          <a:spcPct val="107000"/>
                        </a:lnSpc>
                        <a:spcAft>
                          <a:spcPts val="800"/>
                        </a:spcAft>
                        <a:buNone/>
                      </a:pPr>
                      <a:r>
                        <a:rPr lang="en-IN" sz="1000" b="1"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[5]</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Singhal et al., 2023</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Medical knowledge in LLMs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Evaluation of medical LLM performance</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Demonstrated strong clinical reasoning capability</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Hallucination and unverifiable outputs remain concerns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223757865"/>
                  </a:ext>
                </a:extLst>
              </a:tr>
              <a:tr h="452063">
                <a:tc>
                  <a:txBody>
                    <a:bodyPr/>
                    <a:lstStyle/>
                    <a:p>
                      <a:pPr algn="just">
                        <a:lnSpc>
                          <a:spcPct val="107000"/>
                        </a:lnSpc>
                        <a:spcAft>
                          <a:spcPts val="800"/>
                        </a:spcAft>
                        <a:buNone/>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[6]</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dirty="0">
                          <a:effectLst/>
                          <a:latin typeface="Verdana" panose="020B0604030504040204" pitchFamily="34" charset="0"/>
                          <a:ea typeface="Verdana" panose="020B0604030504040204" pitchFamily="34" charset="0"/>
                          <a:cs typeface="Times New Roman" panose="02020603050405020304" pitchFamily="18" charset="0"/>
                        </a:rPr>
                        <a:t>Ji et al., 2023</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Hallucination in NLP</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Survey analysis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Identified hallucination types and mitigation techniques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No universal mitigation for healthcare-critical contexts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1656006569"/>
                  </a:ext>
                </a:extLst>
              </a:tr>
              <a:tr h="452063">
                <a:tc>
                  <a:txBody>
                    <a:bodyPr/>
                    <a:lstStyle/>
                    <a:p>
                      <a:pPr algn="just">
                        <a:lnSpc>
                          <a:spcPct val="107000"/>
                        </a:lnSpc>
                        <a:spcAft>
                          <a:spcPts val="800"/>
                        </a:spcAft>
                        <a:buNone/>
                      </a:pPr>
                      <a:r>
                        <a:rPr lang="en-IN" sz="1000" b="1"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[7]</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Lewis et al., 2020</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Retrieval-Augmented Generation</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Dense retrieval + generative model</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Introduced RAG framework improving factual grounding</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General-domain focus, not healthcare-specific</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693643449"/>
                  </a:ext>
                </a:extLst>
              </a:tr>
              <a:tr h="452063">
                <a:tc>
                  <a:txBody>
                    <a:bodyPr/>
                    <a:lstStyle/>
                    <a:p>
                      <a:pPr algn="just">
                        <a:lnSpc>
                          <a:spcPct val="107000"/>
                        </a:lnSpc>
                        <a:spcAft>
                          <a:spcPts val="800"/>
                        </a:spcAft>
                        <a:buNone/>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[8]</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Izacard &amp; Grave, 2021</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Retrieval-enhanced QA</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dirty="0">
                          <a:effectLst/>
                          <a:latin typeface="Verdana" panose="020B0604030504040204" pitchFamily="34" charset="0"/>
                          <a:ea typeface="Verdana" panose="020B0604030504040204" pitchFamily="34" charset="0"/>
                          <a:cs typeface="Times New Roman" panose="02020603050405020304" pitchFamily="18" charset="0"/>
                        </a:rPr>
                        <a:t>Passage retrieval + encoder-decoder</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Improved answer accuracy using retrieval grounding</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Lacked healthcare safety constraints</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3949111331"/>
                  </a:ext>
                </a:extLst>
              </a:tr>
              <a:tr h="452063">
                <a:tc>
                  <a:txBody>
                    <a:bodyPr/>
                    <a:lstStyle/>
                    <a:p>
                      <a:pPr algn="just">
                        <a:lnSpc>
                          <a:spcPct val="107000"/>
                        </a:lnSpc>
                        <a:spcAft>
                          <a:spcPts val="800"/>
                        </a:spcAft>
                        <a:buNone/>
                      </a:pPr>
                      <a:r>
                        <a:rPr lang="en-IN" sz="1000" b="1"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[9]</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Miner et al., 2020</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Pandemic chatbots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Review of COVID-19 chatbot deployments</a:t>
                      </a:r>
                      <a:endParaRPr lang="en-IN" sz="10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Demonstrated scalability during crisis communication</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buNone/>
                      </a:pPr>
                      <a:r>
                        <a:rPr lang="en-IN" sz="1000" kern="10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Mostly scripted systems with limited adaptive reasoning</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285941562"/>
                  </a:ext>
                </a:extLst>
              </a:tr>
              <a:tr h="296808">
                <a:tc>
                  <a:txBody>
                    <a:bodyPr/>
                    <a:lstStyle/>
                    <a:p>
                      <a:pPr algn="just">
                        <a:lnSpc>
                          <a:spcPct val="107000"/>
                        </a:lnSpc>
                        <a:spcAft>
                          <a:spcPts val="800"/>
                        </a:spcAft>
                        <a:buNone/>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[10]</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Devaraj et al., 2022</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Evidence-based decision support</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NLP + document retrieval system</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a:effectLst/>
                          <a:latin typeface="Verdana" panose="020B0604030504040204" pitchFamily="34" charset="0"/>
                          <a:ea typeface="Verdana" panose="020B0604030504040204" pitchFamily="34" charset="0"/>
                          <a:cs typeface="Times New Roman" panose="02020603050405020304" pitchFamily="18" charset="0"/>
                        </a:rPr>
                        <a:t>Promoted document-backed AI support</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algn="just">
                        <a:lnSpc>
                          <a:spcPct val="107000"/>
                        </a:lnSpc>
                        <a:spcAft>
                          <a:spcPts val="800"/>
                        </a:spcAft>
                        <a:buNone/>
                      </a:pPr>
                      <a:r>
                        <a:rPr lang="en-IN" sz="1000" kern="100" dirty="0">
                          <a:effectLst/>
                          <a:latin typeface="Verdana" panose="020B0604030504040204" pitchFamily="34" charset="0"/>
                          <a:ea typeface="Verdana" panose="020B0604030504040204" pitchFamily="34" charset="0"/>
                          <a:cs typeface="Times New Roman" panose="02020603050405020304" pitchFamily="18" charset="0"/>
                        </a:rPr>
                        <a:t>No conversational public-facing interface</a:t>
                      </a:r>
                    </a:p>
                  </a:txBody>
                  <a:tcPr marL="68580" marR="68580"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3915711724"/>
                  </a:ext>
                </a:extLst>
              </a:tr>
            </a:tbl>
          </a:graphicData>
        </a:graphic>
      </p:graphicFrame>
    </p:spTree>
    <p:extLst>
      <p:ext uri="{BB962C8B-B14F-4D97-AF65-F5344CB8AC3E}">
        <p14:creationId xmlns:p14="http://schemas.microsoft.com/office/powerpoint/2010/main" val="1875145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C9A1D-8756-9917-3259-7E234FE31294}"/>
              </a:ext>
            </a:extLst>
          </p:cNvPr>
          <p:cNvSpPr>
            <a:spLocks noGrp="1"/>
          </p:cNvSpPr>
          <p:nvPr>
            <p:ph type="title"/>
          </p:nvPr>
        </p:nvSpPr>
        <p:spPr/>
        <p:txBody>
          <a:bodyPr/>
          <a:lstStyle/>
          <a:p>
            <a:r>
              <a:rPr lang="en-US" dirty="0"/>
              <a:t>Methodology model</a:t>
            </a:r>
            <a:endParaRPr lang="en-IN" dirty="0"/>
          </a:p>
        </p:txBody>
      </p:sp>
      <p:pic>
        <p:nvPicPr>
          <p:cNvPr id="4" name="Picture 3">
            <a:extLst>
              <a:ext uri="{FF2B5EF4-FFF2-40B4-BE49-F238E27FC236}">
                <a16:creationId xmlns:a16="http://schemas.microsoft.com/office/drawing/2014/main" id="{7524B57A-C6C3-2317-31DA-D04685ED6B93}"/>
              </a:ext>
            </a:extLst>
          </p:cNvPr>
          <p:cNvPicPr>
            <a:picLocks noChangeAspect="1"/>
          </p:cNvPicPr>
          <p:nvPr/>
        </p:nvPicPr>
        <p:blipFill>
          <a:blip r:embed="rId2"/>
          <a:stretch>
            <a:fillRect/>
          </a:stretch>
        </p:blipFill>
        <p:spPr>
          <a:xfrm>
            <a:off x="1972638" y="1080024"/>
            <a:ext cx="7510410" cy="5006940"/>
          </a:xfrm>
          <a:prstGeom prst="rect">
            <a:avLst/>
          </a:prstGeom>
        </p:spPr>
      </p:pic>
    </p:spTree>
    <p:extLst>
      <p:ext uri="{BB962C8B-B14F-4D97-AF65-F5344CB8AC3E}">
        <p14:creationId xmlns:p14="http://schemas.microsoft.com/office/powerpoint/2010/main" val="368276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6C13D-99BA-610F-28E6-31A6A6B3FCC0}"/>
              </a:ext>
            </a:extLst>
          </p:cNvPr>
          <p:cNvSpPr>
            <a:spLocks noGrp="1"/>
          </p:cNvSpPr>
          <p:nvPr>
            <p:ph type="title"/>
          </p:nvPr>
        </p:nvSpPr>
        <p:spPr/>
        <p:txBody>
          <a:bodyPr>
            <a:noAutofit/>
          </a:bodyPr>
          <a:lstStyle/>
          <a:p>
            <a:r>
              <a:rPr lang="en-US" dirty="0"/>
              <a:t>Methodology</a:t>
            </a:r>
            <a:endParaRPr lang="en-IN" dirty="0"/>
          </a:p>
        </p:txBody>
      </p:sp>
      <p:sp>
        <p:nvSpPr>
          <p:cNvPr id="3" name="Text Placeholder 2">
            <a:extLst>
              <a:ext uri="{FF2B5EF4-FFF2-40B4-BE49-F238E27FC236}">
                <a16:creationId xmlns:a16="http://schemas.microsoft.com/office/drawing/2014/main" id="{FD9CEE64-0D95-DAC5-557B-9474DB85AC33}"/>
              </a:ext>
            </a:extLst>
          </p:cNvPr>
          <p:cNvSpPr>
            <a:spLocks noGrp="1"/>
          </p:cNvSpPr>
          <p:nvPr>
            <p:ph type="body" idx="1"/>
          </p:nvPr>
        </p:nvSpPr>
        <p:spPr>
          <a:xfrm>
            <a:off x="812800" y="1102936"/>
            <a:ext cx="10668000" cy="4993065"/>
          </a:xfrm>
        </p:spPr>
        <p:txBody>
          <a:bodyPr spcFirstLastPara="1" wrap="square" lIns="91425" tIns="45700" rIns="91425" bIns="45700" anchor="t" anchorCtr="0">
            <a:noAutofit/>
          </a:bodyPr>
          <a:lstStyle/>
          <a:p>
            <a:pPr marL="76200" indent="0">
              <a:lnSpc>
                <a:spcPct val="150000"/>
              </a:lnSpc>
              <a:buNone/>
            </a:pPr>
            <a:r>
              <a:rPr lang="en-US" sz="2000" dirty="0"/>
              <a:t>The project follows an Agile Scrum methodology for iterative development and improvement. The system workflow includes knowledge base preparation, semantic embedding generation, FAISS vector storage, query processing, and Retrieval-Augmented Generation for response creation. A deterministic routing mechanism directs user queries to appropriate modules, ensuring context-aware, accurate, and safe responses.</a:t>
            </a:r>
            <a:endParaRPr lang="en-IN" sz="2000" dirty="0">
              <a:latin typeface="Times New Roman"/>
            </a:endParaRPr>
          </a:p>
        </p:txBody>
      </p:sp>
    </p:spTree>
    <p:extLst>
      <p:ext uri="{BB962C8B-B14F-4D97-AF65-F5344CB8AC3E}">
        <p14:creationId xmlns:p14="http://schemas.microsoft.com/office/powerpoint/2010/main" val="2789235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4B20-6229-0929-D807-78B9127F1FC9}"/>
              </a:ext>
            </a:extLst>
          </p:cNvPr>
          <p:cNvSpPr>
            <a:spLocks noGrp="1"/>
          </p:cNvSpPr>
          <p:nvPr>
            <p:ph type="title"/>
          </p:nvPr>
        </p:nvSpPr>
        <p:spPr/>
        <p:txBody>
          <a:bodyPr/>
          <a:lstStyle/>
          <a:p>
            <a:r>
              <a:rPr lang="en-US" dirty="0"/>
              <a:t>Project Management</a:t>
            </a:r>
            <a:endParaRPr lang="en-IN" dirty="0"/>
          </a:p>
        </p:txBody>
      </p:sp>
      <p:sp>
        <p:nvSpPr>
          <p:cNvPr id="3" name="Text Placeholder 2">
            <a:extLst>
              <a:ext uri="{FF2B5EF4-FFF2-40B4-BE49-F238E27FC236}">
                <a16:creationId xmlns:a16="http://schemas.microsoft.com/office/drawing/2014/main" id="{8C517557-34F1-7749-C7C0-83E141B56C36}"/>
              </a:ext>
            </a:extLst>
          </p:cNvPr>
          <p:cNvSpPr>
            <a:spLocks noGrp="1"/>
          </p:cNvSpPr>
          <p:nvPr>
            <p:ph type="body" idx="1"/>
          </p:nvPr>
        </p:nvSpPr>
        <p:spPr/>
        <p:txBody>
          <a:bodyPr>
            <a:normAutofit/>
          </a:bodyPr>
          <a:lstStyle/>
          <a:p>
            <a:pPr marL="76200" indent="0">
              <a:lnSpc>
                <a:spcPct val="150000"/>
              </a:lnSpc>
              <a:buNone/>
            </a:pPr>
            <a:r>
              <a:rPr lang="en-US" sz="2000" dirty="0"/>
              <a:t>The project was managed using structured Agile practices with clearly defined phases including planning, development, testing, and evaluation. Project management involved timeline scheduling, risk analysis, and resource allocation. Continuous monitoring and iterative improvements ensured that the system met functional and performance requirements effectively.</a:t>
            </a:r>
            <a:endParaRPr lang="en-IN" sz="2000" dirty="0">
              <a:latin typeface="Times New Roman"/>
            </a:endParaRPr>
          </a:p>
        </p:txBody>
      </p:sp>
    </p:spTree>
    <p:extLst>
      <p:ext uri="{BB962C8B-B14F-4D97-AF65-F5344CB8AC3E}">
        <p14:creationId xmlns:p14="http://schemas.microsoft.com/office/powerpoint/2010/main" val="2100708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74BD-5F2F-CDEC-5C9B-02477C8E4DC9}"/>
              </a:ext>
            </a:extLst>
          </p:cNvPr>
          <p:cNvSpPr>
            <a:spLocks noGrp="1"/>
          </p:cNvSpPr>
          <p:nvPr>
            <p:ph type="title"/>
          </p:nvPr>
        </p:nvSpPr>
        <p:spPr/>
        <p:txBody>
          <a:bodyPr/>
          <a:lstStyle/>
          <a:p>
            <a:r>
              <a:rPr lang="en-US" dirty="0"/>
              <a:t>Analysis and Design</a:t>
            </a:r>
            <a:endParaRPr lang="en-IN" dirty="0"/>
          </a:p>
        </p:txBody>
      </p:sp>
      <p:sp>
        <p:nvSpPr>
          <p:cNvPr id="3" name="Text Placeholder 2">
            <a:extLst>
              <a:ext uri="{FF2B5EF4-FFF2-40B4-BE49-F238E27FC236}">
                <a16:creationId xmlns:a16="http://schemas.microsoft.com/office/drawing/2014/main" id="{2FFEC521-4297-0925-77EB-639DC701C024}"/>
              </a:ext>
            </a:extLst>
          </p:cNvPr>
          <p:cNvSpPr>
            <a:spLocks noGrp="1"/>
          </p:cNvSpPr>
          <p:nvPr>
            <p:ph type="body" idx="1"/>
          </p:nvPr>
        </p:nvSpPr>
        <p:spPr/>
        <p:txBody>
          <a:bodyPr>
            <a:normAutofit/>
          </a:bodyPr>
          <a:lstStyle/>
          <a:p>
            <a:pPr marL="76200" indent="0">
              <a:lnSpc>
                <a:spcPct val="150000"/>
              </a:lnSpc>
              <a:buNone/>
            </a:pPr>
            <a:r>
              <a:rPr lang="en-US" sz="2000" dirty="0"/>
              <a:t>The system is designed using a modular architecture that includes components such as a medical router, symptom analysis tool, drug intelligence module, hospital finder, and RAG-based knowledge engine. The backend is implemented using </a:t>
            </a:r>
            <a:r>
              <a:rPr lang="en-US" sz="2000" dirty="0" err="1"/>
              <a:t>FastAPI</a:t>
            </a:r>
            <a:r>
              <a:rPr lang="en-US" sz="2000" dirty="0"/>
              <a:t>, and the system integrates FAISS for semantic search and WhatsApp for user interaction, ensuring scalability, maintainability, and efficient performance.</a:t>
            </a:r>
            <a:endParaRPr lang="en-IN" sz="2000" dirty="0">
              <a:latin typeface="Times New Roman"/>
            </a:endParaRPr>
          </a:p>
        </p:txBody>
      </p:sp>
    </p:spTree>
    <p:extLst>
      <p:ext uri="{BB962C8B-B14F-4D97-AF65-F5344CB8AC3E}">
        <p14:creationId xmlns:p14="http://schemas.microsoft.com/office/powerpoint/2010/main" val="416110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D3DC-E110-5DC9-B490-0320B45F9D88}"/>
              </a:ext>
            </a:extLst>
          </p:cNvPr>
          <p:cNvSpPr>
            <a:spLocks noGrp="1"/>
          </p:cNvSpPr>
          <p:nvPr>
            <p:ph type="title"/>
          </p:nvPr>
        </p:nvSpPr>
        <p:spPr>
          <a:xfrm>
            <a:off x="812800" y="490194"/>
            <a:ext cx="10668000" cy="763571"/>
          </a:xfrm>
        </p:spPr>
        <p:txBody>
          <a:bodyPr/>
          <a:lstStyle/>
          <a:p>
            <a:r>
              <a:rPr lang="en-US" dirty="0">
                <a:latin typeface="Verdana" panose="020B0604030504040204" pitchFamily="34" charset="0"/>
                <a:ea typeface="Verdana" panose="020B0604030504040204" pitchFamily="34" charset="0"/>
              </a:rPr>
              <a:t>Hardware and Software</a:t>
            </a:r>
            <a:br>
              <a:rPr lang="en-US" dirty="0">
                <a:latin typeface="Verdana" panose="020B0604030504040204" pitchFamily="34" charset="0"/>
                <a:ea typeface="Verdana" panose="020B0604030504040204" pitchFamily="34" charset="0"/>
              </a:rPr>
            </a:br>
            <a:endParaRPr lang="en-IN"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73266F53-A752-F455-EEC8-BA70F683D833}"/>
              </a:ext>
            </a:extLst>
          </p:cNvPr>
          <p:cNvSpPr>
            <a:spLocks noGrp="1"/>
          </p:cNvSpPr>
          <p:nvPr>
            <p:ph type="body" idx="1"/>
          </p:nvPr>
        </p:nvSpPr>
        <p:spPr/>
        <p:txBody>
          <a:bodyPr>
            <a:normAutofit/>
          </a:bodyPr>
          <a:lstStyle/>
          <a:p>
            <a:pPr marL="76200" indent="0">
              <a:lnSpc>
                <a:spcPct val="150000"/>
              </a:lnSpc>
              <a:buNone/>
            </a:pPr>
            <a:r>
              <a:rPr lang="en-IN" sz="2000" dirty="0"/>
              <a:t>The system requires basic hardware such as a computer with internet connectivity. The software stack includes Python for development, </a:t>
            </a:r>
            <a:r>
              <a:rPr lang="en-IN" sz="2000" dirty="0" err="1"/>
              <a:t>FastAPI</a:t>
            </a:r>
            <a:r>
              <a:rPr lang="en-IN" sz="2000" dirty="0"/>
              <a:t> for backend services, </a:t>
            </a:r>
            <a:r>
              <a:rPr lang="en-IN" sz="2000" dirty="0" err="1"/>
              <a:t>LangChain</a:t>
            </a:r>
            <a:r>
              <a:rPr lang="en-IN" sz="2000" dirty="0"/>
              <a:t> for orchestration, </a:t>
            </a:r>
            <a:r>
              <a:rPr lang="en-IN" sz="2000" dirty="0" err="1"/>
              <a:t>HuggingFace</a:t>
            </a:r>
            <a:r>
              <a:rPr lang="en-IN" sz="2000" dirty="0"/>
              <a:t> for embeddings and language models, FAISS for vector storage, and external APIs such as Twilio for WhatsApp integration and Google Places API for hospital location services.</a:t>
            </a:r>
            <a:endParaRPr lang="en-US" sz="2200" dirty="0">
              <a:latin typeface="Times New Roman"/>
            </a:endParaRPr>
          </a:p>
        </p:txBody>
      </p:sp>
    </p:spTree>
    <p:extLst>
      <p:ext uri="{BB962C8B-B14F-4D97-AF65-F5344CB8AC3E}">
        <p14:creationId xmlns:p14="http://schemas.microsoft.com/office/powerpoint/2010/main" val="168919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10A9-7562-B867-28ED-41FE04971397}"/>
              </a:ext>
            </a:extLst>
          </p:cNvPr>
          <p:cNvSpPr>
            <a:spLocks noGrp="1"/>
          </p:cNvSpPr>
          <p:nvPr>
            <p:ph type="title"/>
          </p:nvPr>
        </p:nvSpPr>
        <p:spPr>
          <a:xfrm>
            <a:off x="761999" y="356668"/>
            <a:ext cx="10668000" cy="487500"/>
          </a:xfrm>
        </p:spPr>
        <p:txBody>
          <a:bodyPr/>
          <a:lstStyle/>
          <a:p>
            <a:r>
              <a:rPr lang="en-US" dirty="0"/>
              <a:t>E</a:t>
            </a:r>
            <a:r>
              <a:rPr lang="en-IN" dirty="0"/>
              <a:t>valuation and Results</a:t>
            </a:r>
          </a:p>
        </p:txBody>
      </p:sp>
      <p:sp>
        <p:nvSpPr>
          <p:cNvPr id="3" name="TextBox 2">
            <a:extLst>
              <a:ext uri="{FF2B5EF4-FFF2-40B4-BE49-F238E27FC236}">
                <a16:creationId xmlns:a16="http://schemas.microsoft.com/office/drawing/2014/main" id="{F0639189-F0A5-CD37-FD66-B557C1F157E0}"/>
              </a:ext>
            </a:extLst>
          </p:cNvPr>
          <p:cNvSpPr txBox="1"/>
          <p:nvPr/>
        </p:nvSpPr>
        <p:spPr>
          <a:xfrm>
            <a:off x="883578" y="1345915"/>
            <a:ext cx="10546421" cy="2338397"/>
          </a:xfrm>
          <a:prstGeom prst="rect">
            <a:avLst/>
          </a:prstGeom>
          <a:noFill/>
        </p:spPr>
        <p:txBody>
          <a:bodyPr wrap="square" rtlCol="0">
            <a:spAutoFit/>
          </a:bodyPr>
          <a:lstStyle/>
          <a:p>
            <a:pPr>
              <a:lnSpc>
                <a:spcPct val="150000"/>
              </a:lnSpc>
            </a:pPr>
            <a:r>
              <a:rPr lang="en-US" sz="2000" dirty="0">
                <a:latin typeface="Verdana" panose="020B0604030504040204" pitchFamily="34" charset="0"/>
                <a:ea typeface="Verdana" panose="020B0604030504040204" pitchFamily="34" charset="0"/>
              </a:rPr>
              <a:t>The implemented system demonstrates effective performance in terms of accurate query routing, context-aware response generation, and reduced hallucination through RAG-based grounding. It successfully provides real-time hospital discovery and maintains fast response times, making it suitable for practical deployment in real-world healthcare awareness applications.</a:t>
            </a:r>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22434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C840C-612B-4147-1FC4-79F46FCE6BC5}"/>
              </a:ext>
            </a:extLst>
          </p:cNvPr>
          <p:cNvSpPr>
            <a:spLocks noGrp="1"/>
          </p:cNvSpPr>
          <p:nvPr>
            <p:ph type="title"/>
          </p:nvPr>
        </p:nvSpPr>
        <p:spPr/>
        <p:txBody>
          <a:bodyPr/>
          <a:lstStyle/>
          <a:p>
            <a:r>
              <a:rPr lang="en-US" dirty="0"/>
              <a:t>E</a:t>
            </a:r>
            <a:r>
              <a:rPr lang="en-IN" dirty="0"/>
              <a:t>valuation and Results</a:t>
            </a:r>
          </a:p>
        </p:txBody>
      </p:sp>
      <p:sp>
        <p:nvSpPr>
          <p:cNvPr id="3" name="Text Placeholder 2">
            <a:extLst>
              <a:ext uri="{FF2B5EF4-FFF2-40B4-BE49-F238E27FC236}">
                <a16:creationId xmlns:a16="http://schemas.microsoft.com/office/drawing/2014/main" id="{5E729967-432F-CB8C-9AD5-09CE9BDE1165}"/>
              </a:ext>
            </a:extLst>
          </p:cNvPr>
          <p:cNvSpPr>
            <a:spLocks noGrp="1"/>
          </p:cNvSpPr>
          <p:nvPr>
            <p:ph type="body" idx="1"/>
          </p:nvPr>
        </p:nvSpPr>
        <p:spPr>
          <a:xfrm>
            <a:off x="711200" y="865599"/>
            <a:ext cx="5268360" cy="4953000"/>
          </a:xfrm>
        </p:spPr>
        <p:txBody>
          <a:bodyPr/>
          <a:lstStyle/>
          <a:p>
            <a:pPr marL="76200" indent="0">
              <a:buNone/>
            </a:pPr>
            <a:r>
              <a:rPr lang="en-IN" sz="2000" dirty="0"/>
              <a:t>Example User Queries and Chatbot</a:t>
            </a:r>
          </a:p>
          <a:p>
            <a:pPr marL="76200" indent="0">
              <a:buNone/>
            </a:pPr>
            <a:r>
              <a:rPr lang="en-IN" sz="2000" dirty="0"/>
              <a:t>Responses</a:t>
            </a:r>
          </a:p>
          <a:p>
            <a:pPr marL="76200" indent="0">
              <a:buNone/>
            </a:pPr>
            <a:endParaRPr lang="en-IN" dirty="0"/>
          </a:p>
        </p:txBody>
      </p:sp>
      <p:graphicFrame>
        <p:nvGraphicFramePr>
          <p:cNvPr id="4" name="Table 3">
            <a:extLst>
              <a:ext uri="{FF2B5EF4-FFF2-40B4-BE49-F238E27FC236}">
                <a16:creationId xmlns:a16="http://schemas.microsoft.com/office/drawing/2014/main" id="{3F1F5B91-BC8E-20B4-F067-3B85EB6B1025}"/>
              </a:ext>
            </a:extLst>
          </p:cNvPr>
          <p:cNvGraphicFramePr>
            <a:graphicFrameLocks noGrp="1"/>
          </p:cNvGraphicFramePr>
          <p:nvPr>
            <p:extLst>
              <p:ext uri="{D42A27DB-BD31-4B8C-83A1-F6EECF244321}">
                <p14:modId xmlns:p14="http://schemas.microsoft.com/office/powerpoint/2010/main" val="1214724120"/>
              </p:ext>
            </p:extLst>
          </p:nvPr>
        </p:nvGraphicFramePr>
        <p:xfrm>
          <a:off x="812800" y="1736333"/>
          <a:ext cx="5012647" cy="4321504"/>
        </p:xfrm>
        <a:graphic>
          <a:graphicData uri="http://schemas.openxmlformats.org/drawingml/2006/table">
            <a:tbl>
              <a:tblPr firstRow="1" firstCol="1" bandRow="1"/>
              <a:tblGrid>
                <a:gridCol w="1410320">
                  <a:extLst>
                    <a:ext uri="{9D8B030D-6E8A-4147-A177-3AD203B41FA5}">
                      <a16:colId xmlns:a16="http://schemas.microsoft.com/office/drawing/2014/main" val="1616335493"/>
                    </a:ext>
                  </a:extLst>
                </a:gridCol>
                <a:gridCol w="1108318">
                  <a:extLst>
                    <a:ext uri="{9D8B030D-6E8A-4147-A177-3AD203B41FA5}">
                      <a16:colId xmlns:a16="http://schemas.microsoft.com/office/drawing/2014/main" val="162014801"/>
                    </a:ext>
                  </a:extLst>
                </a:gridCol>
                <a:gridCol w="2494009">
                  <a:extLst>
                    <a:ext uri="{9D8B030D-6E8A-4147-A177-3AD203B41FA5}">
                      <a16:colId xmlns:a16="http://schemas.microsoft.com/office/drawing/2014/main" val="2361538788"/>
                    </a:ext>
                  </a:extLst>
                </a:gridCol>
              </a:tblGrid>
              <a:tr h="798114">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User Query</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Retrieved Context Source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Chatbot Response Summary</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3027042"/>
                  </a:ext>
                </a:extLst>
              </a:tr>
              <a:tr h="798114">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Symptoms of dengue?</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FAISS medical document</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Provides symptoms like fever, headache, joint pain</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8669090"/>
                  </a:ext>
                </a:extLst>
              </a:tr>
              <a:tr h="798114">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Prevent malaria?</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Preventive knowledge base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Suggests mosquito control and hygiene</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928177"/>
                  </a:ext>
                </a:extLst>
              </a:tr>
              <a:tr h="376564">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What is paracetamol?</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Drug corpus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Explains usage and precautions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7631942"/>
                  </a:ext>
                </a:extLst>
              </a:tr>
              <a:tr h="376564">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Persistent cough?</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Symptom database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Gives possible causes + doctor advice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8627685"/>
                  </a:ext>
                </a:extLst>
              </a:tr>
              <a:tr h="376564">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Find hospital</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API tool</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Returns nearby hospitals</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6508795"/>
                  </a:ext>
                </a:extLst>
              </a:tr>
            </a:tbl>
          </a:graphicData>
        </a:graphic>
      </p:graphicFrame>
      <p:graphicFrame>
        <p:nvGraphicFramePr>
          <p:cNvPr id="5" name="Table 4">
            <a:extLst>
              <a:ext uri="{FF2B5EF4-FFF2-40B4-BE49-F238E27FC236}">
                <a16:creationId xmlns:a16="http://schemas.microsoft.com/office/drawing/2014/main" id="{A653DC0B-562B-8473-D9D3-738DD3BD4CB4}"/>
              </a:ext>
            </a:extLst>
          </p:cNvPr>
          <p:cNvGraphicFramePr>
            <a:graphicFrameLocks noGrp="1"/>
          </p:cNvGraphicFramePr>
          <p:nvPr>
            <p:extLst>
              <p:ext uri="{D42A27DB-BD31-4B8C-83A1-F6EECF244321}">
                <p14:modId xmlns:p14="http://schemas.microsoft.com/office/powerpoint/2010/main" val="3147694768"/>
              </p:ext>
            </p:extLst>
          </p:nvPr>
        </p:nvGraphicFramePr>
        <p:xfrm>
          <a:off x="5979560" y="1736333"/>
          <a:ext cx="5501241" cy="4321505"/>
        </p:xfrm>
        <a:graphic>
          <a:graphicData uri="http://schemas.openxmlformats.org/drawingml/2006/table">
            <a:tbl>
              <a:tblPr firstRow="1" firstCol="1" bandRow="1"/>
              <a:tblGrid>
                <a:gridCol w="1833747">
                  <a:extLst>
                    <a:ext uri="{9D8B030D-6E8A-4147-A177-3AD203B41FA5}">
                      <a16:colId xmlns:a16="http://schemas.microsoft.com/office/drawing/2014/main" val="329539298"/>
                    </a:ext>
                  </a:extLst>
                </a:gridCol>
                <a:gridCol w="1833747">
                  <a:extLst>
                    <a:ext uri="{9D8B030D-6E8A-4147-A177-3AD203B41FA5}">
                      <a16:colId xmlns:a16="http://schemas.microsoft.com/office/drawing/2014/main" val="2181195133"/>
                    </a:ext>
                  </a:extLst>
                </a:gridCol>
                <a:gridCol w="1833747">
                  <a:extLst>
                    <a:ext uri="{9D8B030D-6E8A-4147-A177-3AD203B41FA5}">
                      <a16:colId xmlns:a16="http://schemas.microsoft.com/office/drawing/2014/main" val="2918844777"/>
                    </a:ext>
                  </a:extLst>
                </a:gridCol>
              </a:tblGrid>
              <a:tr h="708835">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Evaluation Factor</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Traditional Search Engine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Proposed Chatbot System</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2100819"/>
                  </a:ext>
                </a:extLst>
              </a:tr>
              <a:tr h="691049">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Information Access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Multiple sources</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Direct answers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9206167"/>
                  </a:ext>
                </a:extLst>
              </a:tr>
              <a:tr h="691049">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Response Structure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Links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Structured response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9405159"/>
                  </a:ext>
                </a:extLst>
              </a:tr>
              <a:tr h="691049">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Context Awareness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Low</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High (RAG-based)</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8854559"/>
                  </a:ext>
                </a:extLst>
              </a:tr>
              <a:tr h="691049">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Risk of Misinterpretation</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High</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Low</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302341"/>
                  </a:ext>
                </a:extLst>
              </a:tr>
              <a:tr h="424237">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User Effort</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High</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Low</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128775"/>
                  </a:ext>
                </a:extLst>
              </a:tr>
              <a:tr h="424237">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Response Time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20–60 sec</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2–4 sec</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1921124"/>
                  </a:ext>
                </a:extLst>
              </a:tr>
            </a:tbl>
          </a:graphicData>
        </a:graphic>
      </p:graphicFrame>
      <p:sp>
        <p:nvSpPr>
          <p:cNvPr id="6" name="TextBox 5">
            <a:extLst>
              <a:ext uri="{FF2B5EF4-FFF2-40B4-BE49-F238E27FC236}">
                <a16:creationId xmlns:a16="http://schemas.microsoft.com/office/drawing/2014/main" id="{EB00947E-7C8B-5010-8AD1-C7F2A2B2DEAC}"/>
              </a:ext>
            </a:extLst>
          </p:cNvPr>
          <p:cNvSpPr txBox="1"/>
          <p:nvPr/>
        </p:nvSpPr>
        <p:spPr>
          <a:xfrm>
            <a:off x="5979560" y="924986"/>
            <a:ext cx="5268360" cy="707886"/>
          </a:xfrm>
          <a:prstGeom prst="rect">
            <a:avLst/>
          </a:prstGeom>
          <a:noFill/>
        </p:spPr>
        <p:txBody>
          <a:bodyPr wrap="square" rtlCol="0">
            <a:spAutoFit/>
          </a:bodyPr>
          <a:lstStyle/>
          <a:p>
            <a:r>
              <a:rPr lang="en-IN" sz="2000" dirty="0">
                <a:latin typeface="Verdana" panose="020B0604030504040204" pitchFamily="34" charset="0"/>
                <a:ea typeface="Verdana" panose="020B0604030504040204" pitchFamily="34" charset="0"/>
              </a:rPr>
              <a:t>Comparison with Traditional Search Systems</a:t>
            </a:r>
          </a:p>
        </p:txBody>
      </p:sp>
    </p:spTree>
    <p:extLst>
      <p:ext uri="{BB962C8B-B14F-4D97-AF65-F5344CB8AC3E}">
        <p14:creationId xmlns:p14="http://schemas.microsoft.com/office/powerpoint/2010/main" val="1757913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9348-C27B-3E1A-2627-C7384991C059}"/>
              </a:ext>
            </a:extLst>
          </p:cNvPr>
          <p:cNvSpPr>
            <a:spLocks noGrp="1"/>
          </p:cNvSpPr>
          <p:nvPr>
            <p:ph type="title"/>
          </p:nvPr>
        </p:nvSpPr>
        <p:spPr/>
        <p:txBody>
          <a:bodyPr/>
          <a:lstStyle/>
          <a:p>
            <a:r>
              <a:rPr lang="en-US" dirty="0"/>
              <a:t>E</a:t>
            </a:r>
            <a:r>
              <a:rPr lang="en-IN" dirty="0"/>
              <a:t>valuation and Results</a:t>
            </a:r>
          </a:p>
        </p:txBody>
      </p:sp>
      <p:sp>
        <p:nvSpPr>
          <p:cNvPr id="3" name="Text Placeholder 2">
            <a:extLst>
              <a:ext uri="{FF2B5EF4-FFF2-40B4-BE49-F238E27FC236}">
                <a16:creationId xmlns:a16="http://schemas.microsoft.com/office/drawing/2014/main" id="{24785182-369E-0449-6B25-A0E2BE285604}"/>
              </a:ext>
            </a:extLst>
          </p:cNvPr>
          <p:cNvSpPr>
            <a:spLocks noGrp="1"/>
          </p:cNvSpPr>
          <p:nvPr>
            <p:ph type="body" idx="1"/>
          </p:nvPr>
        </p:nvSpPr>
        <p:spPr/>
        <p:txBody>
          <a:bodyPr/>
          <a:lstStyle/>
          <a:p>
            <a:pPr marL="76200" indent="0" algn="ctr">
              <a:buNone/>
            </a:pPr>
            <a:r>
              <a:rPr lang="en-IN" dirty="0"/>
              <a:t>Performance Evaluation Metrics</a:t>
            </a:r>
          </a:p>
        </p:txBody>
      </p:sp>
      <p:graphicFrame>
        <p:nvGraphicFramePr>
          <p:cNvPr id="4" name="Table 3">
            <a:extLst>
              <a:ext uri="{FF2B5EF4-FFF2-40B4-BE49-F238E27FC236}">
                <a16:creationId xmlns:a16="http://schemas.microsoft.com/office/drawing/2014/main" id="{B7CED659-BE43-4CD5-E671-C1A851EDB162}"/>
              </a:ext>
            </a:extLst>
          </p:cNvPr>
          <p:cNvGraphicFramePr>
            <a:graphicFrameLocks noGrp="1"/>
          </p:cNvGraphicFramePr>
          <p:nvPr>
            <p:extLst>
              <p:ext uri="{D42A27DB-BD31-4B8C-83A1-F6EECF244321}">
                <p14:modId xmlns:p14="http://schemas.microsoft.com/office/powerpoint/2010/main" val="2812021186"/>
              </p:ext>
            </p:extLst>
          </p:nvPr>
        </p:nvGraphicFramePr>
        <p:xfrm>
          <a:off x="812800" y="1818526"/>
          <a:ext cx="5567451" cy="4039254"/>
        </p:xfrm>
        <a:graphic>
          <a:graphicData uri="http://schemas.openxmlformats.org/drawingml/2006/table">
            <a:tbl>
              <a:tblPr firstRow="1" firstCol="1" bandRow="1"/>
              <a:tblGrid>
                <a:gridCol w="1855817">
                  <a:extLst>
                    <a:ext uri="{9D8B030D-6E8A-4147-A177-3AD203B41FA5}">
                      <a16:colId xmlns:a16="http://schemas.microsoft.com/office/drawing/2014/main" val="3260785485"/>
                    </a:ext>
                  </a:extLst>
                </a:gridCol>
                <a:gridCol w="1441046">
                  <a:extLst>
                    <a:ext uri="{9D8B030D-6E8A-4147-A177-3AD203B41FA5}">
                      <a16:colId xmlns:a16="http://schemas.microsoft.com/office/drawing/2014/main" val="4286363681"/>
                    </a:ext>
                  </a:extLst>
                </a:gridCol>
                <a:gridCol w="2270588">
                  <a:extLst>
                    <a:ext uri="{9D8B030D-6E8A-4147-A177-3AD203B41FA5}">
                      <a16:colId xmlns:a16="http://schemas.microsoft.com/office/drawing/2014/main" val="1371218075"/>
                    </a:ext>
                  </a:extLst>
                </a:gridCol>
              </a:tblGrid>
              <a:tr h="640882">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Metric</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Value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b="1" kern="0">
                          <a:effectLst/>
                          <a:latin typeface="Verdana" panose="020B0604030504040204" pitchFamily="34" charset="0"/>
                          <a:ea typeface="Verdana" panose="020B0604030504040204" pitchFamily="34" charset="0"/>
                          <a:cs typeface="Times New Roman" panose="02020603050405020304" pitchFamily="18" charset="0"/>
                        </a:rPr>
                        <a:t>Description</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6466791"/>
                  </a:ext>
                </a:extLst>
              </a:tr>
              <a:tr h="705536">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Routing Accuracy</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71%</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Correct module selection</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473814"/>
                  </a:ext>
                </a:extLst>
              </a:tr>
              <a:tr h="640882">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Response Relevance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91%</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Matches user intent</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0581626"/>
                  </a:ext>
                </a:extLst>
              </a:tr>
              <a:tr h="640882">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Safety Compliance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97%</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Emergency handling</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2649641"/>
                  </a:ext>
                </a:extLst>
              </a:tr>
              <a:tr h="705536">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Average Response Time</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3.7 sec</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End-to-end latency</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7866603"/>
                  </a:ext>
                </a:extLst>
              </a:tr>
              <a:tr h="705536">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Hospital Detection Success</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a:effectLst/>
                          <a:latin typeface="Verdana" panose="020B0604030504040204" pitchFamily="34" charset="0"/>
                          <a:ea typeface="Verdana" panose="020B0604030504040204" pitchFamily="34" charset="0"/>
                          <a:cs typeface="Times New Roman" panose="02020603050405020304" pitchFamily="18" charset="0"/>
                        </a:rPr>
                        <a:t>80%</a:t>
                      </a:r>
                      <a:endParaRPr lang="en-IN" sz="1200" kern="10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US" sz="1400" kern="0" dirty="0">
                          <a:effectLst/>
                          <a:latin typeface="Verdana" panose="020B0604030504040204" pitchFamily="34" charset="0"/>
                          <a:ea typeface="Verdana" panose="020B0604030504040204" pitchFamily="34" charset="0"/>
                          <a:cs typeface="Times New Roman" panose="02020603050405020304" pitchFamily="18" charset="0"/>
                        </a:rPr>
                        <a:t>Location-based results</a:t>
                      </a:r>
                      <a:endParaRPr lang="en-IN" sz="1200" kern="1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8653221"/>
                  </a:ext>
                </a:extLst>
              </a:tr>
            </a:tbl>
          </a:graphicData>
        </a:graphic>
      </p:graphicFrame>
      <p:pic>
        <p:nvPicPr>
          <p:cNvPr id="5" name="Picture 4">
            <a:extLst>
              <a:ext uri="{FF2B5EF4-FFF2-40B4-BE49-F238E27FC236}">
                <a16:creationId xmlns:a16="http://schemas.microsoft.com/office/drawing/2014/main" id="{7B8C844A-2908-6C9F-2EA3-322FC9952C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568" y="1710351"/>
            <a:ext cx="5025232" cy="4385650"/>
          </a:xfrm>
          <a:prstGeom prst="rect">
            <a:avLst/>
          </a:prstGeom>
        </p:spPr>
      </p:pic>
    </p:spTree>
    <p:extLst>
      <p:ext uri="{BB962C8B-B14F-4D97-AF65-F5344CB8AC3E}">
        <p14:creationId xmlns:p14="http://schemas.microsoft.com/office/powerpoint/2010/main" val="1948217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E89B-B05F-8875-78D2-048A2D4C7C08}"/>
              </a:ext>
            </a:extLst>
          </p:cNvPr>
          <p:cNvSpPr>
            <a:spLocks noGrp="1"/>
          </p:cNvSpPr>
          <p:nvPr>
            <p:ph type="title"/>
          </p:nvPr>
        </p:nvSpPr>
        <p:spPr/>
        <p:txBody>
          <a:bodyPr/>
          <a:lstStyle/>
          <a:p>
            <a:r>
              <a:rPr lang="en-US" dirty="0"/>
              <a:t>WhatsApp Interface</a:t>
            </a:r>
          </a:p>
        </p:txBody>
      </p:sp>
      <p:pic>
        <p:nvPicPr>
          <p:cNvPr id="5" name="Picture 4">
            <a:extLst>
              <a:ext uri="{FF2B5EF4-FFF2-40B4-BE49-F238E27FC236}">
                <a16:creationId xmlns:a16="http://schemas.microsoft.com/office/drawing/2014/main" id="{DD48619A-D441-539D-FEEB-87139DF51E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800" y="1151658"/>
            <a:ext cx="3742055" cy="3719830"/>
          </a:xfrm>
          <a:prstGeom prst="rect">
            <a:avLst/>
          </a:prstGeom>
        </p:spPr>
      </p:pic>
      <p:pic>
        <p:nvPicPr>
          <p:cNvPr id="6" name="Picture 5">
            <a:extLst>
              <a:ext uri="{FF2B5EF4-FFF2-40B4-BE49-F238E27FC236}">
                <a16:creationId xmlns:a16="http://schemas.microsoft.com/office/drawing/2014/main" id="{AEB2CC2B-1694-E673-AFF2-A60CE4F2534D}"/>
              </a:ext>
            </a:extLst>
          </p:cNvPr>
          <p:cNvPicPr>
            <a:picLocks noChangeAspect="1"/>
          </p:cNvPicPr>
          <p:nvPr/>
        </p:nvPicPr>
        <p:blipFill rotWithShape="1">
          <a:blip r:embed="rId3">
            <a:extLst>
              <a:ext uri="{28A0092B-C50C-407E-A947-70E740481C1C}">
                <a14:useLocalDpi xmlns:a14="http://schemas.microsoft.com/office/drawing/2010/main" val="0"/>
              </a:ext>
            </a:extLst>
          </a:blip>
          <a:srcRect t="5684" b="3679"/>
          <a:stretch>
            <a:fillRect/>
          </a:stretch>
        </p:blipFill>
        <p:spPr bwMode="auto">
          <a:xfrm>
            <a:off x="4989677" y="1151658"/>
            <a:ext cx="3009418" cy="5125852"/>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F942179F-2A50-B1AB-9C6B-10A343540702}"/>
              </a:ext>
            </a:extLst>
          </p:cNvPr>
          <p:cNvPicPr>
            <a:picLocks noChangeAspect="1"/>
          </p:cNvPicPr>
          <p:nvPr/>
        </p:nvPicPr>
        <p:blipFill rotWithShape="1">
          <a:blip r:embed="rId4">
            <a:extLst>
              <a:ext uri="{28A0092B-C50C-407E-A947-70E740481C1C}">
                <a14:useLocalDpi xmlns:a14="http://schemas.microsoft.com/office/drawing/2010/main" val="0"/>
              </a:ext>
            </a:extLst>
          </a:blip>
          <a:srcRect t="5528" b="3672"/>
          <a:stretch>
            <a:fillRect/>
          </a:stretch>
        </p:blipFill>
        <p:spPr bwMode="auto">
          <a:xfrm>
            <a:off x="8375837" y="1151658"/>
            <a:ext cx="3104964" cy="52247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4000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8EF6C-669F-CB45-EB20-5C4ED60A74ED}"/>
              </a:ext>
            </a:extLst>
          </p:cNvPr>
          <p:cNvSpPr>
            <a:spLocks noGrp="1"/>
          </p:cNvSpPr>
          <p:nvPr>
            <p:ph type="title"/>
          </p:nvPr>
        </p:nvSpPr>
        <p:spPr/>
        <p:txBody>
          <a:bodyPr/>
          <a:lstStyle/>
          <a:p>
            <a:r>
              <a:rPr lang="en-US" sz="2400" dirty="0"/>
              <a:t>Social, Legal, Ethical, Sustainability and Safety aspects </a:t>
            </a:r>
            <a:endParaRPr lang="en-IN" sz="2400" dirty="0"/>
          </a:p>
        </p:txBody>
      </p:sp>
      <p:sp>
        <p:nvSpPr>
          <p:cNvPr id="3" name="Text Placeholder 2">
            <a:extLst>
              <a:ext uri="{FF2B5EF4-FFF2-40B4-BE49-F238E27FC236}">
                <a16:creationId xmlns:a16="http://schemas.microsoft.com/office/drawing/2014/main" id="{8DFA23E0-78EE-D2AF-58D2-D16A93E93174}"/>
              </a:ext>
            </a:extLst>
          </p:cNvPr>
          <p:cNvSpPr>
            <a:spLocks noGrp="1"/>
          </p:cNvSpPr>
          <p:nvPr>
            <p:ph type="body" idx="1"/>
          </p:nvPr>
        </p:nvSpPr>
        <p:spPr/>
        <p:txBody>
          <a:bodyPr>
            <a:normAutofit/>
          </a:bodyPr>
          <a:lstStyle/>
          <a:p>
            <a:pPr marL="76200" indent="0">
              <a:lnSpc>
                <a:spcPct val="150000"/>
              </a:lnSpc>
              <a:buNone/>
            </a:pPr>
            <a:r>
              <a:rPr lang="en-US" sz="2000" dirty="0"/>
              <a:t>The system contributes socially by improving healthcare awareness and accessibility. Legally, it avoids liability by not providing diagnosis or prescriptions. Ethically, it ensures that responses are safe and prevents misinformation. From a sustainability perspective, it offers a scalable digital healthcare solution. The system also incorporates safety mechanisms such as emergency detection and response filtering to ensure responsible usage.</a:t>
            </a:r>
            <a:endParaRPr lang="en-IN" sz="2000" dirty="0">
              <a:latin typeface="Times New Roman"/>
            </a:endParaRPr>
          </a:p>
        </p:txBody>
      </p:sp>
    </p:spTree>
    <p:extLst>
      <p:ext uri="{BB962C8B-B14F-4D97-AF65-F5344CB8AC3E}">
        <p14:creationId xmlns:p14="http://schemas.microsoft.com/office/powerpoint/2010/main" val="982437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Verdana" panose="020B0604030504040204" pitchFamily="34" charset="0"/>
                <a:ea typeface="Verdana" panose="020B0604030504040204" pitchFamily="34"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77D673E7-D9F0-CC55-3E4D-394C44D1F8EF}"/>
              </a:ext>
            </a:extLst>
          </p:cNvPr>
          <p:cNvSpPr>
            <a:spLocks noChangeArrowheads="1"/>
          </p:cNvSpPr>
          <p:nvPr/>
        </p:nvSpPr>
        <p:spPr bwMode="auto">
          <a:xfrm>
            <a:off x="957390" y="1105138"/>
            <a:ext cx="1220409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latin typeface="Verdana" panose="020B0604030504040204" pitchFamily="34" charset="0"/>
                <a:ea typeface="Verdana" panose="020B0604030504040204" pitchFamily="34" charset="0"/>
              </a:rPr>
              <a:t>https://github.com/Stu-Affan/Medical-Chatbot</a:t>
            </a:r>
          </a:p>
        </p:txBody>
      </p:sp>
      <p:pic>
        <p:nvPicPr>
          <p:cNvPr id="2" name="Picture 1">
            <a:extLst>
              <a:ext uri="{FF2B5EF4-FFF2-40B4-BE49-F238E27FC236}">
                <a16:creationId xmlns:a16="http://schemas.microsoft.com/office/drawing/2014/main" id="{AF2E9CDC-E587-A1D9-E322-BBD3FF5F5DF9}"/>
              </a:ext>
            </a:extLst>
          </p:cNvPr>
          <p:cNvPicPr>
            <a:picLocks noChangeAspect="1"/>
          </p:cNvPicPr>
          <p:nvPr/>
        </p:nvPicPr>
        <p:blipFill>
          <a:blip r:embed="rId3"/>
          <a:stretch>
            <a:fillRect/>
          </a:stretch>
        </p:blipFill>
        <p:spPr>
          <a:xfrm>
            <a:off x="812800" y="1575157"/>
            <a:ext cx="10668000" cy="4192241"/>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Verdana" panose="020B0604030504040204" pitchFamily="34" charset="0"/>
                <a:ea typeface="Verdana" panose="020B0604030504040204" pitchFamily="34" charset="0"/>
              </a:rPr>
              <a:t>Conclusion</a:t>
            </a:r>
            <a:endParaRPr dirty="0">
              <a:latin typeface="Verdana" panose="020B0604030504040204" pitchFamily="34" charset="0"/>
              <a:ea typeface="Verdana" panose="020B0604030504040204" pitchFamily="34" charset="0"/>
            </a:endParaRPr>
          </a:p>
        </p:txBody>
      </p:sp>
      <p:sp>
        <p:nvSpPr>
          <p:cNvPr id="3" name="TextBox 2">
            <a:extLst>
              <a:ext uri="{FF2B5EF4-FFF2-40B4-BE49-F238E27FC236}">
                <a16:creationId xmlns:a16="http://schemas.microsoft.com/office/drawing/2014/main" id="{E18A63A1-2D7E-6981-A003-44A6D6018161}"/>
              </a:ext>
            </a:extLst>
          </p:cNvPr>
          <p:cNvSpPr txBox="1"/>
          <p:nvPr/>
        </p:nvSpPr>
        <p:spPr>
          <a:xfrm>
            <a:off x="812799" y="1312849"/>
            <a:ext cx="10735036" cy="2800062"/>
          </a:xfrm>
          <a:prstGeom prst="rect">
            <a:avLst/>
          </a:prstGeom>
          <a:noFill/>
        </p:spPr>
        <p:txBody>
          <a:bodyPr wrap="square" lIns="91440" tIns="45720" rIns="91440" bIns="45720" anchor="t">
            <a:spAutoFit/>
          </a:bodyPr>
          <a:lstStyle/>
          <a:p>
            <a:pPr>
              <a:lnSpc>
                <a:spcPct val="150000"/>
              </a:lnSpc>
            </a:pPr>
            <a:r>
              <a:rPr lang="en-US" sz="2000" dirty="0">
                <a:latin typeface="Verdana" panose="020B0604030504040204" pitchFamily="34" charset="0"/>
                <a:ea typeface="Verdana" panose="020B0604030504040204" pitchFamily="34" charset="0"/>
              </a:rPr>
              <a:t>The project successfully develops an AI-driven public health chatbot that combines Retrieval-Augmented Generation with deterministic routing to provide reliable and safe healthcare information. It improves accessibility and reduces misinformation in underserved communities. Future enhancements include multilingual support, voice-based interaction, integration with healthcare systems, and real-time health monitoring features.</a:t>
            </a:r>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79890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lvl="0"/>
            <a:r>
              <a:rPr lang="en-GB" dirty="0">
                <a:latin typeface="Verdana" panose="020B0604030504040204" pitchFamily="34" charset="0"/>
                <a:ea typeface="Verdana" panose="020B0604030504040204" pitchFamily="34" charset="0"/>
              </a:rPr>
              <a:t>References</a:t>
            </a:r>
            <a:endParaRPr dirty="0">
              <a:latin typeface="Verdana" panose="020B0604030504040204" pitchFamily="34" charset="0"/>
              <a:ea typeface="Verdana" panose="020B0604030504040204" pitchFamily="34" charset="0"/>
            </a:endParaRPr>
          </a:p>
        </p:txBody>
      </p:sp>
      <p:sp>
        <p:nvSpPr>
          <p:cNvPr id="2" name="Text Placeholder 1">
            <a:extLst>
              <a:ext uri="{FF2B5EF4-FFF2-40B4-BE49-F238E27FC236}">
                <a16:creationId xmlns:a16="http://schemas.microsoft.com/office/drawing/2014/main" id="{2FA56D35-E37D-F13D-EFDF-051200E95618}"/>
              </a:ext>
            </a:extLst>
          </p:cNvPr>
          <p:cNvSpPr>
            <a:spLocks noGrp="1"/>
          </p:cNvSpPr>
          <p:nvPr>
            <p:ph type="body" idx="1"/>
          </p:nvPr>
        </p:nvSpPr>
        <p:spPr/>
        <p:txBody>
          <a:bodyPr>
            <a:normAutofit/>
          </a:bodyPr>
          <a:lstStyle/>
          <a:p>
            <a:pPr marL="76200" indent="0">
              <a:buNone/>
            </a:pPr>
            <a:r>
              <a:rPr lang="en-IN" sz="2000" b="1" dirty="0"/>
              <a:t>[1] </a:t>
            </a:r>
            <a:r>
              <a:rPr lang="en-IN" sz="2000" dirty="0"/>
              <a:t>L. Laranjo et al., “Conversational agents in healthcare: A systematic    	review,” </a:t>
            </a:r>
            <a:r>
              <a:rPr lang="en-IN" sz="2000" i="1" dirty="0"/>
              <a:t>Journal of the American Medical Informatics Association</a:t>
            </a:r>
            <a:r>
              <a:rPr lang="en-IN" sz="2000" dirty="0"/>
              <a:t>, 	vol. 25, no. 9, pp. 1248–1258, 2018.</a:t>
            </a:r>
          </a:p>
          <a:p>
            <a:pPr marL="76200" indent="0">
              <a:buNone/>
            </a:pPr>
            <a:r>
              <a:rPr lang="en-IN" sz="2000" b="1" dirty="0"/>
              <a:t>[2] </a:t>
            </a:r>
            <a:r>
              <a:rPr lang="en-IN" sz="2000" dirty="0"/>
              <a:t>T. W. Bickmore et al., “Safety first: Conversational agents for health 	information,” </a:t>
            </a:r>
            <a:r>
              <a:rPr lang="en-IN" sz="2000" i="1" dirty="0"/>
              <a:t>Journal of Biomedical Informatics</a:t>
            </a:r>
            <a:r>
              <a:rPr lang="en-IN" sz="2000" dirty="0"/>
              <a:t>, vol. 82, pp. 1–9, 	2018.</a:t>
            </a:r>
          </a:p>
          <a:p>
            <a:pPr marL="76200" indent="0">
              <a:buNone/>
            </a:pPr>
            <a:r>
              <a:rPr lang="en-IN" sz="2000" b="1" dirty="0"/>
              <a:t>[3] </a:t>
            </a:r>
            <a:r>
              <a:rPr lang="en-IN" sz="2000" dirty="0"/>
              <a:t>L. Wilson and M. </a:t>
            </a:r>
            <a:r>
              <a:rPr lang="en-IN" sz="2000" dirty="0" err="1"/>
              <a:t>Marasoiu</a:t>
            </a:r>
            <a:r>
              <a:rPr lang="en-IN" sz="2000" dirty="0"/>
              <a:t>, “The development and use of chatbots in 	public health: Scoping review,” </a:t>
            </a:r>
            <a:r>
              <a:rPr lang="en-IN" sz="2000" i="1" dirty="0"/>
              <a:t>JMIR Human Factors</a:t>
            </a:r>
            <a:r>
              <a:rPr lang="en-IN" sz="2000" dirty="0"/>
              <a:t>, vol. 9, no. 4, 	p. 	e35882, 2022.</a:t>
            </a:r>
          </a:p>
          <a:p>
            <a:pPr marL="76200" indent="0">
              <a:buNone/>
            </a:pPr>
            <a:r>
              <a:rPr lang="en-IN" sz="2000" b="1" dirty="0"/>
              <a:t>[4] </a:t>
            </a:r>
            <a:r>
              <a:rPr lang="en-IN" sz="2000" dirty="0"/>
              <a:t>F. Branda et al., “The role of AI-based chatbots in public health 	emergencies: A narrative review,” </a:t>
            </a:r>
            <a:r>
              <a:rPr lang="en-IN" sz="2000" i="1" dirty="0"/>
              <a:t>Future Internet</a:t>
            </a:r>
            <a:r>
              <a:rPr lang="en-IN" sz="2000" dirty="0"/>
              <a:t>, vol. 17, no. 4, 	p. 	145, 2025.</a:t>
            </a:r>
          </a:p>
          <a:p>
            <a:pPr marL="76200" indent="0">
              <a:buNone/>
            </a:pPr>
            <a:r>
              <a:rPr lang="en-IN" sz="2000" b="1" dirty="0"/>
              <a:t>[5] </a:t>
            </a:r>
            <a:r>
              <a:rPr lang="en-IN" sz="2000" dirty="0"/>
              <a:t>K. Singhal et al., “Large language models encode clinical 	knowledge,” 	</a:t>
            </a:r>
            <a:r>
              <a:rPr lang="en-IN" sz="2000" i="1" dirty="0"/>
              <a:t>Nature</a:t>
            </a:r>
            <a:r>
              <a:rPr lang="en-IN" sz="2000" dirty="0"/>
              <a:t>, vol. 620, pp. 172–180, 2023.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ACCB-587D-74F0-B545-9540E77C73B9}"/>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References</a:t>
            </a:r>
            <a:endParaRPr lang="en-IN" dirty="0"/>
          </a:p>
        </p:txBody>
      </p:sp>
      <p:sp>
        <p:nvSpPr>
          <p:cNvPr id="3" name="Text Placeholder 2">
            <a:extLst>
              <a:ext uri="{FF2B5EF4-FFF2-40B4-BE49-F238E27FC236}">
                <a16:creationId xmlns:a16="http://schemas.microsoft.com/office/drawing/2014/main" id="{1FD83F7B-95CA-296E-C36D-AEBB65280CFE}"/>
              </a:ext>
            </a:extLst>
          </p:cNvPr>
          <p:cNvSpPr>
            <a:spLocks noGrp="1"/>
          </p:cNvSpPr>
          <p:nvPr>
            <p:ph type="body" idx="1"/>
          </p:nvPr>
        </p:nvSpPr>
        <p:spPr>
          <a:xfrm>
            <a:off x="812800" y="1143001"/>
            <a:ext cx="10668000" cy="4759477"/>
          </a:xfrm>
        </p:spPr>
        <p:txBody>
          <a:bodyPr spcFirstLastPara="1" wrap="square" lIns="91425" tIns="45700" rIns="91425" bIns="45700" anchor="t" anchorCtr="0">
            <a:noAutofit/>
          </a:bodyPr>
          <a:lstStyle/>
          <a:p>
            <a:pPr marL="76200" indent="0">
              <a:buNone/>
            </a:pPr>
            <a:r>
              <a:rPr lang="en-IN" sz="2000" b="1" dirty="0"/>
              <a:t>[6] </a:t>
            </a:r>
            <a:r>
              <a:rPr lang="en-IN" sz="2000" dirty="0"/>
              <a:t>Z. Ji et al., “Survey of hallucination in natural language generation,” </a:t>
            </a:r>
            <a:r>
              <a:rPr lang="en-IN" sz="2000" i="1" dirty="0"/>
              <a:t>ACM 	Computing Surveys</a:t>
            </a:r>
            <a:r>
              <a:rPr lang="en-IN" sz="2000" dirty="0"/>
              <a:t>, vol. 55, no. 12, pp. 1–38, 2023.</a:t>
            </a:r>
          </a:p>
          <a:p>
            <a:pPr marL="76200" indent="0">
              <a:buNone/>
            </a:pPr>
            <a:r>
              <a:rPr lang="en-IN" sz="2000" b="1" dirty="0"/>
              <a:t>[7] </a:t>
            </a:r>
            <a:r>
              <a:rPr lang="en-IN" sz="2000" dirty="0"/>
              <a:t>P. Lewis et al., “Retrieval-augmented generation for knowledge-intensive 		NLP tasks,” in </a:t>
            </a:r>
            <a:r>
              <a:rPr lang="en-IN" sz="2000" i="1" dirty="0"/>
              <a:t>Advances in Neural Information Processing Systems 	(</a:t>
            </a:r>
            <a:r>
              <a:rPr lang="en-IN" sz="2000" i="1" dirty="0" err="1"/>
              <a:t>NeurIPS</a:t>
            </a:r>
            <a:r>
              <a:rPr lang="en-IN" sz="2000" i="1" dirty="0"/>
              <a:t>)</a:t>
            </a:r>
            <a:r>
              <a:rPr lang="en-IN" sz="2000" dirty="0"/>
              <a:t>, vol. 33, pp. 9459–9474, 2020.</a:t>
            </a:r>
          </a:p>
          <a:p>
            <a:pPr marL="76200" indent="0">
              <a:buNone/>
            </a:pPr>
            <a:r>
              <a:rPr lang="en-IN" sz="2000" b="1" dirty="0"/>
              <a:t>[8] </a:t>
            </a:r>
            <a:r>
              <a:rPr lang="en-IN" sz="2000" dirty="0"/>
              <a:t>G. Izacard and E. Grave, “Leveraging passage retrieval with generative 	models for open-domain question answering,” in </a:t>
            </a:r>
            <a:r>
              <a:rPr lang="en-IN" sz="2000" i="1" dirty="0"/>
              <a:t>Proc. EACL</a:t>
            </a:r>
            <a:r>
              <a:rPr lang="en-IN" sz="2000" dirty="0"/>
              <a:t>, pp. 874–	880, 	2021.</a:t>
            </a:r>
          </a:p>
          <a:p>
            <a:pPr marL="76200" indent="0">
              <a:buNone/>
            </a:pPr>
            <a:r>
              <a:rPr lang="en-IN" sz="2000" b="1" dirty="0"/>
              <a:t>[9] </a:t>
            </a:r>
            <a:r>
              <a:rPr lang="en-IN" sz="2000" dirty="0"/>
              <a:t>A. S. Miner et al., “Chatbots in the fight against the COVID-19 pandemic,” 	</a:t>
            </a:r>
            <a:r>
              <a:rPr lang="en-IN" sz="2000" i="1" dirty="0" err="1"/>
              <a:t>npj</a:t>
            </a:r>
            <a:r>
              <a:rPr lang="en-IN" sz="2000" i="1" dirty="0"/>
              <a:t> Digital Medicine</a:t>
            </a:r>
            <a:r>
              <a:rPr lang="en-IN" sz="2000" dirty="0"/>
              <a:t>, vol. 3, no. 65, pp. 1–4, 2020.</a:t>
            </a:r>
          </a:p>
          <a:p>
            <a:pPr marL="76200" indent="0">
              <a:buNone/>
            </a:pPr>
            <a:r>
              <a:rPr lang="en-IN" sz="2000" b="1" dirty="0"/>
              <a:t>[10] </a:t>
            </a:r>
            <a:r>
              <a:rPr lang="en-IN" sz="2000" dirty="0"/>
              <a:t>A. Devaraj et al., “Evidence-based clinical decision support using natural 	language processing,” </a:t>
            </a:r>
            <a:r>
              <a:rPr lang="en-IN" sz="2000" i="1" dirty="0"/>
              <a:t>Journal of Biomedical Informatics</a:t>
            </a:r>
            <a:r>
              <a:rPr lang="en-IN" sz="2000" dirty="0"/>
              <a:t>, vol. 128, p. 	104002, 2022.</a:t>
            </a:r>
          </a:p>
        </p:txBody>
      </p:sp>
    </p:spTree>
    <p:extLst>
      <p:ext uri="{BB962C8B-B14F-4D97-AF65-F5344CB8AC3E}">
        <p14:creationId xmlns:p14="http://schemas.microsoft.com/office/powerpoint/2010/main" val="3057988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989</TotalTime>
  <Words>1614</Words>
  <Application>Microsoft Office PowerPoint</Application>
  <PresentationFormat>Widescreen</PresentationFormat>
  <Paragraphs>190</Paragraphs>
  <Slides>20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Cambria</vt:lpstr>
      <vt:lpstr>Times New Roman</vt:lpstr>
      <vt:lpstr>Trebuchet MS</vt:lpstr>
      <vt:lpstr>Verdana</vt:lpstr>
      <vt:lpstr>Bioinformatics</vt:lpstr>
      <vt:lpstr>Al-Driven Public Health Chatbot for Disease Awareness</vt:lpstr>
      <vt:lpstr>Abstract</vt:lpstr>
      <vt:lpstr>Introduction</vt:lpstr>
      <vt:lpstr>Literature Survey </vt:lpstr>
      <vt:lpstr>Literature Survey (10 papers)</vt:lpstr>
      <vt:lpstr>Methodology model</vt:lpstr>
      <vt:lpstr>Methodology</vt:lpstr>
      <vt:lpstr>Project Management</vt:lpstr>
      <vt:lpstr>Analysis and Design</vt:lpstr>
      <vt:lpstr>Hardware and Software </vt:lpstr>
      <vt:lpstr>Evaluation and Results</vt:lpstr>
      <vt:lpstr>Evaluation and Results</vt:lpstr>
      <vt:lpstr>Evaluation and Results</vt:lpstr>
      <vt:lpstr>WhatsApp Interface</vt:lpstr>
      <vt:lpstr>Social, Legal, Ethical, Sustainability and Safety aspects </vt:lpstr>
      <vt:lpstr>Github Link</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karthik mp</cp:lastModifiedBy>
  <cp:revision>231</cp:revision>
  <dcterms:modified xsi:type="dcterms:W3CDTF">2026-04-19T13:40:02Z</dcterms:modified>
</cp:coreProperties>
</file>