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8" r:id="rId8"/>
    <p:sldId id="266" r:id="rId9"/>
    <p:sldId id="262" r:id="rId10"/>
    <p:sldId id="263" r:id="rId11"/>
    <p:sldId id="267" r:id="rId12"/>
    <p:sldId id="264" r:id="rId13"/>
    <p:sldId id="265"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p:cViewPr varScale="1">
        <p:scale>
          <a:sx n="78" d="100"/>
          <a:sy n="78" d="100"/>
        </p:scale>
        <p:origin x="1018"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2800"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91362"/>
            <a:ext cx="12191999" cy="866635"/>
          </a:xfrm>
          <a:prstGeom prst="rect">
            <a:avLst/>
          </a:prstGeom>
        </p:spPr>
      </p:pic>
      <p:sp>
        <p:nvSpPr>
          <p:cNvPr id="2" name="Holder 2"/>
          <p:cNvSpPr>
            <a:spLocks noGrp="1"/>
          </p:cNvSpPr>
          <p:nvPr>
            <p:ph type="title"/>
          </p:nvPr>
        </p:nvSpPr>
        <p:spPr>
          <a:xfrm>
            <a:off x="891641" y="283210"/>
            <a:ext cx="7863205" cy="532891"/>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a:xfrm>
            <a:off x="891641" y="1170178"/>
            <a:ext cx="10351770" cy="3043554"/>
          </a:xfrm>
          <a:prstGeom prst="rect">
            <a:avLst/>
          </a:prstGeom>
        </p:spPr>
        <p:txBody>
          <a:bodyPr wrap="square" lIns="0" tIns="0" rIns="0" bIns="0">
            <a:spAutoFit/>
          </a:bodyPr>
          <a:lstStyle>
            <a:lvl1pPr>
              <a:defRPr sz="1800" b="0" i="0">
                <a:solidFill>
                  <a:schemeClr val="tx1"/>
                </a:solidFill>
                <a:latin typeface="Cambria"/>
                <a:cs typeface="Cambri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3256" y="1164716"/>
            <a:ext cx="9913620" cy="443711"/>
          </a:xfrm>
          <a:prstGeom prst="rect">
            <a:avLst/>
          </a:prstGeom>
        </p:spPr>
        <p:txBody>
          <a:bodyPr vert="horz" wrap="square" lIns="0" tIns="12700" rIns="0" bIns="0" rtlCol="0">
            <a:spAutoFit/>
          </a:bodyPr>
          <a:lstStyle/>
          <a:p>
            <a:pPr marL="1737995" marR="5080" indent="-1725930" algn="ctr">
              <a:lnSpc>
                <a:spcPct val="100000"/>
              </a:lnSpc>
              <a:spcBef>
                <a:spcPts val="100"/>
              </a:spcBef>
            </a:pPr>
            <a:r>
              <a:rPr lang="en-US" b="0" dirty="0"/>
              <a:t>Al-Driven Public Health Chatbot for Disease Awareness</a:t>
            </a:r>
            <a:endParaRPr sz="2400" dirty="0">
              <a:latin typeface="Cambria"/>
              <a:cs typeface="Cambria"/>
            </a:endParaRPr>
          </a:p>
        </p:txBody>
      </p:sp>
      <p:graphicFrame>
        <p:nvGraphicFramePr>
          <p:cNvPr id="3" name="object 3"/>
          <p:cNvGraphicFramePr>
            <a:graphicFrameLocks noGrp="1"/>
          </p:cNvGraphicFramePr>
          <p:nvPr/>
        </p:nvGraphicFramePr>
        <p:xfrm>
          <a:off x="634847" y="2773500"/>
          <a:ext cx="4855845" cy="1365250"/>
        </p:xfrm>
        <a:graphic>
          <a:graphicData uri="http://schemas.openxmlformats.org/drawingml/2006/table">
            <a:tbl>
              <a:tblPr firstRow="1" bandRow="1">
                <a:tableStyleId>{2D5ABB26-0587-4C30-8999-92F81FD0307C}</a:tableStyleId>
              </a:tblPr>
              <a:tblGrid>
                <a:gridCol w="2205355">
                  <a:extLst>
                    <a:ext uri="{9D8B030D-6E8A-4147-A177-3AD203B41FA5}">
                      <a16:colId xmlns:a16="http://schemas.microsoft.com/office/drawing/2014/main" val="20000"/>
                    </a:ext>
                  </a:extLst>
                </a:gridCol>
                <a:gridCol w="2650490">
                  <a:extLst>
                    <a:ext uri="{9D8B030D-6E8A-4147-A177-3AD203B41FA5}">
                      <a16:colId xmlns:a16="http://schemas.microsoft.com/office/drawing/2014/main" val="20001"/>
                    </a:ext>
                  </a:extLst>
                </a:gridCol>
              </a:tblGrid>
              <a:tr h="316865">
                <a:tc>
                  <a:txBody>
                    <a:bodyPr/>
                    <a:lstStyle/>
                    <a:p>
                      <a:pPr marR="276860" algn="ctr">
                        <a:lnSpc>
                          <a:spcPts val="2055"/>
                        </a:lnSpc>
                      </a:pPr>
                      <a:r>
                        <a:rPr sz="1800" b="1" spc="105" dirty="0">
                          <a:solidFill>
                            <a:srgbClr val="17365D"/>
                          </a:solidFill>
                          <a:latin typeface="Cambria"/>
                          <a:cs typeface="Cambria"/>
                        </a:rPr>
                        <a:t>Roll</a:t>
                      </a:r>
                      <a:r>
                        <a:rPr sz="1800" b="1" spc="215" dirty="0">
                          <a:solidFill>
                            <a:srgbClr val="17365D"/>
                          </a:solidFill>
                          <a:latin typeface="Cambria"/>
                          <a:cs typeface="Cambria"/>
                        </a:rPr>
                        <a:t> </a:t>
                      </a:r>
                      <a:r>
                        <a:rPr sz="1800" b="1" spc="65" dirty="0">
                          <a:solidFill>
                            <a:srgbClr val="17365D"/>
                          </a:solidFill>
                          <a:latin typeface="Cambria"/>
                          <a:cs typeface="Cambria"/>
                        </a:rPr>
                        <a:t>Number</a:t>
                      </a:r>
                      <a:endParaRPr sz="1800">
                        <a:latin typeface="Cambria"/>
                        <a:cs typeface="Cambria"/>
                      </a:endParaRPr>
                    </a:p>
                  </a:txBody>
                  <a:tcPr marL="0" marR="0" marT="0" marB="0"/>
                </a:tc>
                <a:tc>
                  <a:txBody>
                    <a:bodyPr/>
                    <a:lstStyle/>
                    <a:p>
                      <a:pPr marL="280035" algn="ctr">
                        <a:lnSpc>
                          <a:spcPts val="2055"/>
                        </a:lnSpc>
                      </a:pPr>
                      <a:r>
                        <a:rPr sz="1800" b="1" spc="135" dirty="0">
                          <a:solidFill>
                            <a:srgbClr val="17365D"/>
                          </a:solidFill>
                          <a:latin typeface="Cambria"/>
                          <a:cs typeface="Cambria"/>
                        </a:rPr>
                        <a:t>Student</a:t>
                      </a:r>
                      <a:r>
                        <a:rPr sz="1800" b="1" spc="235" dirty="0">
                          <a:solidFill>
                            <a:srgbClr val="17365D"/>
                          </a:solidFill>
                          <a:latin typeface="Cambria"/>
                          <a:cs typeface="Cambria"/>
                        </a:rPr>
                        <a:t> </a:t>
                      </a:r>
                      <a:r>
                        <a:rPr sz="1800" b="1" spc="90" dirty="0">
                          <a:solidFill>
                            <a:srgbClr val="17365D"/>
                          </a:solidFill>
                          <a:latin typeface="Cambria"/>
                          <a:cs typeface="Cambria"/>
                        </a:rPr>
                        <a:t>Name</a:t>
                      </a:r>
                      <a:endParaRPr sz="1800">
                        <a:latin typeface="Cambria"/>
                        <a:cs typeface="Cambria"/>
                      </a:endParaRPr>
                    </a:p>
                  </a:txBody>
                  <a:tcPr marL="0" marR="0" marT="0" marB="0"/>
                </a:tc>
                <a:extLst>
                  <a:ext uri="{0D108BD9-81ED-4DB2-BD59-A6C34878D82A}">
                    <a16:rowId xmlns:a16="http://schemas.microsoft.com/office/drawing/2014/main" val="10000"/>
                  </a:ext>
                </a:extLst>
              </a:tr>
              <a:tr h="365760">
                <a:tc>
                  <a:txBody>
                    <a:bodyPr/>
                    <a:lstStyle/>
                    <a:p>
                      <a:pPr marR="277495" algn="ctr">
                        <a:lnSpc>
                          <a:spcPct val="100000"/>
                        </a:lnSpc>
                        <a:spcBef>
                          <a:spcPts val="280"/>
                        </a:spcBef>
                      </a:pPr>
                      <a:r>
                        <a:rPr sz="1800" b="1" spc="145" dirty="0">
                          <a:latin typeface="Cambria"/>
                          <a:cs typeface="Cambria"/>
                        </a:rPr>
                        <a:t>20221CSG0027</a:t>
                      </a:r>
                      <a:endParaRPr sz="1800">
                        <a:latin typeface="Cambria"/>
                        <a:cs typeface="Cambria"/>
                      </a:endParaRPr>
                    </a:p>
                  </a:txBody>
                  <a:tcPr marL="0" marR="0" marT="35560" marB="0"/>
                </a:tc>
                <a:tc>
                  <a:txBody>
                    <a:bodyPr/>
                    <a:lstStyle/>
                    <a:p>
                      <a:pPr marL="280035" algn="ctr">
                        <a:lnSpc>
                          <a:spcPct val="100000"/>
                        </a:lnSpc>
                        <a:spcBef>
                          <a:spcPts val="280"/>
                        </a:spcBef>
                      </a:pPr>
                      <a:r>
                        <a:rPr sz="1800" b="1" spc="130" dirty="0">
                          <a:latin typeface="Cambria"/>
                          <a:cs typeface="Cambria"/>
                        </a:rPr>
                        <a:t>SUZAIN</a:t>
                      </a:r>
                      <a:r>
                        <a:rPr sz="1800" b="1" spc="229" dirty="0">
                          <a:latin typeface="Cambria"/>
                          <a:cs typeface="Cambria"/>
                        </a:rPr>
                        <a:t> </a:t>
                      </a:r>
                      <a:r>
                        <a:rPr sz="1800" b="1" spc="130" dirty="0">
                          <a:latin typeface="Cambria"/>
                          <a:cs typeface="Cambria"/>
                        </a:rPr>
                        <a:t>PATEL</a:t>
                      </a:r>
                      <a:endParaRPr sz="1800">
                        <a:latin typeface="Cambria"/>
                        <a:cs typeface="Cambria"/>
                      </a:endParaRPr>
                    </a:p>
                  </a:txBody>
                  <a:tcPr marL="0" marR="0" marT="35560" marB="0"/>
                </a:tc>
                <a:extLst>
                  <a:ext uri="{0D108BD9-81ED-4DB2-BD59-A6C34878D82A}">
                    <a16:rowId xmlns:a16="http://schemas.microsoft.com/office/drawing/2014/main" val="10001"/>
                  </a:ext>
                </a:extLst>
              </a:tr>
              <a:tr h="365760">
                <a:tc>
                  <a:txBody>
                    <a:bodyPr/>
                    <a:lstStyle/>
                    <a:p>
                      <a:pPr marR="274320" algn="ctr">
                        <a:lnSpc>
                          <a:spcPct val="100000"/>
                        </a:lnSpc>
                        <a:spcBef>
                          <a:spcPts val="280"/>
                        </a:spcBef>
                      </a:pPr>
                      <a:r>
                        <a:rPr sz="1800" b="1" spc="145" dirty="0">
                          <a:latin typeface="Cambria"/>
                          <a:cs typeface="Cambria"/>
                        </a:rPr>
                        <a:t>20221CSG0055</a:t>
                      </a:r>
                      <a:endParaRPr sz="1800">
                        <a:latin typeface="Cambria"/>
                        <a:cs typeface="Cambria"/>
                      </a:endParaRPr>
                    </a:p>
                  </a:txBody>
                  <a:tcPr marL="0" marR="0" marT="35560" marB="0"/>
                </a:tc>
                <a:tc>
                  <a:txBody>
                    <a:bodyPr/>
                    <a:lstStyle/>
                    <a:p>
                      <a:pPr marL="278765" algn="ctr">
                        <a:lnSpc>
                          <a:spcPct val="100000"/>
                        </a:lnSpc>
                        <a:spcBef>
                          <a:spcPts val="280"/>
                        </a:spcBef>
                      </a:pPr>
                      <a:r>
                        <a:rPr sz="1800" b="1" spc="145" dirty="0">
                          <a:latin typeface="Cambria"/>
                          <a:cs typeface="Cambria"/>
                        </a:rPr>
                        <a:t>ZAKIR</a:t>
                      </a:r>
                      <a:r>
                        <a:rPr sz="1800" b="1" spc="220" dirty="0">
                          <a:latin typeface="Cambria"/>
                          <a:cs typeface="Cambria"/>
                        </a:rPr>
                        <a:t> </a:t>
                      </a:r>
                      <a:r>
                        <a:rPr sz="1800" b="1" spc="120" dirty="0">
                          <a:latin typeface="Cambria"/>
                          <a:cs typeface="Cambria"/>
                        </a:rPr>
                        <a:t>AHMAD</a:t>
                      </a:r>
                      <a:endParaRPr sz="1800">
                        <a:latin typeface="Cambria"/>
                        <a:cs typeface="Cambria"/>
                      </a:endParaRPr>
                    </a:p>
                  </a:txBody>
                  <a:tcPr marL="0" marR="0" marT="35560" marB="0"/>
                </a:tc>
                <a:extLst>
                  <a:ext uri="{0D108BD9-81ED-4DB2-BD59-A6C34878D82A}">
                    <a16:rowId xmlns:a16="http://schemas.microsoft.com/office/drawing/2014/main" val="10002"/>
                  </a:ext>
                </a:extLst>
              </a:tr>
              <a:tr h="316865">
                <a:tc>
                  <a:txBody>
                    <a:bodyPr/>
                    <a:lstStyle/>
                    <a:p>
                      <a:pPr marR="274320" algn="ctr">
                        <a:lnSpc>
                          <a:spcPts val="2115"/>
                        </a:lnSpc>
                        <a:spcBef>
                          <a:spcPts val="275"/>
                        </a:spcBef>
                      </a:pPr>
                      <a:r>
                        <a:rPr sz="1800" b="1" spc="145" dirty="0">
                          <a:latin typeface="Cambria"/>
                          <a:cs typeface="Cambria"/>
                        </a:rPr>
                        <a:t>20221CSG0022</a:t>
                      </a:r>
                      <a:endParaRPr sz="1800">
                        <a:latin typeface="Cambria"/>
                        <a:cs typeface="Cambria"/>
                      </a:endParaRPr>
                    </a:p>
                  </a:txBody>
                  <a:tcPr marL="0" marR="0" marT="34925" marB="0"/>
                </a:tc>
                <a:tc>
                  <a:txBody>
                    <a:bodyPr/>
                    <a:lstStyle/>
                    <a:p>
                      <a:pPr marL="281940" algn="ctr">
                        <a:lnSpc>
                          <a:spcPts val="2115"/>
                        </a:lnSpc>
                        <a:spcBef>
                          <a:spcPts val="275"/>
                        </a:spcBef>
                      </a:pPr>
                      <a:r>
                        <a:rPr sz="1800" b="1" spc="130" dirty="0">
                          <a:latin typeface="Cambria"/>
                          <a:cs typeface="Cambria"/>
                        </a:rPr>
                        <a:t>TARUN</a:t>
                      </a:r>
                      <a:r>
                        <a:rPr sz="1800" b="1" spc="235" dirty="0">
                          <a:latin typeface="Cambria"/>
                          <a:cs typeface="Cambria"/>
                        </a:rPr>
                        <a:t> </a:t>
                      </a:r>
                      <a:r>
                        <a:rPr sz="1800" b="1" spc="110" dirty="0">
                          <a:latin typeface="Cambria"/>
                          <a:cs typeface="Cambria"/>
                        </a:rPr>
                        <a:t>PANDIAN</a:t>
                      </a:r>
                      <a:r>
                        <a:rPr sz="1800" b="1" spc="245" dirty="0">
                          <a:latin typeface="Cambria"/>
                          <a:cs typeface="Cambria"/>
                        </a:rPr>
                        <a:t> </a:t>
                      </a:r>
                      <a:r>
                        <a:rPr sz="1800" b="1" spc="100" dirty="0">
                          <a:latin typeface="Cambria"/>
                          <a:cs typeface="Cambria"/>
                        </a:rPr>
                        <a:t>M</a:t>
                      </a:r>
                      <a:endParaRPr sz="1800">
                        <a:latin typeface="Cambria"/>
                        <a:cs typeface="Cambria"/>
                      </a:endParaRPr>
                    </a:p>
                  </a:txBody>
                  <a:tcPr marL="0" marR="0" marT="34925" marB="0"/>
                </a:tc>
                <a:extLst>
                  <a:ext uri="{0D108BD9-81ED-4DB2-BD59-A6C34878D82A}">
                    <a16:rowId xmlns:a16="http://schemas.microsoft.com/office/drawing/2014/main" val="10003"/>
                  </a:ext>
                </a:extLst>
              </a:tr>
            </a:tbl>
          </a:graphicData>
        </a:graphic>
      </p:graphicFrame>
      <p:sp>
        <p:nvSpPr>
          <p:cNvPr id="4" name="object 4"/>
          <p:cNvSpPr txBox="1"/>
          <p:nvPr/>
        </p:nvSpPr>
        <p:spPr>
          <a:xfrm>
            <a:off x="631951" y="2178177"/>
            <a:ext cx="10252710" cy="3555460"/>
          </a:xfrm>
          <a:prstGeom prst="rect">
            <a:avLst/>
          </a:prstGeom>
        </p:spPr>
        <p:txBody>
          <a:bodyPr vert="horz" wrap="square" lIns="0" tIns="12700" rIns="0" bIns="0" rtlCol="0">
            <a:spAutoFit/>
          </a:bodyPr>
          <a:lstStyle/>
          <a:p>
            <a:pPr marL="95885">
              <a:lnSpc>
                <a:spcPct val="100000"/>
              </a:lnSpc>
              <a:spcBef>
                <a:spcPts val="100"/>
              </a:spcBef>
              <a:tabLst>
                <a:tab pos="6921500" algn="l"/>
              </a:tabLst>
            </a:pPr>
            <a:r>
              <a:rPr sz="2700" b="1" baseline="1543" dirty="0">
                <a:solidFill>
                  <a:srgbClr val="17365D"/>
                </a:solidFill>
                <a:latin typeface="Cambria"/>
                <a:cs typeface="Cambria"/>
              </a:rPr>
              <a:t>Batch</a:t>
            </a:r>
            <a:r>
              <a:rPr sz="2700" b="1" spc="-30" baseline="1543" dirty="0">
                <a:solidFill>
                  <a:srgbClr val="17365D"/>
                </a:solidFill>
                <a:latin typeface="Cambria"/>
                <a:cs typeface="Cambria"/>
              </a:rPr>
              <a:t> </a:t>
            </a:r>
            <a:r>
              <a:rPr sz="2700" b="1" baseline="1543" dirty="0">
                <a:solidFill>
                  <a:srgbClr val="17365D"/>
                </a:solidFill>
                <a:latin typeface="Cambria"/>
                <a:cs typeface="Cambria"/>
              </a:rPr>
              <a:t>Number:</a:t>
            </a:r>
            <a:r>
              <a:rPr sz="2700" b="1" spc="-97" baseline="1543" dirty="0">
                <a:solidFill>
                  <a:srgbClr val="17365D"/>
                </a:solidFill>
                <a:latin typeface="Cambria"/>
                <a:cs typeface="Cambria"/>
              </a:rPr>
              <a:t> </a:t>
            </a:r>
            <a:r>
              <a:rPr sz="2700" b="1" spc="-15" baseline="1543" dirty="0">
                <a:solidFill>
                  <a:srgbClr val="17365D"/>
                </a:solidFill>
                <a:latin typeface="Cambria"/>
                <a:cs typeface="Cambria"/>
              </a:rPr>
              <a:t>CSG_</a:t>
            </a:r>
            <a:r>
              <a:rPr lang="en-US" sz="2700" b="1" spc="-15" baseline="1543" dirty="0">
                <a:solidFill>
                  <a:srgbClr val="17365D"/>
                </a:solidFill>
                <a:latin typeface="Cambria"/>
                <a:cs typeface="Cambria"/>
              </a:rPr>
              <a:t>16</a:t>
            </a:r>
            <a:r>
              <a:rPr sz="2700" b="1" baseline="1543" dirty="0">
                <a:solidFill>
                  <a:srgbClr val="17365D"/>
                </a:solidFill>
                <a:latin typeface="Cambria"/>
                <a:cs typeface="Cambria"/>
              </a:rPr>
              <a:t>	</a:t>
            </a:r>
            <a:r>
              <a:rPr sz="1800" b="1" dirty="0">
                <a:solidFill>
                  <a:srgbClr val="17365D"/>
                </a:solidFill>
                <a:latin typeface="Cambria"/>
                <a:cs typeface="Cambria"/>
              </a:rPr>
              <a:t>Under</a:t>
            </a:r>
            <a:r>
              <a:rPr sz="1800" b="1" spc="-45" dirty="0">
                <a:solidFill>
                  <a:srgbClr val="17365D"/>
                </a:solidFill>
                <a:latin typeface="Cambria"/>
                <a:cs typeface="Cambria"/>
              </a:rPr>
              <a:t> </a:t>
            </a:r>
            <a:r>
              <a:rPr sz="1800" b="1" dirty="0">
                <a:solidFill>
                  <a:srgbClr val="17365D"/>
                </a:solidFill>
                <a:latin typeface="Cambria"/>
                <a:cs typeface="Cambria"/>
              </a:rPr>
              <a:t>the</a:t>
            </a:r>
            <a:r>
              <a:rPr sz="1800" b="1" spc="-20" dirty="0">
                <a:solidFill>
                  <a:srgbClr val="17365D"/>
                </a:solidFill>
                <a:latin typeface="Cambria"/>
                <a:cs typeface="Cambria"/>
              </a:rPr>
              <a:t> </a:t>
            </a:r>
            <a:r>
              <a:rPr sz="1800" b="1" dirty="0">
                <a:solidFill>
                  <a:srgbClr val="17365D"/>
                </a:solidFill>
                <a:latin typeface="Cambria"/>
                <a:cs typeface="Cambria"/>
              </a:rPr>
              <a:t>Supervision</a:t>
            </a:r>
            <a:r>
              <a:rPr sz="1800" b="1" spc="-55"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350"/>
              </a:spcBef>
            </a:pPr>
            <a:endParaRPr sz="1800" dirty="0">
              <a:latin typeface="Cambria"/>
              <a:cs typeface="Cambria"/>
            </a:endParaRPr>
          </a:p>
          <a:p>
            <a:pPr marL="5584825">
              <a:lnSpc>
                <a:spcPct val="100000"/>
              </a:lnSpc>
            </a:pPr>
            <a:r>
              <a:rPr sz="1800" b="1" dirty="0">
                <a:solidFill>
                  <a:srgbClr val="17365D"/>
                </a:solidFill>
                <a:latin typeface="Trebuchet MS"/>
                <a:cs typeface="Trebuchet MS"/>
              </a:rPr>
              <a:t>M</a:t>
            </a:r>
            <a:r>
              <a:rPr lang="en-US" sz="1800" b="1" dirty="0">
                <a:solidFill>
                  <a:srgbClr val="17365D"/>
                </a:solidFill>
                <a:latin typeface="Trebuchet MS"/>
                <a:cs typeface="Trebuchet MS"/>
              </a:rPr>
              <a:t>r. Asif Ahmad Najar</a:t>
            </a:r>
            <a:endParaRPr sz="1800" dirty="0">
              <a:latin typeface="Trebuchet MS"/>
              <a:cs typeface="Trebuchet MS"/>
            </a:endParaRPr>
          </a:p>
          <a:p>
            <a:pPr marL="5584825">
              <a:lnSpc>
                <a:spcPct val="100000"/>
              </a:lnSpc>
              <a:spcBef>
                <a:spcPts val="395"/>
              </a:spcBef>
            </a:pPr>
            <a:r>
              <a:rPr lang="en-IN" sz="1800" b="1" dirty="0">
                <a:solidFill>
                  <a:srgbClr val="17365D"/>
                </a:solidFill>
                <a:latin typeface="Cambria"/>
                <a:cs typeface="Cambria"/>
              </a:rPr>
              <a:t>Assistant</a:t>
            </a:r>
            <a:r>
              <a:rPr sz="1800" b="1" spc="-50" dirty="0">
                <a:solidFill>
                  <a:srgbClr val="17365D"/>
                </a:solidFill>
                <a:latin typeface="Cambria"/>
                <a:cs typeface="Cambria"/>
              </a:rPr>
              <a:t> </a:t>
            </a:r>
            <a:r>
              <a:rPr sz="1800" b="1" spc="-10" dirty="0">
                <a:solidFill>
                  <a:srgbClr val="17365D"/>
                </a:solidFill>
                <a:latin typeface="Cambria"/>
                <a:cs typeface="Cambria"/>
              </a:rPr>
              <a:t>Professor</a:t>
            </a:r>
            <a:endParaRPr sz="1800" dirty="0">
              <a:latin typeface="Cambria"/>
              <a:cs typeface="Cambria"/>
            </a:endParaRPr>
          </a:p>
          <a:p>
            <a:pPr marL="5584825" marR="5080">
              <a:lnSpc>
                <a:spcPct val="113900"/>
              </a:lnSpc>
            </a:pPr>
            <a:r>
              <a:rPr sz="1800" b="1" dirty="0">
                <a:solidFill>
                  <a:srgbClr val="17365D"/>
                </a:solidFill>
                <a:latin typeface="Cambria"/>
                <a:cs typeface="Cambria"/>
              </a:rPr>
              <a:t>School</a:t>
            </a:r>
            <a:r>
              <a:rPr sz="1800" b="1" spc="-50" dirty="0">
                <a:solidFill>
                  <a:srgbClr val="17365D"/>
                </a:solidFill>
                <a:latin typeface="Cambria"/>
                <a:cs typeface="Cambria"/>
              </a:rPr>
              <a:t> </a:t>
            </a:r>
            <a:r>
              <a:rPr sz="1800" b="1" dirty="0">
                <a:solidFill>
                  <a:srgbClr val="17365D"/>
                </a:solidFill>
                <a:latin typeface="Cambria"/>
                <a:cs typeface="Cambria"/>
              </a:rPr>
              <a:t>of</a:t>
            </a:r>
            <a:r>
              <a:rPr sz="1800" b="1" spc="-45" dirty="0">
                <a:solidFill>
                  <a:srgbClr val="17365D"/>
                </a:solidFill>
                <a:latin typeface="Cambria"/>
                <a:cs typeface="Cambria"/>
              </a:rPr>
              <a:t> </a:t>
            </a:r>
            <a:r>
              <a:rPr sz="1800" b="1" dirty="0">
                <a:solidFill>
                  <a:srgbClr val="17365D"/>
                </a:solidFill>
                <a:latin typeface="Cambria"/>
                <a:cs typeface="Cambria"/>
              </a:rPr>
              <a:t>Computer</a:t>
            </a:r>
            <a:r>
              <a:rPr sz="1800" b="1" spc="-70" dirty="0">
                <a:solidFill>
                  <a:srgbClr val="17365D"/>
                </a:solidFill>
                <a:latin typeface="Cambria"/>
                <a:cs typeface="Cambria"/>
              </a:rPr>
              <a:t> </a:t>
            </a:r>
            <a:r>
              <a:rPr sz="1800" b="1" dirty="0">
                <a:solidFill>
                  <a:srgbClr val="17365D"/>
                </a:solidFill>
                <a:latin typeface="Cambria"/>
                <a:cs typeface="Cambria"/>
              </a:rPr>
              <a:t>Science</a:t>
            </a:r>
            <a:r>
              <a:rPr sz="1800" b="1" spc="-50" dirty="0">
                <a:solidFill>
                  <a:srgbClr val="17365D"/>
                </a:solidFill>
                <a:latin typeface="Cambria"/>
                <a:cs typeface="Cambria"/>
              </a:rPr>
              <a:t> </a:t>
            </a:r>
            <a:r>
              <a:rPr sz="1800" b="1" dirty="0">
                <a:solidFill>
                  <a:srgbClr val="17365D"/>
                </a:solidFill>
                <a:latin typeface="Cambria"/>
                <a:cs typeface="Cambria"/>
              </a:rPr>
              <a:t>and</a:t>
            </a:r>
            <a:r>
              <a:rPr sz="1800" b="1" spc="-55" dirty="0">
                <a:solidFill>
                  <a:srgbClr val="17365D"/>
                </a:solidFill>
                <a:latin typeface="Cambria"/>
                <a:cs typeface="Cambria"/>
              </a:rPr>
              <a:t> </a:t>
            </a:r>
            <a:r>
              <a:rPr sz="1800" b="1" spc="-10" dirty="0">
                <a:solidFill>
                  <a:srgbClr val="17365D"/>
                </a:solidFill>
                <a:latin typeface="Cambria"/>
                <a:cs typeface="Cambria"/>
              </a:rPr>
              <a:t>Engineering </a:t>
            </a:r>
            <a:r>
              <a:rPr sz="1800" b="1" dirty="0">
                <a:solidFill>
                  <a:srgbClr val="17365D"/>
                </a:solidFill>
                <a:latin typeface="Cambria"/>
                <a:cs typeface="Cambria"/>
              </a:rPr>
              <a:t>Presidency</a:t>
            </a:r>
            <a:r>
              <a:rPr sz="1800" b="1" spc="-75" dirty="0">
                <a:solidFill>
                  <a:srgbClr val="17365D"/>
                </a:solidFill>
                <a:latin typeface="Cambria"/>
                <a:cs typeface="Cambria"/>
              </a:rPr>
              <a:t> </a:t>
            </a:r>
            <a:r>
              <a:rPr sz="1800" b="1" spc="-10" dirty="0">
                <a:solidFill>
                  <a:srgbClr val="17365D"/>
                </a:solidFill>
                <a:latin typeface="Cambria"/>
                <a:cs typeface="Cambria"/>
              </a:rPr>
              <a:t>University</a:t>
            </a:r>
            <a:endParaRPr sz="1800" dirty="0">
              <a:latin typeface="Cambria"/>
              <a:cs typeface="Cambria"/>
            </a:endParaRPr>
          </a:p>
          <a:p>
            <a:pPr>
              <a:lnSpc>
                <a:spcPct val="100000"/>
              </a:lnSpc>
            </a:pPr>
            <a:endParaRPr sz="1800" dirty="0">
              <a:latin typeface="Cambria"/>
              <a:cs typeface="Cambria"/>
            </a:endParaRPr>
          </a:p>
          <a:p>
            <a:pPr>
              <a:lnSpc>
                <a:spcPct val="100000"/>
              </a:lnSpc>
              <a:spcBef>
                <a:spcPts val="290"/>
              </a:spcBef>
            </a:pPr>
            <a:endParaRPr sz="1800" dirty="0">
              <a:latin typeface="Cambria"/>
              <a:cs typeface="Cambria"/>
            </a:endParaRPr>
          </a:p>
          <a:p>
            <a:pPr marL="12700" marR="7225030">
              <a:lnSpc>
                <a:spcPct val="100000"/>
              </a:lnSpc>
            </a:pPr>
            <a:r>
              <a:rPr sz="1800" b="1" dirty="0">
                <a:solidFill>
                  <a:srgbClr val="4F81BC"/>
                </a:solidFill>
                <a:latin typeface="Cambria"/>
                <a:cs typeface="Cambria"/>
              </a:rPr>
              <a:t>Name</a:t>
            </a:r>
            <a:r>
              <a:rPr sz="1800" b="1" spc="-25" dirty="0">
                <a:solidFill>
                  <a:srgbClr val="4F81BC"/>
                </a:solidFill>
                <a:latin typeface="Cambria"/>
                <a:cs typeface="Cambria"/>
              </a:rPr>
              <a:t> </a:t>
            </a:r>
            <a:r>
              <a:rPr sz="1800" b="1" dirty="0">
                <a:solidFill>
                  <a:srgbClr val="4F81BC"/>
                </a:solidFill>
                <a:latin typeface="Cambria"/>
                <a:cs typeface="Cambria"/>
              </a:rPr>
              <a:t>of</a:t>
            </a:r>
            <a:r>
              <a:rPr sz="1800" b="1" spc="-10"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20" dirty="0">
                <a:solidFill>
                  <a:srgbClr val="4F81BC"/>
                </a:solidFill>
                <a:latin typeface="Cambria"/>
                <a:cs typeface="Cambria"/>
              </a:rPr>
              <a:t> </a:t>
            </a:r>
            <a:r>
              <a:rPr sz="1800" b="1" spc="-25" dirty="0">
                <a:solidFill>
                  <a:srgbClr val="0C0C0C"/>
                </a:solidFill>
                <a:latin typeface="Cambria"/>
                <a:cs typeface="Cambria"/>
              </a:rPr>
              <a:t>CSG </a:t>
            </a:r>
            <a:r>
              <a:rPr sz="1800" b="1" dirty="0">
                <a:solidFill>
                  <a:srgbClr val="4F81BC"/>
                </a:solidFill>
                <a:latin typeface="Cambria"/>
                <a:cs typeface="Cambria"/>
              </a:rPr>
              <a:t>Name</a:t>
            </a:r>
            <a:r>
              <a:rPr sz="1800" b="1" spc="-20" dirty="0">
                <a:solidFill>
                  <a:srgbClr val="4F81BC"/>
                </a:solidFill>
                <a:latin typeface="Cambria"/>
                <a:cs typeface="Cambria"/>
              </a:rPr>
              <a:t> </a:t>
            </a:r>
            <a:r>
              <a:rPr sz="1800" b="1" dirty="0">
                <a:solidFill>
                  <a:srgbClr val="4F81BC"/>
                </a:solidFill>
                <a:latin typeface="Cambria"/>
                <a:cs typeface="Cambria"/>
              </a:rPr>
              <a:t>of the</a:t>
            </a:r>
            <a:r>
              <a:rPr sz="1800" b="1" spc="-20" dirty="0">
                <a:solidFill>
                  <a:srgbClr val="4F81BC"/>
                </a:solidFill>
                <a:latin typeface="Cambria"/>
                <a:cs typeface="Cambria"/>
              </a:rPr>
              <a:t> </a:t>
            </a:r>
            <a:r>
              <a:rPr sz="1800" b="1" dirty="0">
                <a:solidFill>
                  <a:srgbClr val="4F81BC"/>
                </a:solidFill>
                <a:latin typeface="Cambria"/>
                <a:cs typeface="Cambria"/>
              </a:rPr>
              <a:t>HoD:</a:t>
            </a:r>
            <a:r>
              <a:rPr sz="1800" b="1" spc="-5" dirty="0">
                <a:solidFill>
                  <a:srgbClr val="4F81BC"/>
                </a:solidFill>
                <a:latin typeface="Cambria"/>
                <a:cs typeface="Cambria"/>
              </a:rPr>
              <a:t> </a:t>
            </a:r>
            <a:r>
              <a:rPr sz="1800" b="1" dirty="0">
                <a:latin typeface="Cambria"/>
                <a:cs typeface="Cambria"/>
              </a:rPr>
              <a:t>Dr</a:t>
            </a:r>
            <a:r>
              <a:rPr sz="1800" b="1" spc="-25" dirty="0">
                <a:latin typeface="Cambria"/>
                <a:cs typeface="Cambria"/>
              </a:rPr>
              <a:t> </a:t>
            </a:r>
            <a:r>
              <a:rPr sz="1800" b="1" dirty="0">
                <a:latin typeface="Cambria"/>
                <a:cs typeface="Cambria"/>
              </a:rPr>
              <a:t>.</a:t>
            </a:r>
            <a:r>
              <a:rPr sz="1800" b="1" spc="-10" dirty="0">
                <a:latin typeface="Cambria"/>
                <a:cs typeface="Cambria"/>
              </a:rPr>
              <a:t> Pallavi</a:t>
            </a:r>
            <a:endParaRPr sz="1800" dirty="0">
              <a:latin typeface="Cambria"/>
              <a:cs typeface="Cambria"/>
            </a:endParaRPr>
          </a:p>
          <a:p>
            <a:pPr marL="12700">
              <a:lnSpc>
                <a:spcPct val="100000"/>
              </a:lnSpc>
            </a:pPr>
            <a:r>
              <a:rPr sz="1800" b="1" dirty="0">
                <a:solidFill>
                  <a:srgbClr val="4F81BC"/>
                </a:solidFill>
                <a:latin typeface="Cambria"/>
                <a:cs typeface="Cambria"/>
              </a:rPr>
              <a:t>Name</a:t>
            </a:r>
            <a:r>
              <a:rPr sz="1800" b="1" spc="-40"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Program</a:t>
            </a:r>
            <a:r>
              <a:rPr sz="1800" b="1" spc="-35" dirty="0">
                <a:solidFill>
                  <a:srgbClr val="4F81BC"/>
                </a:solidFill>
                <a:latin typeface="Cambria"/>
                <a:cs typeface="Cambria"/>
              </a:rPr>
              <a:t> </a:t>
            </a:r>
            <a:r>
              <a:rPr sz="1800" b="1" dirty="0">
                <a:solidFill>
                  <a:srgbClr val="4F81BC"/>
                </a:solidFill>
                <a:latin typeface="Cambria"/>
                <a:cs typeface="Cambria"/>
              </a:rPr>
              <a:t>Project</a:t>
            </a:r>
            <a:r>
              <a:rPr sz="1800" b="1" spc="-20" dirty="0">
                <a:solidFill>
                  <a:srgbClr val="4F81BC"/>
                </a:solidFill>
                <a:latin typeface="Cambria"/>
                <a:cs typeface="Cambria"/>
              </a:rPr>
              <a:t> </a:t>
            </a:r>
            <a:r>
              <a:rPr sz="1800" b="1" dirty="0">
                <a:solidFill>
                  <a:srgbClr val="4F81BC"/>
                </a:solidFill>
                <a:latin typeface="Cambria"/>
                <a:cs typeface="Cambria"/>
              </a:rPr>
              <a:t>Coordinator:</a:t>
            </a:r>
            <a:r>
              <a:rPr sz="1800" b="1" spc="-15" dirty="0">
                <a:solidFill>
                  <a:srgbClr val="4F81BC"/>
                </a:solidFill>
                <a:latin typeface="Cambria"/>
                <a:cs typeface="Cambria"/>
              </a:rPr>
              <a:t> </a:t>
            </a:r>
            <a:r>
              <a:rPr sz="1800" b="1" dirty="0">
                <a:latin typeface="Cambria"/>
                <a:cs typeface="Cambria"/>
              </a:rPr>
              <a:t>Ms</a:t>
            </a:r>
            <a:r>
              <a:rPr sz="1800" b="1" spc="-30" dirty="0">
                <a:latin typeface="Cambria"/>
                <a:cs typeface="Cambria"/>
              </a:rPr>
              <a:t> </a:t>
            </a:r>
            <a:r>
              <a:rPr sz="1800" b="1" dirty="0">
                <a:latin typeface="Cambria"/>
                <a:cs typeface="Cambria"/>
              </a:rPr>
              <a:t>Benitha</a:t>
            </a:r>
            <a:r>
              <a:rPr sz="1800" b="1" spc="-45" dirty="0">
                <a:latin typeface="Cambria"/>
                <a:cs typeface="Cambria"/>
              </a:rPr>
              <a:t> </a:t>
            </a:r>
            <a:r>
              <a:rPr sz="1800" b="1" dirty="0">
                <a:latin typeface="Cambria"/>
                <a:cs typeface="Cambria"/>
              </a:rPr>
              <a:t>Christinal</a:t>
            </a:r>
            <a:r>
              <a:rPr sz="1800" b="1" spc="-50" dirty="0">
                <a:latin typeface="Cambria"/>
                <a:cs typeface="Cambria"/>
              </a:rPr>
              <a:t> J</a:t>
            </a:r>
            <a:endParaRPr sz="1800" dirty="0">
              <a:latin typeface="Cambria"/>
              <a:cs typeface="Cambria"/>
            </a:endParaRPr>
          </a:p>
          <a:p>
            <a:pPr marL="12700">
              <a:lnSpc>
                <a:spcPct val="100000"/>
              </a:lnSpc>
              <a:spcBef>
                <a:spcPts val="5"/>
              </a:spcBef>
            </a:pPr>
            <a:r>
              <a:rPr sz="1800" b="1" dirty="0">
                <a:solidFill>
                  <a:srgbClr val="4F81BC"/>
                </a:solidFill>
                <a:latin typeface="Cambria"/>
                <a:cs typeface="Cambria"/>
              </a:rPr>
              <a:t>Name</a:t>
            </a:r>
            <a:r>
              <a:rPr sz="1800" b="1" spc="-35"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30" dirty="0">
                <a:solidFill>
                  <a:srgbClr val="4F81BC"/>
                </a:solidFill>
                <a:latin typeface="Cambria"/>
                <a:cs typeface="Cambria"/>
              </a:rPr>
              <a:t> </a:t>
            </a:r>
            <a:r>
              <a:rPr sz="1800" b="1" dirty="0">
                <a:solidFill>
                  <a:srgbClr val="4F81BC"/>
                </a:solidFill>
                <a:latin typeface="Cambria"/>
                <a:cs typeface="Cambria"/>
              </a:rPr>
              <a:t>School</a:t>
            </a:r>
            <a:r>
              <a:rPr sz="1800" b="1" spc="-10" dirty="0">
                <a:solidFill>
                  <a:srgbClr val="4F81BC"/>
                </a:solidFill>
                <a:latin typeface="Cambria"/>
                <a:cs typeface="Cambria"/>
              </a:rPr>
              <a:t> </a:t>
            </a:r>
            <a:r>
              <a:rPr sz="1800" b="1" dirty="0">
                <a:solidFill>
                  <a:srgbClr val="4F81BC"/>
                </a:solidFill>
                <a:latin typeface="Cambria"/>
                <a:cs typeface="Cambria"/>
              </a:rPr>
              <a:t>Project</a:t>
            </a:r>
            <a:r>
              <a:rPr sz="1800" b="1" spc="-20" dirty="0">
                <a:solidFill>
                  <a:srgbClr val="4F81BC"/>
                </a:solidFill>
                <a:latin typeface="Cambria"/>
                <a:cs typeface="Cambria"/>
              </a:rPr>
              <a:t> </a:t>
            </a:r>
            <a:r>
              <a:rPr sz="1800" b="1" dirty="0">
                <a:solidFill>
                  <a:srgbClr val="4F81BC"/>
                </a:solidFill>
                <a:latin typeface="Cambria"/>
                <a:cs typeface="Cambria"/>
              </a:rPr>
              <a:t>Coordinators:</a:t>
            </a:r>
            <a:r>
              <a:rPr sz="1800" b="1" spc="-15" dirty="0">
                <a:solidFill>
                  <a:srgbClr val="4F81BC"/>
                </a:solidFill>
                <a:latin typeface="Cambria"/>
                <a:cs typeface="Cambria"/>
              </a:rPr>
              <a:t> </a:t>
            </a:r>
            <a:r>
              <a:rPr sz="1800" b="1" dirty="0">
                <a:latin typeface="Cambria"/>
                <a:cs typeface="Cambria"/>
              </a:rPr>
              <a:t>Dr.</a:t>
            </a:r>
            <a:r>
              <a:rPr sz="1800" b="1" spc="-35" dirty="0">
                <a:latin typeface="Cambria"/>
                <a:cs typeface="Cambria"/>
              </a:rPr>
              <a:t> </a:t>
            </a:r>
            <a:r>
              <a:rPr sz="1800" b="1" dirty="0">
                <a:latin typeface="Cambria"/>
                <a:cs typeface="Cambria"/>
              </a:rPr>
              <a:t>Sampath</a:t>
            </a:r>
            <a:r>
              <a:rPr sz="1800" b="1" spc="-20" dirty="0">
                <a:latin typeface="Cambria"/>
                <a:cs typeface="Cambria"/>
              </a:rPr>
              <a:t> </a:t>
            </a:r>
            <a:r>
              <a:rPr sz="1800" b="1" dirty="0">
                <a:latin typeface="Cambria"/>
                <a:cs typeface="Cambria"/>
              </a:rPr>
              <a:t>A</a:t>
            </a:r>
            <a:r>
              <a:rPr sz="1800" b="1" spc="-30" dirty="0">
                <a:latin typeface="Cambria"/>
                <a:cs typeface="Cambria"/>
              </a:rPr>
              <a:t> </a:t>
            </a:r>
            <a:r>
              <a:rPr sz="1800" b="1" dirty="0">
                <a:latin typeface="Cambria"/>
                <a:cs typeface="Cambria"/>
              </a:rPr>
              <a:t>K</a:t>
            </a:r>
            <a:r>
              <a:rPr sz="1800" b="1" spc="-25" dirty="0">
                <a:latin typeface="Cambria"/>
                <a:cs typeface="Cambria"/>
              </a:rPr>
              <a:t> </a:t>
            </a:r>
            <a:r>
              <a:rPr sz="1800" b="1" dirty="0">
                <a:latin typeface="Cambria"/>
                <a:cs typeface="Cambria"/>
              </a:rPr>
              <a:t>,</a:t>
            </a:r>
            <a:r>
              <a:rPr sz="1800" b="1" spc="-25" dirty="0">
                <a:latin typeface="Cambria"/>
                <a:cs typeface="Cambria"/>
              </a:rPr>
              <a:t> </a:t>
            </a:r>
            <a:r>
              <a:rPr sz="1800" b="1" dirty="0">
                <a:latin typeface="Cambria"/>
                <a:cs typeface="Cambria"/>
              </a:rPr>
              <a:t>Dr.</a:t>
            </a:r>
            <a:r>
              <a:rPr sz="1800" b="1" spc="-35" dirty="0">
                <a:latin typeface="Cambria"/>
                <a:cs typeface="Cambria"/>
              </a:rPr>
              <a:t> </a:t>
            </a:r>
            <a:r>
              <a:rPr sz="1800" b="1" dirty="0">
                <a:latin typeface="Cambria"/>
                <a:cs typeface="Cambria"/>
              </a:rPr>
              <a:t>Geetha</a:t>
            </a:r>
            <a:r>
              <a:rPr sz="1800" b="1" spc="-50" dirty="0">
                <a:latin typeface="Cambria"/>
                <a:cs typeface="Cambria"/>
              </a:rPr>
              <a:t> A</a:t>
            </a:r>
            <a:endParaRPr sz="1800" dirty="0">
              <a:latin typeface="Cambria"/>
              <a:cs typeface="Cambria"/>
            </a:endParaRPr>
          </a:p>
        </p:txBody>
      </p:sp>
      <p:sp>
        <p:nvSpPr>
          <p:cNvPr id="5" name="object 5"/>
          <p:cNvSpPr txBox="1"/>
          <p:nvPr/>
        </p:nvSpPr>
        <p:spPr>
          <a:xfrm>
            <a:off x="4575809" y="125348"/>
            <a:ext cx="2849245" cy="617990"/>
          </a:xfrm>
          <a:prstGeom prst="rect">
            <a:avLst/>
          </a:prstGeom>
        </p:spPr>
        <p:txBody>
          <a:bodyPr vert="horz" wrap="square" lIns="0" tIns="12700" rIns="0" bIns="0" rtlCol="0">
            <a:spAutoFit/>
          </a:bodyPr>
          <a:lstStyle/>
          <a:p>
            <a:pPr marL="932815" marR="5080" indent="-920750">
              <a:lnSpc>
                <a:spcPct val="113900"/>
              </a:lnSpc>
              <a:spcBef>
                <a:spcPts val="100"/>
              </a:spcBef>
            </a:pPr>
            <a:r>
              <a:rPr sz="1800" b="1" dirty="0">
                <a:solidFill>
                  <a:srgbClr val="17365D"/>
                </a:solidFill>
                <a:latin typeface="Cambria"/>
                <a:cs typeface="Cambria"/>
              </a:rPr>
              <a:t>CSE7</a:t>
            </a:r>
            <a:r>
              <a:rPr lang="en-US" sz="1800" b="1" dirty="0">
                <a:solidFill>
                  <a:srgbClr val="17365D"/>
                </a:solidFill>
                <a:latin typeface="Cambria"/>
                <a:cs typeface="Cambria"/>
              </a:rPr>
              <a:t>302</a:t>
            </a:r>
            <a:r>
              <a:rPr sz="1800" b="1" dirty="0">
                <a:solidFill>
                  <a:srgbClr val="17365D"/>
                </a:solidFill>
                <a:latin typeface="Cambria"/>
                <a:cs typeface="Cambria"/>
              </a:rPr>
              <a:t>-</a:t>
            </a:r>
            <a:r>
              <a:rPr sz="1800" b="1" spc="-75" dirty="0">
                <a:solidFill>
                  <a:srgbClr val="17365D"/>
                </a:solidFill>
                <a:latin typeface="Cambria"/>
                <a:cs typeface="Cambria"/>
              </a:rPr>
              <a:t> </a:t>
            </a:r>
            <a:r>
              <a:rPr sz="1800" b="1" dirty="0">
                <a:solidFill>
                  <a:srgbClr val="17365D"/>
                </a:solidFill>
                <a:latin typeface="Cambria"/>
                <a:cs typeface="Cambria"/>
              </a:rPr>
              <a:t>Capstone</a:t>
            </a:r>
            <a:r>
              <a:rPr sz="1800" b="1" spc="-75" dirty="0">
                <a:solidFill>
                  <a:srgbClr val="17365D"/>
                </a:solidFill>
                <a:latin typeface="Cambria"/>
                <a:cs typeface="Cambria"/>
              </a:rPr>
              <a:t> </a:t>
            </a:r>
            <a:r>
              <a:rPr sz="1800" b="1" spc="-10" dirty="0">
                <a:solidFill>
                  <a:srgbClr val="17365D"/>
                </a:solidFill>
                <a:latin typeface="Cambria"/>
                <a:cs typeface="Cambria"/>
              </a:rPr>
              <a:t>Project Review-</a:t>
            </a:r>
            <a:r>
              <a:rPr lang="en-US" b="1" spc="-50" dirty="0">
                <a:solidFill>
                  <a:srgbClr val="17365D"/>
                </a:solidFill>
                <a:latin typeface="Cambria"/>
                <a:cs typeface="Cambria"/>
              </a:rPr>
              <a:t>1</a:t>
            </a:r>
            <a:endParaRPr sz="1800" dirty="0">
              <a:latin typeface="Cambria"/>
              <a:cs typeface="Cambria"/>
            </a:endParaRPr>
          </a:p>
        </p:txBody>
      </p:sp>
      <p:sp>
        <p:nvSpPr>
          <p:cNvPr id="6" name="TextBox 5">
            <a:extLst>
              <a:ext uri="{FF2B5EF4-FFF2-40B4-BE49-F238E27FC236}">
                <a16:creationId xmlns:a16="http://schemas.microsoft.com/office/drawing/2014/main" id="{FA65F8E7-A11A-C01C-E086-1286D77633ED}"/>
              </a:ext>
            </a:extLst>
          </p:cNvPr>
          <p:cNvSpPr txBox="1"/>
          <p:nvPr/>
        </p:nvSpPr>
        <p:spPr>
          <a:xfrm>
            <a:off x="631951" y="3109054"/>
            <a:ext cx="5311649" cy="1200329"/>
          </a:xfrm>
          <a:prstGeom prst="rect">
            <a:avLst/>
          </a:prstGeom>
          <a:solidFill>
            <a:schemeClr val="bg1"/>
          </a:solidFill>
        </p:spPr>
        <p:txBody>
          <a:bodyPr wrap="square" rtlCol="0">
            <a:spAutoFit/>
          </a:bodyPr>
          <a:lstStyle/>
          <a:p>
            <a:r>
              <a:rPr lang="en-US" dirty="0"/>
              <a:t>20221CSG0020                 S Mohammed Affan   </a:t>
            </a:r>
          </a:p>
          <a:p>
            <a:r>
              <a:rPr lang="en-US" dirty="0"/>
              <a:t>20221CSG0059                 Karthik Mp</a:t>
            </a:r>
          </a:p>
          <a:p>
            <a:r>
              <a:rPr lang="en-US" dirty="0"/>
              <a:t>20221CSG0092                 Chaithra C</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641" y="283210"/>
            <a:ext cx="7863205" cy="443070"/>
          </a:xfrm>
          <a:prstGeom prst="rect">
            <a:avLst/>
          </a:prstGeom>
        </p:spPr>
        <p:txBody>
          <a:bodyPr vert="horz" wrap="square" lIns="0" tIns="12065" rIns="0" bIns="0" rtlCol="0">
            <a:spAutoFit/>
          </a:bodyPr>
          <a:lstStyle/>
          <a:p>
            <a:pPr marL="12700">
              <a:lnSpc>
                <a:spcPct val="100000"/>
              </a:lnSpc>
              <a:spcBef>
                <a:spcPts val="95"/>
              </a:spcBef>
            </a:pPr>
            <a:r>
              <a:rPr dirty="0"/>
              <a:t>Problem</a:t>
            </a:r>
            <a:r>
              <a:rPr spc="-114" dirty="0"/>
              <a:t> </a:t>
            </a:r>
            <a:r>
              <a:rPr spc="-10" dirty="0"/>
              <a:t>Statement</a:t>
            </a:r>
            <a:r>
              <a:rPr spc="-85" dirty="0"/>
              <a:t> </a:t>
            </a:r>
            <a:r>
              <a:rPr dirty="0"/>
              <a:t>Number:</a:t>
            </a:r>
            <a:r>
              <a:rPr spc="-90" dirty="0"/>
              <a:t> </a:t>
            </a:r>
            <a:r>
              <a:rPr spc="-10" dirty="0"/>
              <a:t>PSCS_</a:t>
            </a:r>
            <a:r>
              <a:rPr lang="en-US" spc="-10" dirty="0"/>
              <a:t>049</a:t>
            </a:r>
            <a:endParaRPr spc="-10" dirty="0"/>
          </a:p>
        </p:txBody>
      </p:sp>
      <p:sp>
        <p:nvSpPr>
          <p:cNvPr id="3" name="object 3"/>
          <p:cNvSpPr txBox="1"/>
          <p:nvPr/>
        </p:nvSpPr>
        <p:spPr>
          <a:xfrm>
            <a:off x="1106830" y="1036066"/>
            <a:ext cx="10299065" cy="4349909"/>
          </a:xfrm>
          <a:prstGeom prst="rect">
            <a:avLst/>
          </a:prstGeom>
        </p:spPr>
        <p:txBody>
          <a:bodyPr vert="horz" wrap="square" lIns="0" tIns="53340" rIns="0" bIns="0" rtlCol="0">
            <a:spAutoFit/>
          </a:bodyPr>
          <a:lstStyle/>
          <a:p>
            <a:pPr marL="12700" algn="just">
              <a:lnSpc>
                <a:spcPct val="100000"/>
              </a:lnSpc>
              <a:spcBef>
                <a:spcPts val="420"/>
              </a:spcBef>
            </a:pPr>
            <a:r>
              <a:rPr sz="1800" b="1" dirty="0">
                <a:latin typeface="Cambria"/>
                <a:cs typeface="Cambria"/>
              </a:rPr>
              <a:t>Organization:</a:t>
            </a:r>
            <a:r>
              <a:rPr sz="1800" b="1" spc="-40" dirty="0">
                <a:latin typeface="Cambria"/>
                <a:cs typeface="Cambria"/>
              </a:rPr>
              <a:t> </a:t>
            </a:r>
            <a:r>
              <a:rPr lang="en-IN" dirty="0"/>
              <a:t>Government of Odisha</a:t>
            </a:r>
          </a:p>
          <a:p>
            <a:pPr marL="12700" algn="just">
              <a:lnSpc>
                <a:spcPct val="100000"/>
              </a:lnSpc>
              <a:spcBef>
                <a:spcPts val="420"/>
              </a:spcBef>
            </a:pPr>
            <a:r>
              <a:rPr sz="1800" b="1" dirty="0">
                <a:latin typeface="Cambria"/>
                <a:cs typeface="Cambria"/>
              </a:rPr>
              <a:t>Category</a:t>
            </a:r>
            <a:r>
              <a:rPr sz="1800" b="1" spc="-15" dirty="0">
                <a:latin typeface="Cambria"/>
                <a:cs typeface="Cambria"/>
              </a:rPr>
              <a:t> </a:t>
            </a:r>
            <a:r>
              <a:rPr sz="1800" b="1" dirty="0">
                <a:latin typeface="Cambria"/>
                <a:cs typeface="Cambria"/>
              </a:rPr>
              <a:t>(Hardware</a:t>
            </a:r>
            <a:r>
              <a:rPr sz="1800" b="1" spc="-30" dirty="0">
                <a:latin typeface="Cambria"/>
                <a:cs typeface="Cambria"/>
              </a:rPr>
              <a:t> </a:t>
            </a:r>
            <a:r>
              <a:rPr sz="1800" b="1" dirty="0">
                <a:latin typeface="Cambria"/>
                <a:cs typeface="Cambria"/>
              </a:rPr>
              <a:t>/</a:t>
            </a:r>
            <a:r>
              <a:rPr sz="1800" b="1" spc="-5" dirty="0">
                <a:latin typeface="Cambria"/>
                <a:cs typeface="Cambria"/>
              </a:rPr>
              <a:t> </a:t>
            </a:r>
            <a:r>
              <a:rPr sz="1800" b="1" dirty="0">
                <a:latin typeface="Cambria"/>
                <a:cs typeface="Cambria"/>
              </a:rPr>
              <a:t>Software</a:t>
            </a:r>
            <a:r>
              <a:rPr sz="1800" b="1" spc="-15" dirty="0">
                <a:latin typeface="Cambria"/>
                <a:cs typeface="Cambria"/>
              </a:rPr>
              <a:t> </a:t>
            </a:r>
            <a:r>
              <a:rPr sz="1800" b="1" dirty="0">
                <a:latin typeface="Cambria"/>
                <a:cs typeface="Cambria"/>
              </a:rPr>
              <a:t>/</a:t>
            </a:r>
            <a:r>
              <a:rPr sz="1800" b="1" spc="-15" dirty="0">
                <a:latin typeface="Cambria"/>
                <a:cs typeface="Cambria"/>
              </a:rPr>
              <a:t> </a:t>
            </a:r>
            <a:r>
              <a:rPr sz="1800" b="1" dirty="0">
                <a:latin typeface="Cambria"/>
                <a:cs typeface="Cambria"/>
              </a:rPr>
              <a:t>Both)</a:t>
            </a:r>
            <a:r>
              <a:rPr sz="1800" b="1" spc="-5" dirty="0">
                <a:latin typeface="Cambria"/>
                <a:cs typeface="Cambria"/>
              </a:rPr>
              <a:t> </a:t>
            </a:r>
            <a:r>
              <a:rPr sz="1800" b="1" dirty="0">
                <a:latin typeface="Cambria"/>
                <a:cs typeface="Cambria"/>
              </a:rPr>
              <a:t>:</a:t>
            </a:r>
            <a:r>
              <a:rPr sz="1800" b="1" spc="-15" dirty="0">
                <a:latin typeface="Cambria"/>
                <a:cs typeface="Cambria"/>
              </a:rPr>
              <a:t> </a:t>
            </a:r>
            <a:r>
              <a:rPr lang="en-IN" dirty="0"/>
              <a:t>Software</a:t>
            </a:r>
            <a:endParaRPr sz="1800" dirty="0">
              <a:latin typeface="Cambria"/>
              <a:cs typeface="Cambria"/>
            </a:endParaRPr>
          </a:p>
          <a:p>
            <a:pPr>
              <a:lnSpc>
                <a:spcPct val="100000"/>
              </a:lnSpc>
              <a:spcBef>
                <a:spcPts val="700"/>
              </a:spcBef>
            </a:pPr>
            <a:endParaRPr sz="1800" dirty="0">
              <a:latin typeface="Cambria"/>
              <a:cs typeface="Cambria"/>
            </a:endParaRPr>
          </a:p>
          <a:p>
            <a:pPr marL="12700" algn="just">
              <a:lnSpc>
                <a:spcPct val="100000"/>
              </a:lnSpc>
            </a:pPr>
            <a:r>
              <a:rPr sz="1800" b="1" dirty="0">
                <a:latin typeface="Cambria"/>
                <a:cs typeface="Cambria"/>
              </a:rPr>
              <a:t>Problem</a:t>
            </a:r>
            <a:r>
              <a:rPr sz="1800" b="1" spc="-55" dirty="0">
                <a:latin typeface="Cambria"/>
                <a:cs typeface="Cambria"/>
              </a:rPr>
              <a:t> </a:t>
            </a:r>
            <a:r>
              <a:rPr sz="1800" b="1" spc="-10" dirty="0">
                <a:latin typeface="Cambria"/>
                <a:cs typeface="Cambria"/>
              </a:rPr>
              <a:t>Description:</a:t>
            </a:r>
            <a:endParaRPr lang="en-US" sz="1800" b="1" spc="-10" dirty="0">
              <a:latin typeface="Cambria"/>
              <a:cs typeface="Cambria"/>
            </a:endParaRPr>
          </a:p>
          <a:p>
            <a:pPr marL="12700" algn="just">
              <a:lnSpc>
                <a:spcPct val="100000"/>
              </a:lnSpc>
            </a:pPr>
            <a:endParaRPr sz="1800" dirty="0">
              <a:latin typeface="Cambria"/>
              <a:cs typeface="Cambria"/>
            </a:endParaRPr>
          </a:p>
          <a:p>
            <a:r>
              <a:rPr lang="en-US" dirty="0"/>
              <a:t>This project proposes the design and development of an AI-powered public health chatbot aimed at educating rural and semi-urban populations about preventive healthcare, common disease symptoms, and vaccination schedules. The chatbot will be accessible via WhatsApp and SMS, ensuring inclusivity for users with limited smartphone or internet access.</a:t>
            </a:r>
          </a:p>
          <a:p>
            <a:endParaRPr lang="en-US" dirty="0"/>
          </a:p>
          <a:p>
            <a:r>
              <a:rPr lang="en-US" dirty="0"/>
              <a:t>The system integrates Natural Language Processing (NLP) techniques with government health databases to deliver accurate, verified, and real-time health information. It also supports outbreak alert notifications at the district or regional level to enable early awareness and preventive action. The solution is designed to be scalable, privacy-aware, and aligned with public health goals of the Government of Odisha.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Content</a:t>
            </a:r>
          </a:p>
        </p:txBody>
      </p:sp>
      <p:sp>
        <p:nvSpPr>
          <p:cNvPr id="3" name="object 3"/>
          <p:cNvSpPr txBox="1"/>
          <p:nvPr/>
        </p:nvSpPr>
        <p:spPr>
          <a:xfrm>
            <a:off x="810869" y="1336634"/>
            <a:ext cx="6297930" cy="4519930"/>
          </a:xfrm>
          <a:prstGeom prst="rect">
            <a:avLst/>
          </a:prstGeom>
        </p:spPr>
        <p:txBody>
          <a:bodyPr vert="horz" wrap="square" lIns="0" tIns="141605" rIns="0" bIns="0" rtlCol="0">
            <a:spAutoFit/>
          </a:bodyPr>
          <a:lstStyle/>
          <a:p>
            <a:pPr marL="393065" indent="-380365">
              <a:lnSpc>
                <a:spcPct val="100000"/>
              </a:lnSpc>
              <a:spcBef>
                <a:spcPts val="1115"/>
              </a:spcBef>
              <a:buSzPct val="109090"/>
              <a:buChar char="•"/>
              <a:tabLst>
                <a:tab pos="393065" algn="l"/>
              </a:tabLst>
            </a:pPr>
            <a:r>
              <a:rPr sz="2200" dirty="0">
                <a:latin typeface="Arial MT"/>
                <a:cs typeface="Arial MT"/>
              </a:rPr>
              <a:t>Problem</a:t>
            </a:r>
            <a:r>
              <a:rPr sz="2200" spc="-90" dirty="0">
                <a:latin typeface="Arial MT"/>
                <a:cs typeface="Arial MT"/>
              </a:rPr>
              <a:t> </a:t>
            </a:r>
            <a:r>
              <a:rPr sz="2200" spc="-10" dirty="0">
                <a:latin typeface="Arial MT"/>
                <a:cs typeface="Arial MT"/>
              </a:rPr>
              <a:t>Statement</a:t>
            </a:r>
            <a:endParaRPr sz="2200" dirty="0">
              <a:latin typeface="Arial MT"/>
              <a:cs typeface="Arial MT"/>
            </a:endParaRPr>
          </a:p>
          <a:p>
            <a:pPr marL="393065" indent="-380365">
              <a:lnSpc>
                <a:spcPct val="100000"/>
              </a:lnSpc>
              <a:spcBef>
                <a:spcPts val="1320"/>
              </a:spcBef>
              <a:buSzPct val="109090"/>
              <a:buChar char="•"/>
              <a:tabLst>
                <a:tab pos="393065" algn="l"/>
              </a:tabLst>
            </a:pPr>
            <a:r>
              <a:rPr sz="2200" spc="-10" dirty="0">
                <a:latin typeface="Arial MT"/>
                <a:cs typeface="Arial MT"/>
              </a:rPr>
              <a:t>Objectives</a:t>
            </a:r>
            <a:endParaRPr sz="2200" dirty="0">
              <a:latin typeface="Arial MT"/>
              <a:cs typeface="Arial MT"/>
            </a:endParaRPr>
          </a:p>
          <a:p>
            <a:pPr marL="393065" indent="-380365">
              <a:lnSpc>
                <a:spcPct val="100000"/>
              </a:lnSpc>
              <a:spcBef>
                <a:spcPts val="1325"/>
              </a:spcBef>
              <a:buSzPct val="109090"/>
              <a:buChar char="•"/>
              <a:tabLst>
                <a:tab pos="393065" algn="l"/>
              </a:tabLst>
            </a:pPr>
            <a:r>
              <a:rPr sz="2200" dirty="0">
                <a:latin typeface="Arial MT"/>
                <a:cs typeface="Arial MT"/>
              </a:rPr>
              <a:t>Background</a:t>
            </a:r>
            <a:r>
              <a:rPr sz="2200" spc="-50" dirty="0">
                <a:latin typeface="Arial MT"/>
                <a:cs typeface="Arial MT"/>
              </a:rPr>
              <a:t> </a:t>
            </a:r>
            <a:r>
              <a:rPr sz="2200" dirty="0">
                <a:latin typeface="Arial MT"/>
                <a:cs typeface="Arial MT"/>
              </a:rPr>
              <a:t>and</a:t>
            </a:r>
            <a:r>
              <a:rPr sz="2200" spc="-45" dirty="0">
                <a:latin typeface="Arial MT"/>
                <a:cs typeface="Arial MT"/>
              </a:rPr>
              <a:t> </a:t>
            </a:r>
            <a:r>
              <a:rPr sz="2200" dirty="0">
                <a:latin typeface="Arial MT"/>
                <a:cs typeface="Arial MT"/>
              </a:rPr>
              <a:t>Related</a:t>
            </a:r>
            <a:r>
              <a:rPr sz="2200" spc="-55" dirty="0">
                <a:latin typeface="Arial MT"/>
                <a:cs typeface="Arial MT"/>
              </a:rPr>
              <a:t> </a:t>
            </a:r>
            <a:r>
              <a:rPr sz="2200" dirty="0">
                <a:latin typeface="Arial MT"/>
                <a:cs typeface="Arial MT"/>
              </a:rPr>
              <a:t>work</a:t>
            </a:r>
            <a:r>
              <a:rPr sz="2200" spc="-50" dirty="0">
                <a:latin typeface="Arial MT"/>
                <a:cs typeface="Arial MT"/>
              </a:rPr>
              <a:t> </a:t>
            </a:r>
            <a:r>
              <a:rPr sz="2200" dirty="0">
                <a:latin typeface="Arial MT"/>
                <a:cs typeface="Arial MT"/>
              </a:rPr>
              <a:t>for</a:t>
            </a:r>
            <a:r>
              <a:rPr sz="2200" spc="-50" dirty="0">
                <a:latin typeface="Arial MT"/>
                <a:cs typeface="Arial MT"/>
              </a:rPr>
              <a:t> </a:t>
            </a:r>
            <a:r>
              <a:rPr sz="2200" dirty="0">
                <a:latin typeface="Arial MT"/>
                <a:cs typeface="Arial MT"/>
              </a:rPr>
              <a:t>title</a:t>
            </a:r>
            <a:r>
              <a:rPr sz="2200" spc="-65" dirty="0">
                <a:latin typeface="Arial MT"/>
                <a:cs typeface="Arial MT"/>
              </a:rPr>
              <a:t> </a:t>
            </a:r>
            <a:r>
              <a:rPr sz="2200" spc="-10" dirty="0">
                <a:latin typeface="Arial MT"/>
                <a:cs typeface="Arial MT"/>
              </a:rPr>
              <a:t>Selection</a:t>
            </a:r>
            <a:endParaRPr sz="2200" dirty="0">
              <a:latin typeface="Arial MT"/>
              <a:cs typeface="Arial MT"/>
            </a:endParaRPr>
          </a:p>
          <a:p>
            <a:pPr marL="393065" indent="-380365">
              <a:lnSpc>
                <a:spcPct val="100000"/>
              </a:lnSpc>
              <a:spcBef>
                <a:spcPts val="1320"/>
              </a:spcBef>
              <a:buSzPct val="109090"/>
              <a:buChar char="•"/>
              <a:tabLst>
                <a:tab pos="393065" algn="l"/>
              </a:tabLst>
            </a:pPr>
            <a:r>
              <a:rPr sz="2200" dirty="0">
                <a:latin typeface="Arial MT"/>
                <a:cs typeface="Arial MT"/>
              </a:rPr>
              <a:t>Analysis</a:t>
            </a:r>
            <a:r>
              <a:rPr sz="2200" spc="-70" dirty="0">
                <a:latin typeface="Arial MT"/>
                <a:cs typeface="Arial MT"/>
              </a:rPr>
              <a:t> </a:t>
            </a:r>
            <a:r>
              <a:rPr sz="2200" dirty="0">
                <a:latin typeface="Arial MT"/>
                <a:cs typeface="Arial MT"/>
              </a:rPr>
              <a:t>of</a:t>
            </a:r>
            <a:r>
              <a:rPr sz="2200" spc="-65" dirty="0">
                <a:latin typeface="Arial MT"/>
                <a:cs typeface="Arial MT"/>
              </a:rPr>
              <a:t> </a:t>
            </a:r>
            <a:r>
              <a:rPr sz="2200" dirty="0">
                <a:latin typeface="Arial MT"/>
                <a:cs typeface="Arial MT"/>
              </a:rPr>
              <a:t>Problem</a:t>
            </a:r>
            <a:r>
              <a:rPr sz="2200" spc="-50" dirty="0">
                <a:latin typeface="Arial MT"/>
                <a:cs typeface="Arial MT"/>
              </a:rPr>
              <a:t> </a:t>
            </a:r>
            <a:r>
              <a:rPr sz="2200" spc="-10" dirty="0">
                <a:latin typeface="Arial MT"/>
                <a:cs typeface="Arial MT"/>
              </a:rPr>
              <a:t>Statement</a:t>
            </a:r>
            <a:endParaRPr sz="2200" dirty="0">
              <a:latin typeface="Arial MT"/>
              <a:cs typeface="Arial MT"/>
            </a:endParaRPr>
          </a:p>
          <a:p>
            <a:pPr marL="393065" indent="-380365">
              <a:lnSpc>
                <a:spcPct val="100000"/>
              </a:lnSpc>
              <a:spcBef>
                <a:spcPts val="1320"/>
              </a:spcBef>
              <a:buSzPct val="109090"/>
              <a:buChar char="•"/>
              <a:tabLst>
                <a:tab pos="393065" algn="l"/>
              </a:tabLst>
            </a:pPr>
            <a:r>
              <a:rPr sz="2200" dirty="0">
                <a:latin typeface="Arial MT"/>
                <a:cs typeface="Arial MT"/>
              </a:rPr>
              <a:t>Proposed</a:t>
            </a:r>
            <a:r>
              <a:rPr sz="2200" spc="-95" dirty="0">
                <a:latin typeface="Arial MT"/>
                <a:cs typeface="Arial MT"/>
              </a:rPr>
              <a:t> </a:t>
            </a:r>
            <a:r>
              <a:rPr sz="2200" spc="-10" dirty="0">
                <a:latin typeface="Arial MT"/>
                <a:cs typeface="Arial MT"/>
              </a:rPr>
              <a:t>Methodology</a:t>
            </a:r>
            <a:endParaRPr sz="2200" dirty="0">
              <a:latin typeface="Arial MT"/>
              <a:cs typeface="Arial MT"/>
            </a:endParaRPr>
          </a:p>
          <a:p>
            <a:pPr marL="393065" indent="-380365">
              <a:lnSpc>
                <a:spcPct val="100000"/>
              </a:lnSpc>
              <a:spcBef>
                <a:spcPts val="1320"/>
              </a:spcBef>
              <a:buSzPct val="109090"/>
              <a:buChar char="•"/>
              <a:tabLst>
                <a:tab pos="393065" algn="l"/>
              </a:tabLst>
            </a:pPr>
            <a:r>
              <a:rPr sz="2200" dirty="0">
                <a:latin typeface="Arial MT"/>
                <a:cs typeface="Arial MT"/>
              </a:rPr>
              <a:t>Innovation</a:t>
            </a:r>
            <a:r>
              <a:rPr sz="2200" spc="-55" dirty="0">
                <a:latin typeface="Arial MT"/>
                <a:cs typeface="Arial MT"/>
              </a:rPr>
              <a:t> </a:t>
            </a:r>
            <a:r>
              <a:rPr sz="2200" dirty="0">
                <a:latin typeface="Arial MT"/>
                <a:cs typeface="Arial MT"/>
              </a:rPr>
              <a:t>or</a:t>
            </a:r>
            <a:r>
              <a:rPr sz="2200" spc="-65" dirty="0">
                <a:latin typeface="Arial MT"/>
                <a:cs typeface="Arial MT"/>
              </a:rPr>
              <a:t> </a:t>
            </a:r>
            <a:r>
              <a:rPr sz="2200" dirty="0">
                <a:latin typeface="Arial MT"/>
                <a:cs typeface="Arial MT"/>
              </a:rPr>
              <a:t>Novel</a:t>
            </a:r>
            <a:r>
              <a:rPr sz="2200" spc="-75" dirty="0">
                <a:latin typeface="Arial MT"/>
                <a:cs typeface="Arial MT"/>
              </a:rPr>
              <a:t> </a:t>
            </a:r>
            <a:r>
              <a:rPr sz="2200" spc="-10" dirty="0">
                <a:latin typeface="Arial MT"/>
                <a:cs typeface="Arial MT"/>
              </a:rPr>
              <a:t>Contributions</a:t>
            </a:r>
            <a:endParaRPr sz="2200" dirty="0">
              <a:latin typeface="Arial MT"/>
              <a:cs typeface="Arial MT"/>
            </a:endParaRPr>
          </a:p>
          <a:p>
            <a:pPr marL="393065" indent="-380365">
              <a:lnSpc>
                <a:spcPct val="100000"/>
              </a:lnSpc>
              <a:spcBef>
                <a:spcPts val="1320"/>
              </a:spcBef>
              <a:buSzPct val="109090"/>
              <a:buChar char="•"/>
              <a:tabLst>
                <a:tab pos="393065" algn="l"/>
              </a:tabLst>
            </a:pPr>
            <a:r>
              <a:rPr sz="2200" dirty="0">
                <a:latin typeface="Arial MT"/>
                <a:cs typeface="Arial MT"/>
              </a:rPr>
              <a:t>GitHub</a:t>
            </a:r>
            <a:r>
              <a:rPr sz="2200" spc="-75" dirty="0">
                <a:latin typeface="Arial MT"/>
                <a:cs typeface="Arial MT"/>
              </a:rPr>
              <a:t> </a:t>
            </a:r>
            <a:r>
              <a:rPr sz="2200" spc="-20" dirty="0">
                <a:latin typeface="Arial MT"/>
                <a:cs typeface="Arial MT"/>
              </a:rPr>
              <a:t>Link</a:t>
            </a:r>
            <a:endParaRPr sz="2200" dirty="0">
              <a:latin typeface="Arial MT"/>
              <a:cs typeface="Arial MT"/>
            </a:endParaRPr>
          </a:p>
          <a:p>
            <a:pPr marL="393065" indent="-380365">
              <a:lnSpc>
                <a:spcPct val="100000"/>
              </a:lnSpc>
              <a:spcBef>
                <a:spcPts val="1320"/>
              </a:spcBef>
              <a:buSzPct val="109090"/>
              <a:buChar char="•"/>
              <a:tabLst>
                <a:tab pos="393065" algn="l"/>
              </a:tabLst>
            </a:pPr>
            <a:r>
              <a:rPr sz="2200" dirty="0">
                <a:latin typeface="Arial MT"/>
                <a:cs typeface="Arial MT"/>
              </a:rPr>
              <a:t>Timeline</a:t>
            </a:r>
            <a:r>
              <a:rPr sz="2200" spc="-40" dirty="0">
                <a:latin typeface="Arial MT"/>
                <a:cs typeface="Arial MT"/>
              </a:rPr>
              <a:t> </a:t>
            </a:r>
            <a:r>
              <a:rPr sz="2200" dirty="0">
                <a:latin typeface="Arial MT"/>
                <a:cs typeface="Arial MT"/>
              </a:rPr>
              <a:t>of</a:t>
            </a:r>
            <a:r>
              <a:rPr sz="2200" spc="-55" dirty="0">
                <a:latin typeface="Arial MT"/>
                <a:cs typeface="Arial MT"/>
              </a:rPr>
              <a:t> </a:t>
            </a:r>
            <a:r>
              <a:rPr sz="2200" dirty="0">
                <a:latin typeface="Arial MT"/>
                <a:cs typeface="Arial MT"/>
              </a:rPr>
              <a:t>the</a:t>
            </a:r>
            <a:r>
              <a:rPr sz="2200" spc="-55" dirty="0">
                <a:latin typeface="Arial MT"/>
                <a:cs typeface="Arial MT"/>
              </a:rPr>
              <a:t> </a:t>
            </a:r>
            <a:r>
              <a:rPr sz="2200" spc="-10" dirty="0">
                <a:latin typeface="Arial MT"/>
                <a:cs typeface="Arial MT"/>
              </a:rPr>
              <a:t>Project</a:t>
            </a:r>
            <a:endParaRPr sz="2200" dirty="0">
              <a:latin typeface="Arial MT"/>
              <a:cs typeface="Arial MT"/>
            </a:endParaRPr>
          </a:p>
          <a:p>
            <a:pPr marL="393065" indent="-380365">
              <a:lnSpc>
                <a:spcPct val="100000"/>
              </a:lnSpc>
              <a:spcBef>
                <a:spcPts val="1325"/>
              </a:spcBef>
              <a:buSzPct val="109090"/>
              <a:buChar char="•"/>
              <a:tabLst>
                <a:tab pos="393065" algn="l"/>
              </a:tabLst>
            </a:pPr>
            <a:r>
              <a:rPr sz="2200" spc="-10" dirty="0">
                <a:latin typeface="Arial MT"/>
                <a:cs typeface="Arial MT"/>
              </a:rPr>
              <a:t>References</a:t>
            </a:r>
            <a:endParaRPr sz="2200" dirty="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2836" rIns="0" bIns="0" rtlCol="0">
            <a:spAutoFit/>
          </a:bodyPr>
          <a:lstStyle/>
          <a:p>
            <a:pPr marL="165100">
              <a:lnSpc>
                <a:spcPct val="100000"/>
              </a:lnSpc>
              <a:spcBef>
                <a:spcPts val="95"/>
              </a:spcBef>
            </a:pPr>
            <a:r>
              <a:rPr dirty="0"/>
              <a:t>Problem</a:t>
            </a:r>
            <a:r>
              <a:rPr spc="-114" dirty="0"/>
              <a:t> </a:t>
            </a:r>
            <a:r>
              <a:rPr spc="-10" dirty="0"/>
              <a:t>Statement</a:t>
            </a:r>
          </a:p>
        </p:txBody>
      </p:sp>
      <p:sp>
        <p:nvSpPr>
          <p:cNvPr id="3" name="object 3"/>
          <p:cNvSpPr txBox="1"/>
          <p:nvPr/>
        </p:nvSpPr>
        <p:spPr>
          <a:xfrm>
            <a:off x="838200" y="990600"/>
            <a:ext cx="10667999" cy="5288627"/>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US" b="1" dirty="0"/>
              <a:t>Limited Healthcare Awareness:</a:t>
            </a:r>
            <a:br>
              <a:rPr lang="en-US" dirty="0"/>
            </a:br>
            <a:r>
              <a:rPr lang="en-US" dirty="0"/>
              <a:t>Rural and semi-urban populations often lack access to accurate and timely information about preventive healthcare, disease symptoms, and vaccinations.</a:t>
            </a:r>
          </a:p>
          <a:p>
            <a:endParaRPr lang="en-US" dirty="0"/>
          </a:p>
          <a:p>
            <a:pPr marL="285750" indent="-285750">
              <a:buFont typeface="Arial" panose="020B0604020202020204" pitchFamily="34" charset="0"/>
              <a:buChar char="•"/>
            </a:pPr>
            <a:r>
              <a:rPr lang="en-US" b="1" dirty="0"/>
              <a:t>Accessibility Barriers:</a:t>
            </a:r>
            <a:br>
              <a:rPr lang="en-US" dirty="0"/>
            </a:br>
            <a:r>
              <a:rPr lang="en-US" dirty="0"/>
              <a:t>Most existing digital health platforms fail to operate on low-bandwidth channels like SMS, limiting reach and usability.</a:t>
            </a:r>
          </a:p>
          <a:p>
            <a:endParaRPr lang="en-US" dirty="0"/>
          </a:p>
          <a:p>
            <a:pPr marL="285750" indent="-285750">
              <a:buFont typeface="Arial" panose="020B0604020202020204" pitchFamily="34" charset="0"/>
              <a:buChar char="•"/>
            </a:pPr>
            <a:r>
              <a:rPr lang="en-US" b="1" dirty="0"/>
              <a:t>Misinformation &amp; Delayed Action:</a:t>
            </a:r>
            <a:br>
              <a:rPr lang="en-US" dirty="0"/>
            </a:br>
            <a:r>
              <a:rPr lang="en-US" dirty="0"/>
              <a:t>The spread of unverified health information leads to panic, improper self-medication, and delayed medical consultation.</a:t>
            </a:r>
          </a:p>
          <a:p>
            <a:endParaRPr lang="en-US" dirty="0"/>
          </a:p>
          <a:p>
            <a:pPr marL="285750" indent="-285750">
              <a:buFont typeface="Arial" panose="020B0604020202020204" pitchFamily="34" charset="0"/>
              <a:buChar char="•"/>
            </a:pPr>
            <a:r>
              <a:rPr lang="en-US" b="1" dirty="0"/>
              <a:t>Inefficient Outbreak Communication:</a:t>
            </a:r>
            <a:br>
              <a:rPr lang="en-US" dirty="0"/>
            </a:br>
            <a:r>
              <a:rPr lang="en-US" dirty="0"/>
              <a:t>Current systems do not provide real-time, localized alerts for disease outbreaks directly to citizens.</a:t>
            </a:r>
          </a:p>
          <a:p>
            <a:endParaRPr lang="en-US" dirty="0"/>
          </a:p>
          <a:p>
            <a:pPr marL="285750" indent="-285750">
              <a:buFont typeface="Arial" panose="020B0604020202020204" pitchFamily="34" charset="0"/>
              <a:buChar char="•"/>
            </a:pPr>
            <a:r>
              <a:rPr lang="en-US" b="1" dirty="0"/>
              <a:t>Unaddressed Gap:</a:t>
            </a:r>
            <a:br>
              <a:rPr lang="en-US" dirty="0"/>
            </a:br>
            <a:r>
              <a:rPr lang="en-US" dirty="0"/>
              <a:t>There is no unified AI-based system that can educate, alert, and guide citizens through commonly used platforms such as WhatsApp or SMS.</a:t>
            </a:r>
          </a:p>
          <a:p>
            <a:pPr marL="12065" marR="5080">
              <a:lnSpc>
                <a:spcPct val="100000"/>
              </a:lnSpc>
              <a:spcBef>
                <a:spcPts val="100"/>
              </a:spcBef>
              <a:tabLst>
                <a:tab pos="299085" algn="l"/>
              </a:tabLst>
            </a:pPr>
            <a:endParaRPr sz="1800" dirty="0">
              <a:latin typeface="Cambria"/>
              <a:cs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Objectives</a:t>
            </a:r>
          </a:p>
        </p:txBody>
      </p:sp>
      <p:sp>
        <p:nvSpPr>
          <p:cNvPr id="3" name="object 3"/>
          <p:cNvSpPr txBox="1"/>
          <p:nvPr/>
        </p:nvSpPr>
        <p:spPr>
          <a:xfrm>
            <a:off x="839470" y="990600"/>
            <a:ext cx="10513060" cy="3349635"/>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US" b="1" dirty="0"/>
              <a:t>Enable Preventive Healthcare Awareness:</a:t>
            </a:r>
            <a:br>
              <a:rPr lang="en-US" dirty="0"/>
            </a:br>
            <a:r>
              <a:rPr lang="en-US" dirty="0"/>
              <a:t>Educate users about disease symptoms, prevention methods, and when to seek medical help.</a:t>
            </a:r>
          </a:p>
          <a:p>
            <a:endParaRPr lang="en-US" dirty="0"/>
          </a:p>
          <a:p>
            <a:pPr marL="285750" indent="-285750">
              <a:buFont typeface="Arial" panose="020B0604020202020204" pitchFamily="34" charset="0"/>
              <a:buChar char="•"/>
            </a:pPr>
            <a:r>
              <a:rPr lang="en-US" b="1" dirty="0"/>
              <a:t>Vaccination Awareness &amp; Scheduling:</a:t>
            </a:r>
            <a:br>
              <a:rPr lang="en-US" dirty="0"/>
            </a:br>
            <a:r>
              <a:rPr lang="en-US" dirty="0"/>
              <a:t>Provide information on vaccination schedules for children, adults, and seasonal diseases.</a:t>
            </a:r>
          </a:p>
          <a:p>
            <a:endParaRPr lang="en-US" dirty="0"/>
          </a:p>
          <a:p>
            <a:pPr marL="285750" indent="-285750">
              <a:buFont typeface="Arial" panose="020B0604020202020204" pitchFamily="34" charset="0"/>
              <a:buChar char="•"/>
            </a:pPr>
            <a:r>
              <a:rPr lang="en-US" b="1" dirty="0"/>
              <a:t>Real-Time Outbreak Alerts:</a:t>
            </a:r>
            <a:br>
              <a:rPr lang="en-US" dirty="0"/>
            </a:br>
            <a:r>
              <a:rPr lang="en-US" dirty="0"/>
              <a:t>Integrate government health data to notify users about regional disease outbreaks.</a:t>
            </a:r>
          </a:p>
          <a:p>
            <a:endParaRPr lang="en-US" dirty="0"/>
          </a:p>
          <a:p>
            <a:pPr marL="285750" indent="-285750">
              <a:buFont typeface="Arial" panose="020B0604020202020204" pitchFamily="34" charset="0"/>
              <a:buChar char="•"/>
            </a:pPr>
            <a:r>
              <a:rPr lang="en-US" b="1" dirty="0"/>
              <a:t>Accessible Deployment:</a:t>
            </a:r>
            <a:br>
              <a:rPr lang="en-US" dirty="0"/>
            </a:br>
            <a:r>
              <a:rPr lang="en-US" dirty="0"/>
              <a:t>Deploy the chatbot on WhatsApp or SMS to ensure reach across varying levels of digital access.</a:t>
            </a:r>
          </a:p>
          <a:p>
            <a:pPr marL="297815" marR="8890" indent="-285750" algn="just">
              <a:lnSpc>
                <a:spcPct val="100000"/>
              </a:lnSpc>
              <a:spcBef>
                <a:spcPts val="100"/>
              </a:spcBef>
              <a:buFont typeface="Arial" panose="020B0604020202020204" pitchFamily="34" charset="0"/>
              <a:buChar char="•"/>
              <a:tabLst>
                <a:tab pos="299085" algn="l"/>
              </a:tabLst>
            </a:pPr>
            <a:endParaRPr sz="1800" dirty="0">
              <a:latin typeface="Cambria"/>
              <a:cs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Background</a:t>
            </a:r>
            <a:r>
              <a:rPr spc="-65" dirty="0"/>
              <a:t> </a:t>
            </a:r>
            <a:r>
              <a:rPr dirty="0"/>
              <a:t>and</a:t>
            </a:r>
            <a:r>
              <a:rPr spc="-65" dirty="0"/>
              <a:t> </a:t>
            </a:r>
            <a:r>
              <a:rPr dirty="0"/>
              <a:t>Related</a:t>
            </a:r>
            <a:r>
              <a:rPr spc="-75" dirty="0"/>
              <a:t> </a:t>
            </a:r>
            <a:r>
              <a:rPr dirty="0"/>
              <a:t>work</a:t>
            </a:r>
            <a:r>
              <a:rPr spc="-70" dirty="0"/>
              <a:t> </a:t>
            </a:r>
            <a:r>
              <a:rPr dirty="0"/>
              <a:t>for</a:t>
            </a:r>
            <a:r>
              <a:rPr spc="-65" dirty="0"/>
              <a:t> </a:t>
            </a:r>
            <a:r>
              <a:rPr dirty="0"/>
              <a:t>title</a:t>
            </a:r>
            <a:r>
              <a:rPr spc="-70" dirty="0"/>
              <a:t> </a:t>
            </a:r>
            <a:r>
              <a:rPr spc="-10" dirty="0"/>
              <a:t>Selection</a:t>
            </a:r>
          </a:p>
        </p:txBody>
      </p:sp>
      <p:sp>
        <p:nvSpPr>
          <p:cNvPr id="5" name="Rectangle 2">
            <a:extLst>
              <a:ext uri="{FF2B5EF4-FFF2-40B4-BE49-F238E27FC236}">
                <a16:creationId xmlns:a16="http://schemas.microsoft.com/office/drawing/2014/main" id="{A0BB2119-DE2F-0070-2812-4E77118417C4}"/>
              </a:ext>
            </a:extLst>
          </p:cNvPr>
          <p:cNvSpPr>
            <a:spLocks noChangeArrowheads="1"/>
          </p:cNvSpPr>
          <p:nvPr/>
        </p:nvSpPr>
        <p:spPr bwMode="auto">
          <a:xfrm rot="10800000" flipV="1">
            <a:off x="609600" y="914400"/>
            <a:ext cx="109728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Public Health Information Landscape: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Governments and health organizations have introduced digital portals, helplines, and awareness programs to disseminate information on diseases, vaccinations, and preventive care. However, these systems are mostly static and require users to actively search for information.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Existing Digital Health Chatbots: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Prior research and existing chatbot solutions focus primarily on appointment booking, symptom checking, or urban-centric healthcare services, often lacking regional or cultural adaptation.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Limitations of Current Approaches: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Most existing systems fail to operate on low-bandwidth channels like SMS, and lack integration with real-time government health surveillance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Research and Implementation Gap:</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Despite the availability of verified health data, there is no unified conversational system that can proactively educate users, deliver vaccination guidance, and issue real-time outbreak alerts tailored to specific regions and populations.</a:t>
            </a:r>
          </a:p>
          <a:p>
            <a:pPr marL="285750" indent="-285750">
              <a:buFont typeface="Arial" panose="020B0604020202020204" pitchFamily="34" charset="0"/>
              <a:buChar char="•"/>
            </a:pPr>
            <a:r>
              <a:rPr lang="en-US" b="1" dirty="0"/>
              <a:t>Identified Research Gap:</a:t>
            </a:r>
            <a:br>
              <a:rPr lang="en-US" dirty="0"/>
            </a:br>
            <a:r>
              <a:rPr lang="en-US" dirty="0"/>
              <a:t>Existing studies focus on general healthcare chatbots or urban-centric solutions, whereas limited work addresses preventive public health awareness for rural and semi-urban populations.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E8C72-AF6B-AB4D-CFF3-515D6B224B4E}"/>
              </a:ext>
            </a:extLst>
          </p:cNvPr>
          <p:cNvSpPr>
            <a:spLocks noGrp="1"/>
          </p:cNvSpPr>
          <p:nvPr>
            <p:ph type="title"/>
          </p:nvPr>
        </p:nvSpPr>
        <p:spPr>
          <a:xfrm>
            <a:off x="891641" y="283210"/>
            <a:ext cx="7863205" cy="861774"/>
          </a:xfrm>
        </p:spPr>
        <p:txBody>
          <a:bodyPr/>
          <a:lstStyle/>
          <a:p>
            <a:r>
              <a:rPr lang="en-IN" dirty="0">
                <a:latin typeface="Arial MT"/>
                <a:cs typeface="Arial MT"/>
              </a:rPr>
              <a:t>Analysis</a:t>
            </a:r>
            <a:r>
              <a:rPr lang="en-IN" spc="-70" dirty="0">
                <a:latin typeface="Arial MT"/>
                <a:cs typeface="Arial MT"/>
              </a:rPr>
              <a:t> </a:t>
            </a:r>
            <a:r>
              <a:rPr lang="en-IN" dirty="0">
                <a:latin typeface="Arial MT"/>
                <a:cs typeface="Arial MT"/>
              </a:rPr>
              <a:t>of</a:t>
            </a:r>
            <a:r>
              <a:rPr lang="en-IN" spc="-65" dirty="0">
                <a:latin typeface="Arial MT"/>
                <a:cs typeface="Arial MT"/>
              </a:rPr>
              <a:t> </a:t>
            </a:r>
            <a:r>
              <a:rPr lang="en-IN" dirty="0">
                <a:latin typeface="Arial MT"/>
                <a:cs typeface="Arial MT"/>
              </a:rPr>
              <a:t>Problem</a:t>
            </a:r>
            <a:r>
              <a:rPr lang="en-IN" spc="-50" dirty="0">
                <a:latin typeface="Arial MT"/>
                <a:cs typeface="Arial MT"/>
              </a:rPr>
              <a:t> </a:t>
            </a:r>
            <a:r>
              <a:rPr lang="en-IN" spc="-10" dirty="0">
                <a:latin typeface="Arial MT"/>
                <a:cs typeface="Arial MT"/>
              </a:rPr>
              <a:t>Statement</a:t>
            </a:r>
            <a:br>
              <a:rPr lang="en-IN" dirty="0">
                <a:latin typeface="Arial MT"/>
                <a:cs typeface="Arial MT"/>
              </a:rPr>
            </a:br>
            <a:endParaRPr lang="en-IN" dirty="0"/>
          </a:p>
        </p:txBody>
      </p:sp>
      <p:sp>
        <p:nvSpPr>
          <p:cNvPr id="4" name="Rectangle 1">
            <a:extLst>
              <a:ext uri="{FF2B5EF4-FFF2-40B4-BE49-F238E27FC236}">
                <a16:creationId xmlns:a16="http://schemas.microsoft.com/office/drawing/2014/main" id="{52ECEDF6-4DE1-2A4D-E038-4C20B6210C26}"/>
              </a:ext>
            </a:extLst>
          </p:cNvPr>
          <p:cNvSpPr>
            <a:spLocks noGrp="1" noChangeArrowheads="1"/>
          </p:cNvSpPr>
          <p:nvPr>
            <p:ph type="body" idx="1"/>
          </p:nvPr>
        </p:nvSpPr>
        <p:spPr bwMode="auto">
          <a:xfrm>
            <a:off x="859962" y="1468397"/>
            <a:ext cx="1023355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Healthcare Information Accessibility Issues: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 significant portion of rural and semi-urban populations lacks easy access to reliable and    understandable healthcare information.</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Prevalence of Health Misinformation: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Unverified health content circulated through informal channels often leads to panic, delayed treatment, or unsafe self-medication.</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Delayed Disease Awareness &amp; Response: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Current systems fail to provide localized, real-time alerts during disease outbreaks, reducing preventive preparedness.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Technology Opportunity &amp; Gap:</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widespread availability of mobile phones creates an opportunity for AI-based conversational systems, yet such solutions are not adequately leveraged for public health awareness.</a:t>
            </a:r>
          </a:p>
        </p:txBody>
      </p:sp>
    </p:spTree>
    <p:extLst>
      <p:ext uri="{BB962C8B-B14F-4D97-AF65-F5344CB8AC3E}">
        <p14:creationId xmlns:p14="http://schemas.microsoft.com/office/powerpoint/2010/main" val="3642848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A4CD-8EF5-3442-1CA2-16F5C214AE8A}"/>
              </a:ext>
            </a:extLst>
          </p:cNvPr>
          <p:cNvSpPr>
            <a:spLocks noGrp="1"/>
          </p:cNvSpPr>
          <p:nvPr>
            <p:ph type="title"/>
          </p:nvPr>
        </p:nvSpPr>
        <p:spPr>
          <a:xfrm>
            <a:off x="891641" y="283210"/>
            <a:ext cx="7863205" cy="430887"/>
          </a:xfrm>
        </p:spPr>
        <p:txBody>
          <a:bodyPr/>
          <a:lstStyle/>
          <a:p>
            <a:r>
              <a:rPr lang="en-IN" dirty="0">
                <a:latin typeface="Arial MT"/>
                <a:cs typeface="Arial MT"/>
              </a:rPr>
              <a:t>Proposed</a:t>
            </a:r>
            <a:r>
              <a:rPr lang="en-IN" spc="-95" dirty="0">
                <a:latin typeface="Arial MT"/>
                <a:cs typeface="Arial MT"/>
              </a:rPr>
              <a:t> </a:t>
            </a:r>
            <a:r>
              <a:rPr lang="en-IN" spc="-10" dirty="0">
                <a:latin typeface="Arial MT"/>
                <a:cs typeface="Arial MT"/>
              </a:rPr>
              <a:t>Methodology</a:t>
            </a:r>
            <a:endParaRPr lang="en-IN" dirty="0"/>
          </a:p>
        </p:txBody>
      </p:sp>
      <p:sp>
        <p:nvSpPr>
          <p:cNvPr id="4" name="Rectangle 1">
            <a:extLst>
              <a:ext uri="{FF2B5EF4-FFF2-40B4-BE49-F238E27FC236}">
                <a16:creationId xmlns:a16="http://schemas.microsoft.com/office/drawing/2014/main" id="{82F7039E-8DBB-6D47-4A95-63A730B54584}"/>
              </a:ext>
            </a:extLst>
          </p:cNvPr>
          <p:cNvSpPr>
            <a:spLocks noGrp="1" noChangeArrowheads="1"/>
          </p:cNvSpPr>
          <p:nvPr>
            <p:ph type="body" idx="1"/>
          </p:nvPr>
        </p:nvSpPr>
        <p:spPr bwMode="auto">
          <a:xfrm>
            <a:off x="838200" y="984586"/>
            <a:ext cx="105918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Interaction Layer:</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Users interact with the system through WhatsApp</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Natural Language Processing (NLP):</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User inputs are processed using NLP techniques for intent detection and entity extraction to understand the health-related query.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Dialogue Management System:</a:t>
            </a:r>
          </a:p>
          <a:p>
            <a:pPr marR="0" lvl="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 conversational flow engine manages context, user intent, and dialogue state to generate       	meaningful responses.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Health Knowledge &amp; Government Data Integration: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system retrieves verified information from curated health knowledge bases and government health datasets, including vaccination schedules and outbreak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Response Generation &amp; Delivery:</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The chatbot generates easy-to-understand, non-diagnostic responses and delivers them back to             	users through WhatsApp or SMS.</a:t>
            </a:r>
          </a:p>
        </p:txBody>
      </p:sp>
    </p:spTree>
    <p:extLst>
      <p:ext uri="{BB962C8B-B14F-4D97-AF65-F5344CB8AC3E}">
        <p14:creationId xmlns:p14="http://schemas.microsoft.com/office/powerpoint/2010/main" val="3077007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latin typeface="Verdana"/>
                <a:cs typeface="Verdana"/>
              </a:rPr>
              <a:t>Innovation</a:t>
            </a:r>
            <a:r>
              <a:rPr spc="-65" dirty="0">
                <a:latin typeface="Verdana"/>
                <a:cs typeface="Verdana"/>
              </a:rPr>
              <a:t> </a:t>
            </a:r>
            <a:r>
              <a:rPr dirty="0">
                <a:latin typeface="Verdana"/>
                <a:cs typeface="Verdana"/>
              </a:rPr>
              <a:t>or</a:t>
            </a:r>
            <a:r>
              <a:rPr spc="-114" dirty="0">
                <a:latin typeface="Verdana"/>
                <a:cs typeface="Verdana"/>
              </a:rPr>
              <a:t> </a:t>
            </a:r>
            <a:r>
              <a:rPr dirty="0">
                <a:latin typeface="Verdana"/>
                <a:cs typeface="Verdana"/>
              </a:rPr>
              <a:t>Novel</a:t>
            </a:r>
            <a:r>
              <a:rPr spc="-85" dirty="0">
                <a:latin typeface="Verdana"/>
                <a:cs typeface="Verdana"/>
              </a:rPr>
              <a:t> </a:t>
            </a:r>
            <a:r>
              <a:rPr spc="-10" dirty="0">
                <a:latin typeface="Verdana"/>
                <a:cs typeface="Verdana"/>
              </a:rPr>
              <a:t>Contributions</a:t>
            </a:r>
          </a:p>
        </p:txBody>
      </p:sp>
      <p:sp>
        <p:nvSpPr>
          <p:cNvPr id="3" name="object 3"/>
          <p:cNvSpPr txBox="1"/>
          <p:nvPr/>
        </p:nvSpPr>
        <p:spPr>
          <a:xfrm>
            <a:off x="891641" y="1035811"/>
            <a:ext cx="9994900" cy="2595582"/>
          </a:xfrm>
          <a:prstGeom prst="rect">
            <a:avLst/>
          </a:prstGeom>
        </p:spPr>
        <p:txBody>
          <a:bodyPr vert="horz" wrap="square" lIns="0" tIns="12700" rIns="0" bIns="0" rtlCol="0">
            <a:spAutoFit/>
          </a:bodyPr>
          <a:lstStyle/>
          <a:p>
            <a:pPr marL="292100" indent="-285750">
              <a:lnSpc>
                <a:spcPct val="100000"/>
              </a:lnSpc>
              <a:spcBef>
                <a:spcPts val="100"/>
              </a:spcBef>
              <a:buSzPct val="94444"/>
              <a:buFont typeface="Arial" panose="020B0604020202020204" pitchFamily="34" charset="0"/>
              <a:buChar char="•"/>
              <a:tabLst>
                <a:tab pos="114300" algn="l"/>
              </a:tabLst>
            </a:pPr>
            <a:r>
              <a:rPr lang="en-IN" b="1" dirty="0"/>
              <a:t>Unified</a:t>
            </a:r>
            <a:r>
              <a:rPr lang="en-IN" dirty="0"/>
              <a:t> </a:t>
            </a:r>
            <a:r>
              <a:rPr lang="en-IN" b="1" dirty="0"/>
              <a:t>Health Awareness Platform:</a:t>
            </a:r>
            <a:br>
              <a:rPr lang="en-IN" dirty="0"/>
            </a:br>
            <a:r>
              <a:rPr lang="en-US" dirty="0"/>
              <a:t>Combines disease education, vaccination guidance, and outbreak alerts in one chatbot</a:t>
            </a:r>
          </a:p>
          <a:p>
            <a:pPr marL="6350">
              <a:lnSpc>
                <a:spcPct val="100000"/>
              </a:lnSpc>
              <a:spcBef>
                <a:spcPts val="100"/>
              </a:spcBef>
              <a:buSzPct val="94444"/>
              <a:tabLst>
                <a:tab pos="114300" algn="l"/>
              </a:tabLst>
            </a:pPr>
            <a:endParaRPr lang="en-US" dirty="0"/>
          </a:p>
          <a:p>
            <a:pPr marL="292100" indent="-285750">
              <a:lnSpc>
                <a:spcPct val="100000"/>
              </a:lnSpc>
              <a:spcBef>
                <a:spcPts val="100"/>
              </a:spcBef>
              <a:buSzPct val="94444"/>
              <a:buFont typeface="Arial" panose="020B0604020202020204" pitchFamily="34" charset="0"/>
              <a:buChar char="•"/>
              <a:tabLst>
                <a:tab pos="114300" algn="l"/>
              </a:tabLst>
            </a:pPr>
            <a:r>
              <a:rPr lang="en-IN" b="1" dirty="0"/>
              <a:t>WhatsApp or SMS Integration:</a:t>
            </a:r>
          </a:p>
          <a:p>
            <a:pPr marL="6350">
              <a:lnSpc>
                <a:spcPct val="100000"/>
              </a:lnSpc>
              <a:spcBef>
                <a:spcPts val="100"/>
              </a:spcBef>
              <a:buSzPct val="94444"/>
              <a:tabLst>
                <a:tab pos="114300" algn="l"/>
              </a:tabLst>
            </a:pPr>
            <a:r>
              <a:rPr lang="en-US" dirty="0"/>
              <a:t>     Ensures accessibility for both smartphone and feature-phone users.</a:t>
            </a:r>
          </a:p>
          <a:p>
            <a:pPr marL="6350">
              <a:lnSpc>
                <a:spcPct val="100000"/>
              </a:lnSpc>
              <a:spcBef>
                <a:spcPts val="100"/>
              </a:spcBef>
              <a:buSzPct val="94444"/>
              <a:tabLst>
                <a:tab pos="114300" algn="l"/>
              </a:tabLst>
            </a:pPr>
            <a:endParaRPr lang="en-US" dirty="0"/>
          </a:p>
          <a:p>
            <a:pPr marL="292100" indent="-285750">
              <a:lnSpc>
                <a:spcPct val="100000"/>
              </a:lnSpc>
              <a:spcBef>
                <a:spcPts val="100"/>
              </a:spcBef>
              <a:buSzPct val="94444"/>
              <a:buFont typeface="Arial" panose="020B0604020202020204" pitchFamily="34" charset="0"/>
              <a:buChar char="•"/>
              <a:tabLst>
                <a:tab pos="114300" algn="l"/>
              </a:tabLst>
            </a:pPr>
            <a:r>
              <a:rPr lang="en-IN" b="1" dirty="0"/>
              <a:t>Government Data Integration: </a:t>
            </a:r>
            <a:endParaRPr lang="en-US" b="1" dirty="0"/>
          </a:p>
          <a:p>
            <a:pPr marL="292100" indent="-285750">
              <a:lnSpc>
                <a:spcPct val="100000"/>
              </a:lnSpc>
              <a:spcBef>
                <a:spcPts val="100"/>
              </a:spcBef>
              <a:buSzPct val="94444"/>
              <a:buFont typeface="Arial" panose="020B0604020202020204" pitchFamily="34" charset="0"/>
              <a:buChar char="•"/>
              <a:tabLst>
                <a:tab pos="114300" algn="l"/>
              </a:tabLst>
            </a:pPr>
            <a:endParaRPr lang="en-US" dirty="0"/>
          </a:p>
          <a:p>
            <a:pPr marL="6350">
              <a:lnSpc>
                <a:spcPct val="100000"/>
              </a:lnSpc>
              <a:spcBef>
                <a:spcPts val="100"/>
              </a:spcBef>
              <a:buSzPct val="94444"/>
              <a:tabLst>
                <a:tab pos="114300" algn="l"/>
              </a:tabLst>
            </a:pPr>
            <a:endParaRPr lang="en-US" sz="1800" dirty="0">
              <a:latin typeface="Cambria"/>
              <a:cs typeface="Cambria"/>
            </a:endParaRPr>
          </a:p>
        </p:txBody>
      </p:sp>
      <p:sp>
        <p:nvSpPr>
          <p:cNvPr id="39" name="TextBox 38">
            <a:extLst>
              <a:ext uri="{FF2B5EF4-FFF2-40B4-BE49-F238E27FC236}">
                <a16:creationId xmlns:a16="http://schemas.microsoft.com/office/drawing/2014/main" id="{83C8009C-D20B-0629-A9F3-A67E463D34A9}"/>
              </a:ext>
            </a:extLst>
          </p:cNvPr>
          <p:cNvSpPr txBox="1"/>
          <p:nvPr/>
        </p:nvSpPr>
        <p:spPr>
          <a:xfrm>
            <a:off x="738883" y="2967335"/>
            <a:ext cx="10591800" cy="923330"/>
          </a:xfrm>
          <a:prstGeom prst="rect">
            <a:avLst/>
          </a:prstGeom>
          <a:noFill/>
        </p:spPr>
        <p:txBody>
          <a:bodyPr wrap="square">
            <a:spAutoFit/>
          </a:bodyPr>
          <a:lstStyle/>
          <a:p>
            <a:r>
              <a:rPr lang="en-US" dirty="0"/>
              <a:t>      Uses verified health databases to ensure trustworthy and up-to-date information.</a:t>
            </a:r>
          </a:p>
          <a:p>
            <a:endParaRPr lang="en-US" dirty="0"/>
          </a:p>
          <a:p>
            <a:pPr marL="285750" indent="-285750">
              <a:buFont typeface="Arial" panose="020B0604020202020204" pitchFamily="34" charset="0"/>
              <a:buChar char="•"/>
            </a:pPr>
            <a:r>
              <a:rPr lang="en-US" b="1" dirty="0"/>
              <a:t>Integrated Preventive Public Health Framework:</a:t>
            </a:r>
          </a:p>
        </p:txBody>
      </p:sp>
      <p:sp>
        <p:nvSpPr>
          <p:cNvPr id="40" name="TextBox 39">
            <a:extLst>
              <a:ext uri="{FF2B5EF4-FFF2-40B4-BE49-F238E27FC236}">
                <a16:creationId xmlns:a16="http://schemas.microsoft.com/office/drawing/2014/main" id="{77596DA2-BE4F-83AB-79D3-D7329563C975}"/>
              </a:ext>
            </a:extLst>
          </p:cNvPr>
          <p:cNvSpPr txBox="1"/>
          <p:nvPr/>
        </p:nvSpPr>
        <p:spPr>
          <a:xfrm>
            <a:off x="982894" y="3890665"/>
            <a:ext cx="10363200" cy="1200329"/>
          </a:xfrm>
          <a:prstGeom prst="rect">
            <a:avLst/>
          </a:prstGeom>
          <a:noFill/>
        </p:spPr>
        <p:txBody>
          <a:bodyPr wrap="square" rtlCol="0">
            <a:spAutoFit/>
          </a:bodyPr>
          <a:lstStyle/>
          <a:p>
            <a:pPr lvl="8" algn="l"/>
            <a:r>
              <a:rPr lang="en-US" dirty="0"/>
              <a:t>Encourages early awareness and responsible healthcare behavior without replacing professionals,</a:t>
            </a:r>
            <a:br>
              <a:rPr lang="en-US" dirty="0"/>
            </a:br>
            <a:r>
              <a:rPr lang="en-US" dirty="0"/>
              <a:t>Unlike existing systems that address isolated healthcare functions, the proposed approach unifies   health education, vaccination guidance, and real-time outbreak alerts into a single conversational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2836" rIns="0" bIns="0" rtlCol="0">
            <a:spAutoFit/>
          </a:bodyPr>
          <a:lstStyle/>
          <a:p>
            <a:pPr marL="165100">
              <a:lnSpc>
                <a:spcPct val="100000"/>
              </a:lnSpc>
              <a:spcBef>
                <a:spcPts val="95"/>
              </a:spcBef>
            </a:pPr>
            <a:r>
              <a:rPr dirty="0"/>
              <a:t>Github</a:t>
            </a:r>
            <a:r>
              <a:rPr spc="-110" dirty="0"/>
              <a:t> </a:t>
            </a:r>
            <a:r>
              <a:rPr spc="-20" dirty="0"/>
              <a:t>Link</a:t>
            </a:r>
          </a:p>
        </p:txBody>
      </p:sp>
      <p:sp>
        <p:nvSpPr>
          <p:cNvPr id="3" name="object 3"/>
          <p:cNvSpPr txBox="1"/>
          <p:nvPr/>
        </p:nvSpPr>
        <p:spPr>
          <a:xfrm>
            <a:off x="891641" y="1534414"/>
            <a:ext cx="8970645" cy="382156"/>
          </a:xfrm>
          <a:prstGeom prst="rect">
            <a:avLst/>
          </a:prstGeom>
        </p:spPr>
        <p:txBody>
          <a:bodyPr vert="horz" wrap="square" lIns="0" tIns="12700" rIns="0" bIns="0" rtlCol="0">
            <a:spAutoFit/>
          </a:bodyPr>
          <a:lstStyle/>
          <a:p>
            <a:pPr marL="165100" lvl="0">
              <a:spcBef>
                <a:spcPts val="5"/>
              </a:spcBef>
            </a:pPr>
            <a:r>
              <a:rPr lang="en-US" sz="2400" u="sng" dirty="0">
                <a:solidFill>
                  <a:srgbClr val="0000FF"/>
                </a:solidFill>
                <a:latin typeface="Cambria"/>
                <a:ea typeface="Cambria"/>
                <a:cs typeface="Cambria"/>
                <a:sym typeface="Cambria"/>
              </a:rPr>
              <a:t>https://github.com/Stu-Affan/Medical-Chatbot</a:t>
            </a:r>
            <a:endParaRPr lang="en-US" sz="2400" dirty="0">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AE2F5-3253-DBB1-4F99-0B6FCEBC3179}"/>
              </a:ext>
            </a:extLst>
          </p:cNvPr>
          <p:cNvSpPr>
            <a:spLocks noGrp="1"/>
          </p:cNvSpPr>
          <p:nvPr>
            <p:ph type="title"/>
          </p:nvPr>
        </p:nvSpPr>
        <p:spPr>
          <a:xfrm>
            <a:off x="891641" y="283210"/>
            <a:ext cx="7863205" cy="861774"/>
          </a:xfrm>
        </p:spPr>
        <p:txBody>
          <a:bodyPr/>
          <a:lstStyle/>
          <a:p>
            <a:r>
              <a:rPr lang="en-IN" dirty="0">
                <a:latin typeface="Arial MT"/>
                <a:cs typeface="Arial MT"/>
              </a:rPr>
              <a:t>Timeline</a:t>
            </a:r>
            <a:r>
              <a:rPr lang="en-IN" spc="-40" dirty="0">
                <a:latin typeface="Arial MT"/>
                <a:cs typeface="Arial MT"/>
              </a:rPr>
              <a:t> </a:t>
            </a:r>
            <a:r>
              <a:rPr lang="en-IN" dirty="0">
                <a:latin typeface="Arial MT"/>
                <a:cs typeface="Arial MT"/>
              </a:rPr>
              <a:t>of</a:t>
            </a:r>
            <a:r>
              <a:rPr lang="en-IN" spc="-55" dirty="0">
                <a:latin typeface="Arial MT"/>
                <a:cs typeface="Arial MT"/>
              </a:rPr>
              <a:t> </a:t>
            </a:r>
            <a:r>
              <a:rPr lang="en-IN" dirty="0">
                <a:latin typeface="Arial MT"/>
                <a:cs typeface="Arial MT"/>
              </a:rPr>
              <a:t>the</a:t>
            </a:r>
            <a:r>
              <a:rPr lang="en-IN" spc="-55" dirty="0">
                <a:latin typeface="Arial MT"/>
                <a:cs typeface="Arial MT"/>
              </a:rPr>
              <a:t> </a:t>
            </a:r>
            <a:r>
              <a:rPr lang="en-IN" spc="-10" dirty="0">
                <a:latin typeface="Arial MT"/>
                <a:cs typeface="Arial MT"/>
              </a:rPr>
              <a:t>Project</a:t>
            </a:r>
            <a:br>
              <a:rPr lang="en-IN" dirty="0">
                <a:latin typeface="Arial MT"/>
                <a:cs typeface="Arial MT"/>
              </a:rPr>
            </a:br>
            <a:endParaRPr lang="en-IN" dirty="0"/>
          </a:p>
        </p:txBody>
      </p:sp>
      <p:sp>
        <p:nvSpPr>
          <p:cNvPr id="3" name="Text Placeholder 2">
            <a:extLst>
              <a:ext uri="{FF2B5EF4-FFF2-40B4-BE49-F238E27FC236}">
                <a16:creationId xmlns:a16="http://schemas.microsoft.com/office/drawing/2014/main" id="{51A12DB5-CD25-2B6A-8045-B7A23C5177A3}"/>
              </a:ext>
            </a:extLst>
          </p:cNvPr>
          <p:cNvSpPr>
            <a:spLocks noGrp="1"/>
          </p:cNvSpPr>
          <p:nvPr>
            <p:ph type="body" idx="1"/>
          </p:nvPr>
        </p:nvSpPr>
        <p:spPr>
          <a:xfrm>
            <a:off x="891641" y="1170178"/>
            <a:ext cx="10157360" cy="3043554"/>
          </a:xfrm>
        </p:spPr>
        <p:txBody>
          <a:bodyPr/>
          <a:lstStyle/>
          <a:p>
            <a:endParaRPr lang="en-IN" dirty="0"/>
          </a:p>
        </p:txBody>
      </p:sp>
      <p:pic>
        <p:nvPicPr>
          <p:cNvPr id="5" name="Picture 4">
            <a:extLst>
              <a:ext uri="{FF2B5EF4-FFF2-40B4-BE49-F238E27FC236}">
                <a16:creationId xmlns:a16="http://schemas.microsoft.com/office/drawing/2014/main" id="{48AD2D15-0749-4DA0-F6DE-0FEE806B3627}"/>
              </a:ext>
            </a:extLst>
          </p:cNvPr>
          <p:cNvPicPr>
            <a:picLocks noChangeAspect="1"/>
          </p:cNvPicPr>
          <p:nvPr/>
        </p:nvPicPr>
        <p:blipFill>
          <a:blip r:embed="rId2">
            <a:extLst>
              <a:ext uri="{28A0092B-C50C-407E-A947-70E740481C1C}">
                <a14:useLocalDpi xmlns:a14="http://schemas.microsoft.com/office/drawing/2010/main" val="0"/>
              </a:ext>
            </a:extLst>
          </a:blip>
          <a:srcRect b="14493"/>
          <a:stretch>
            <a:fillRect/>
          </a:stretch>
        </p:blipFill>
        <p:spPr>
          <a:xfrm>
            <a:off x="781252" y="990600"/>
            <a:ext cx="10462159" cy="5029200"/>
          </a:xfrm>
          <a:prstGeom prst="rect">
            <a:avLst/>
          </a:prstGeom>
        </p:spPr>
      </p:pic>
    </p:spTree>
    <p:extLst>
      <p:ext uri="{BB962C8B-B14F-4D97-AF65-F5344CB8AC3E}">
        <p14:creationId xmlns:p14="http://schemas.microsoft.com/office/powerpoint/2010/main" val="4082128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2836" rIns="0" bIns="0" rtlCol="0">
            <a:spAutoFit/>
          </a:bodyPr>
          <a:lstStyle/>
          <a:p>
            <a:pPr marL="165100">
              <a:lnSpc>
                <a:spcPct val="100000"/>
              </a:lnSpc>
              <a:spcBef>
                <a:spcPts val="95"/>
              </a:spcBef>
            </a:pPr>
            <a:r>
              <a:rPr spc="-10" dirty="0"/>
              <a:t>REFERENCES</a:t>
            </a:r>
          </a:p>
        </p:txBody>
      </p:sp>
      <p:sp>
        <p:nvSpPr>
          <p:cNvPr id="3" name="object 3"/>
          <p:cNvSpPr txBox="1">
            <a:spLocks noGrp="1"/>
          </p:cNvSpPr>
          <p:nvPr>
            <p:ph type="body" idx="1"/>
          </p:nvPr>
        </p:nvSpPr>
        <p:spPr>
          <a:xfrm>
            <a:off x="891641" y="1170178"/>
            <a:ext cx="10351770" cy="5565626"/>
          </a:xfrm>
          <a:prstGeom prst="rect">
            <a:avLst/>
          </a:prstGeom>
        </p:spPr>
        <p:txBody>
          <a:bodyPr vert="horz" wrap="square" lIns="0" tIns="12700" rIns="0" bIns="0" rtlCol="0">
            <a:spAutoFit/>
          </a:bodyPr>
          <a:lstStyle/>
          <a:p>
            <a:r>
              <a:rPr lang="en-IN" dirty="0"/>
              <a:t>[1] Laranjo, L., Dunn, A.G., Tong, H.L., </a:t>
            </a:r>
            <a:r>
              <a:rPr lang="en-IN" dirty="0" err="1"/>
              <a:t>Kocaballi</a:t>
            </a:r>
            <a:r>
              <a:rPr lang="en-IN" dirty="0"/>
              <a:t>, A.B., Chen, J., Bashir, R., Surian, D., Gallego, B., </a:t>
            </a:r>
            <a:r>
              <a:rPr lang="en-IN" dirty="0" err="1"/>
              <a:t>Magrabi</a:t>
            </a:r>
            <a:r>
              <a:rPr lang="en-IN" dirty="0"/>
              <a:t>, F., Lau, A.Y.S. and </a:t>
            </a:r>
            <a:r>
              <a:rPr lang="en-IN" dirty="0" err="1"/>
              <a:t>Coiera</a:t>
            </a:r>
            <a:r>
              <a:rPr lang="en-IN" dirty="0"/>
              <a:t>, E., 2018. Conversational agents in healthcare: A systematic review. </a:t>
            </a:r>
            <a:r>
              <a:rPr lang="en-IN" i="1" dirty="0"/>
              <a:t>Journal of the American Medical Informatics Association</a:t>
            </a:r>
            <a:r>
              <a:rPr lang="en-IN" dirty="0"/>
              <a:t>, 25(9), pp.1248–1258. </a:t>
            </a:r>
            <a:br>
              <a:rPr lang="en-IN" dirty="0"/>
            </a:br>
            <a:endParaRPr lang="en-IN" dirty="0"/>
          </a:p>
          <a:p>
            <a:r>
              <a:rPr lang="en-US" dirty="0"/>
              <a:t>[2]Bickmore, T.W., Trinh, H., Asadi, R. and Olafsson, S., 2018. </a:t>
            </a:r>
            <a:r>
              <a:rPr lang="en-US" i="1" dirty="0"/>
              <a:t>Safety first: Conversational agents for health information</a:t>
            </a:r>
            <a:r>
              <a:rPr lang="en-US" dirty="0"/>
              <a:t>. Journal of Biomedical Informatics, 82, pp.1–9.</a:t>
            </a:r>
            <a:br>
              <a:rPr lang="en-IN" dirty="0"/>
            </a:br>
            <a:endParaRPr lang="en-IN" dirty="0"/>
          </a:p>
          <a:p>
            <a:r>
              <a:rPr lang="en-US" dirty="0"/>
              <a:t>[3]Wilson, L. and </a:t>
            </a:r>
            <a:r>
              <a:rPr lang="en-US" dirty="0" err="1"/>
              <a:t>Marasoiu</a:t>
            </a:r>
            <a:r>
              <a:rPr lang="en-US" dirty="0"/>
              <a:t>, M., 2022. The development and use of chatbots in public health: Scoping review. </a:t>
            </a:r>
            <a:r>
              <a:rPr lang="en-US" i="1" dirty="0"/>
              <a:t>JMIR Human Factors</a:t>
            </a:r>
            <a:r>
              <a:rPr lang="en-US" dirty="0"/>
              <a:t>, 9(4), e35882.</a:t>
            </a:r>
          </a:p>
          <a:p>
            <a:endParaRPr lang="en-US" dirty="0"/>
          </a:p>
          <a:p>
            <a:r>
              <a:rPr lang="en-US" dirty="0"/>
              <a:t>[4]Branda F, Stella M, Ceccarelli C, </a:t>
            </a:r>
            <a:r>
              <a:rPr lang="en-US" dirty="0" err="1"/>
              <a:t>Cabitza</a:t>
            </a:r>
            <a:r>
              <a:rPr lang="en-US" dirty="0"/>
              <a:t> F, Ceccarelli G, </a:t>
            </a:r>
            <a:r>
              <a:rPr lang="en-US" dirty="0" err="1"/>
              <a:t>Maruotti</a:t>
            </a:r>
            <a:r>
              <a:rPr lang="en-US" dirty="0"/>
              <a:t> A, </a:t>
            </a:r>
            <a:r>
              <a:rPr lang="en-US" dirty="0" err="1"/>
              <a:t>Ciccozzi</a:t>
            </a:r>
            <a:r>
              <a:rPr lang="en-US" dirty="0"/>
              <a:t> M, Scarpa F. The Role of AI-Based Chatbots in Public Health Emergencies: A Narrative Review. Future Internet. 2025; 17(4):145. https://doi.org/10.3390/fi17040145</a:t>
            </a:r>
            <a:br>
              <a:rPr lang="en-US" dirty="0"/>
            </a:br>
            <a:endParaRPr lang="en-US" dirty="0"/>
          </a:p>
          <a:p>
            <a:r>
              <a:rPr lang="en-IN" dirty="0"/>
              <a:t>[5]Singhal, K., Tu, T., </a:t>
            </a:r>
            <a:r>
              <a:rPr lang="en-IN" dirty="0" err="1"/>
              <a:t>Gottweis</a:t>
            </a:r>
            <a:r>
              <a:rPr lang="en-IN" dirty="0"/>
              <a:t>, J., Sayres, R., </a:t>
            </a:r>
            <a:r>
              <a:rPr lang="en-IN" dirty="0" err="1"/>
              <a:t>Wulczyn</a:t>
            </a:r>
            <a:r>
              <a:rPr lang="en-IN" dirty="0"/>
              <a:t>, E., Hou, L., Clark, K., Pfohl, S., Cole-Lewis, H., Neal, D., </a:t>
            </a:r>
            <a:r>
              <a:rPr lang="en-IN" dirty="0" err="1"/>
              <a:t>Schaekermann</a:t>
            </a:r>
            <a:r>
              <a:rPr lang="en-IN" dirty="0"/>
              <a:t>, M., Wang, A., Amin, M., Seneviratne, S., Wu, Z., </a:t>
            </a:r>
            <a:r>
              <a:rPr lang="en-IN" dirty="0" err="1"/>
              <a:t>Aratow</a:t>
            </a:r>
            <a:r>
              <a:rPr lang="en-IN" dirty="0"/>
              <a:t>, M., Prabhakaran, D., Gao, S., Narayan, R., and Corrado, G., 2023. Large language models encode clinical knowledge. </a:t>
            </a:r>
            <a:r>
              <a:rPr lang="en-IN" i="1" dirty="0"/>
              <a:t>Nature</a:t>
            </a:r>
            <a:r>
              <a:rPr lang="en-IN" dirty="0"/>
              <a:t>, 620, pp.172–180.</a:t>
            </a:r>
            <a:br>
              <a:rPr lang="en-IN" dirty="0"/>
            </a:br>
            <a:endParaRPr lang="en-IN" dirty="0"/>
          </a:p>
          <a:p>
            <a:pPr marL="297815" marR="304165" indent="-285750">
              <a:lnSpc>
                <a:spcPct val="100000"/>
              </a:lnSpc>
              <a:spcBef>
                <a:spcPts val="100"/>
              </a:spcBef>
              <a:buFont typeface="Arial" panose="020B0604020202020204" pitchFamily="34" charset="0"/>
              <a:buChar char="•"/>
              <a:tabLst>
                <a:tab pos="299085" algn="l"/>
              </a:tabLst>
            </a:pPr>
            <a:endParaRPr spc="-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2796" y="1441322"/>
            <a:ext cx="3893311" cy="39354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TotalTime>
  <Words>1349</Words>
  <Application>Microsoft Office PowerPoint</Application>
  <PresentationFormat>Widescreen</PresentationFormat>
  <Paragraphs>107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MT</vt:lpstr>
      <vt:lpstr>Cambria</vt:lpstr>
      <vt:lpstr>Trebuchet MS</vt:lpstr>
      <vt:lpstr>Verdana</vt:lpstr>
      <vt:lpstr>Office Theme</vt:lpstr>
      <vt:lpstr>Al-Driven Public Health Chatbot for Disease Awareness</vt:lpstr>
      <vt:lpstr>Problem Statement Number: PSCS_049</vt:lpstr>
      <vt:lpstr>Content</vt:lpstr>
      <vt:lpstr>Problem Statement</vt:lpstr>
      <vt:lpstr>Objectives</vt:lpstr>
      <vt:lpstr>Background and Related work for title Selection</vt:lpstr>
      <vt:lpstr>Analysis of Problem Statement </vt:lpstr>
      <vt:lpstr>Proposed Methodology</vt:lpstr>
      <vt:lpstr>Innovation or Novel Contributions</vt:lpstr>
      <vt:lpstr>Github Link</vt:lpstr>
      <vt:lpstr>Timeline of the Project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smohammed affan</cp:lastModifiedBy>
  <cp:revision>6</cp:revision>
  <dcterms:created xsi:type="dcterms:W3CDTF">2026-01-11T17:01:05Z</dcterms:created>
  <dcterms:modified xsi:type="dcterms:W3CDTF">2026-02-03T04:19:51Z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2026-01-10T00:00:00Z</vt:filetime>
  </property>
  <property fmtid="{D5CDD505-2E9C-101B-9397-08002B2CF9AE}" pid="3" name="Creator">
    <vt:lpwstr>Microsoft® PowerPoint® 2019</vt:lpwstr>
  </property>
  <property fmtid="{D5CDD505-2E9C-101B-9397-08002B2CF9AE}" pid="4" name="LastSaved">
    <vt:filetime>2026-01-11T00:00:00Z</vt:filetime>
  </property>
  <property fmtid="{D5CDD505-2E9C-101B-9397-08002B2CF9AE}" pid="5" name="Producer">
    <vt:lpwstr>Microsoft® PowerPoint® 2019</vt:lpwstr>
  </property>
</Properties>
</file>