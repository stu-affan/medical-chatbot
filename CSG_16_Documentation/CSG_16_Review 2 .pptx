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23"/>
  </p:notesMasterIdLst>
  <p:sldIdLst>
    <p:sldId id="279" r:id="rId2"/>
    <p:sldId id="257" r:id="rId3"/>
    <p:sldId id="258" r:id="rId4"/>
    <p:sldId id="259" r:id="rId5"/>
    <p:sldId id="260" r:id="rId6"/>
    <p:sldId id="268" r:id="rId7"/>
    <p:sldId id="267" r:id="rId8"/>
    <p:sldId id="269" r:id="rId9"/>
    <p:sldId id="270" r:id="rId10"/>
    <p:sldId id="261" r:id="rId11"/>
    <p:sldId id="262" r:id="rId12"/>
    <p:sldId id="273" r:id="rId13"/>
    <p:sldId id="278" r:id="rId14"/>
    <p:sldId id="272" r:id="rId15"/>
    <p:sldId id="274" r:id="rId16"/>
    <p:sldId id="275" r:id="rId17"/>
    <p:sldId id="276" r:id="rId18"/>
    <p:sldId id="263" r:id="rId19"/>
    <p:sldId id="264" r:id="rId20"/>
    <p:sldId id="277" r:id="rId21"/>
    <p:sldId id="265" r:id="rId22"/>
  </p:sldIdLst>
  <p:sldSz cx="12192000" cy="6858000"/>
  <p:notesSz cx="12192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D721E32-2C35-4328-9CAD-0CB539915E9C}">
  <a:tblStyle styleId="{5D721E32-2C35-4328-9CAD-0CB539915E9C}"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741" autoAdjust="0"/>
  </p:normalViewPr>
  <p:slideViewPr>
    <p:cSldViewPr snapToGrid="0">
      <p:cViewPr varScale="1">
        <p:scale>
          <a:sx n="82" d="100"/>
          <a:sy n="82" d="100"/>
        </p:scale>
        <p:origin x="691" y="7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p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 name="Google Shape;65;p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a:extLst>
            <a:ext uri="{FF2B5EF4-FFF2-40B4-BE49-F238E27FC236}">
              <a16:creationId xmlns:a16="http://schemas.microsoft.com/office/drawing/2014/main" id="{6B5BD4B2-8BF8-2026-E7A8-B65748A348E5}"/>
            </a:ext>
          </a:extLst>
        </p:cNvPr>
        <p:cNvGrpSpPr/>
        <p:nvPr/>
      </p:nvGrpSpPr>
      <p:grpSpPr>
        <a:xfrm>
          <a:off x="0" y="0"/>
          <a:ext cx="0" cy="0"/>
          <a:chOff x="0" y="0"/>
          <a:chExt cx="0" cy="0"/>
        </a:xfrm>
      </p:grpSpPr>
      <p:sp>
        <p:nvSpPr>
          <p:cNvPr id="70" name="Google Shape;70;p5:notes">
            <a:extLst>
              <a:ext uri="{FF2B5EF4-FFF2-40B4-BE49-F238E27FC236}">
                <a16:creationId xmlns:a16="http://schemas.microsoft.com/office/drawing/2014/main" id="{BEFFFD6A-9EE1-3163-EB5E-F1462DFDFA93}"/>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p5:notes">
            <a:extLst>
              <a:ext uri="{FF2B5EF4-FFF2-40B4-BE49-F238E27FC236}">
                <a16:creationId xmlns:a16="http://schemas.microsoft.com/office/drawing/2014/main" id="{3E3D3654-28A9-0C38-3180-DA82255C1924}"/>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0615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a:extLst>
            <a:ext uri="{FF2B5EF4-FFF2-40B4-BE49-F238E27FC236}">
              <a16:creationId xmlns:a16="http://schemas.microsoft.com/office/drawing/2014/main" id="{E2DC9FD9-ABA4-B659-2A50-8DBFC38B64CC}"/>
            </a:ext>
          </a:extLst>
        </p:cNvPr>
        <p:cNvGrpSpPr/>
        <p:nvPr/>
      </p:nvGrpSpPr>
      <p:grpSpPr>
        <a:xfrm>
          <a:off x="0" y="0"/>
          <a:ext cx="0" cy="0"/>
          <a:chOff x="0" y="0"/>
          <a:chExt cx="0" cy="0"/>
        </a:xfrm>
      </p:grpSpPr>
      <p:sp>
        <p:nvSpPr>
          <p:cNvPr id="70" name="Google Shape;70;p5:notes">
            <a:extLst>
              <a:ext uri="{FF2B5EF4-FFF2-40B4-BE49-F238E27FC236}">
                <a16:creationId xmlns:a16="http://schemas.microsoft.com/office/drawing/2014/main" id="{EC97FCFB-5571-D717-23ED-6190781E3A95}"/>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p5:notes">
            <a:extLst>
              <a:ext uri="{FF2B5EF4-FFF2-40B4-BE49-F238E27FC236}">
                <a16:creationId xmlns:a16="http://schemas.microsoft.com/office/drawing/2014/main" id="{7CAB3B0D-10C3-5F6E-F35D-9A52029647F4}"/>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7305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a:extLst>
            <a:ext uri="{FF2B5EF4-FFF2-40B4-BE49-F238E27FC236}">
              <a16:creationId xmlns:a16="http://schemas.microsoft.com/office/drawing/2014/main" id="{23E4A6C4-AA4C-697D-8131-9C084D972132}"/>
            </a:ext>
          </a:extLst>
        </p:cNvPr>
        <p:cNvGrpSpPr/>
        <p:nvPr/>
      </p:nvGrpSpPr>
      <p:grpSpPr>
        <a:xfrm>
          <a:off x="0" y="0"/>
          <a:ext cx="0" cy="0"/>
          <a:chOff x="0" y="0"/>
          <a:chExt cx="0" cy="0"/>
        </a:xfrm>
      </p:grpSpPr>
      <p:sp>
        <p:nvSpPr>
          <p:cNvPr id="70" name="Google Shape;70;p5:notes">
            <a:extLst>
              <a:ext uri="{FF2B5EF4-FFF2-40B4-BE49-F238E27FC236}">
                <a16:creationId xmlns:a16="http://schemas.microsoft.com/office/drawing/2014/main" id="{6655968F-4D44-17F7-1878-44B1457D16B1}"/>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p5:notes">
            <a:extLst>
              <a:ext uri="{FF2B5EF4-FFF2-40B4-BE49-F238E27FC236}">
                <a16:creationId xmlns:a16="http://schemas.microsoft.com/office/drawing/2014/main" id="{3B875B94-37C4-2142-DDE7-73D1A528913D}"/>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12698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a:extLst>
            <a:ext uri="{FF2B5EF4-FFF2-40B4-BE49-F238E27FC236}">
              <a16:creationId xmlns:a16="http://schemas.microsoft.com/office/drawing/2014/main" id="{0669BED2-89FA-B724-FC0B-5B6A9431E71D}"/>
            </a:ext>
          </a:extLst>
        </p:cNvPr>
        <p:cNvGrpSpPr/>
        <p:nvPr/>
      </p:nvGrpSpPr>
      <p:grpSpPr>
        <a:xfrm>
          <a:off x="0" y="0"/>
          <a:ext cx="0" cy="0"/>
          <a:chOff x="0" y="0"/>
          <a:chExt cx="0" cy="0"/>
        </a:xfrm>
      </p:grpSpPr>
      <p:sp>
        <p:nvSpPr>
          <p:cNvPr id="70" name="Google Shape;70;p5:notes">
            <a:extLst>
              <a:ext uri="{FF2B5EF4-FFF2-40B4-BE49-F238E27FC236}">
                <a16:creationId xmlns:a16="http://schemas.microsoft.com/office/drawing/2014/main" id="{3324180E-A5E6-D58C-8E87-A39E5B8AA3E8}"/>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p5:notes">
            <a:extLst>
              <a:ext uri="{FF2B5EF4-FFF2-40B4-BE49-F238E27FC236}">
                <a16:creationId xmlns:a16="http://schemas.microsoft.com/office/drawing/2014/main" id="{5C1E67E0-8E70-53D2-997E-244EEE4C0AD6}"/>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23105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 name="Google Shape;83;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AE12902C-9BAA-7900-B9E3-9C4C2AF36165}"/>
            </a:ext>
          </a:extLst>
        </p:cNvPr>
        <p:cNvGrpSpPr/>
        <p:nvPr/>
      </p:nvGrpSpPr>
      <p:grpSpPr>
        <a:xfrm>
          <a:off x="0" y="0"/>
          <a:ext cx="0" cy="0"/>
          <a:chOff x="0" y="0"/>
          <a:chExt cx="0" cy="0"/>
        </a:xfrm>
      </p:grpSpPr>
      <p:sp>
        <p:nvSpPr>
          <p:cNvPr id="82" name="Google Shape;82;p7:notes">
            <a:extLst>
              <a:ext uri="{FF2B5EF4-FFF2-40B4-BE49-F238E27FC236}">
                <a16:creationId xmlns:a16="http://schemas.microsoft.com/office/drawing/2014/main" id="{0D6F8C86-ED77-009E-BE09-20061D602E86}"/>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 name="Google Shape;83;p7:notes">
            <a:extLst>
              <a:ext uri="{FF2B5EF4-FFF2-40B4-BE49-F238E27FC236}">
                <a16:creationId xmlns:a16="http://schemas.microsoft.com/office/drawing/2014/main" id="{BDCB1A0A-15A2-DD2D-BD61-C2D0803D4A95}"/>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58834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04DD6041-22A7-9C31-EAAC-024F53AD9C79}"/>
            </a:ext>
          </a:extLst>
        </p:cNvPr>
        <p:cNvGrpSpPr/>
        <p:nvPr/>
      </p:nvGrpSpPr>
      <p:grpSpPr>
        <a:xfrm>
          <a:off x="0" y="0"/>
          <a:ext cx="0" cy="0"/>
          <a:chOff x="0" y="0"/>
          <a:chExt cx="0" cy="0"/>
        </a:xfrm>
      </p:grpSpPr>
      <p:sp>
        <p:nvSpPr>
          <p:cNvPr id="82" name="Google Shape;82;p7:notes">
            <a:extLst>
              <a:ext uri="{FF2B5EF4-FFF2-40B4-BE49-F238E27FC236}">
                <a16:creationId xmlns:a16="http://schemas.microsoft.com/office/drawing/2014/main" id="{E481CD00-8FEF-1E3A-9C52-3A0D7CB6CB0C}"/>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 name="Google Shape;83;p7:notes">
            <a:extLst>
              <a:ext uri="{FF2B5EF4-FFF2-40B4-BE49-F238E27FC236}">
                <a16:creationId xmlns:a16="http://schemas.microsoft.com/office/drawing/2014/main" id="{71D9C3C5-CA20-AE72-CA0E-2635041AC214}"/>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61805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07039076-E994-D3C3-C155-229876C5D771}"/>
            </a:ext>
          </a:extLst>
        </p:cNvPr>
        <p:cNvGrpSpPr/>
        <p:nvPr/>
      </p:nvGrpSpPr>
      <p:grpSpPr>
        <a:xfrm>
          <a:off x="0" y="0"/>
          <a:ext cx="0" cy="0"/>
          <a:chOff x="0" y="0"/>
          <a:chExt cx="0" cy="0"/>
        </a:xfrm>
      </p:grpSpPr>
      <p:sp>
        <p:nvSpPr>
          <p:cNvPr id="82" name="Google Shape;82;p7:notes">
            <a:extLst>
              <a:ext uri="{FF2B5EF4-FFF2-40B4-BE49-F238E27FC236}">
                <a16:creationId xmlns:a16="http://schemas.microsoft.com/office/drawing/2014/main" id="{95312A72-D947-2D58-FC8A-29438054CCF4}"/>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 name="Google Shape;83;p7:notes">
            <a:extLst>
              <a:ext uri="{FF2B5EF4-FFF2-40B4-BE49-F238E27FC236}">
                <a16:creationId xmlns:a16="http://schemas.microsoft.com/office/drawing/2014/main" id="{EF777910-60DD-B418-E483-761678EEDB98}"/>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54559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C857236C-5D25-8DA0-B8B1-51C519E8871F}"/>
            </a:ext>
          </a:extLst>
        </p:cNvPr>
        <p:cNvGrpSpPr/>
        <p:nvPr/>
      </p:nvGrpSpPr>
      <p:grpSpPr>
        <a:xfrm>
          <a:off x="0" y="0"/>
          <a:ext cx="0" cy="0"/>
          <a:chOff x="0" y="0"/>
          <a:chExt cx="0" cy="0"/>
        </a:xfrm>
      </p:grpSpPr>
      <p:sp>
        <p:nvSpPr>
          <p:cNvPr id="82" name="Google Shape;82;p7:notes">
            <a:extLst>
              <a:ext uri="{FF2B5EF4-FFF2-40B4-BE49-F238E27FC236}">
                <a16:creationId xmlns:a16="http://schemas.microsoft.com/office/drawing/2014/main" id="{FCF3DBD8-5561-5135-BD93-FEF3FFAA2206}"/>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 name="Google Shape;83;p7:notes">
            <a:extLst>
              <a:ext uri="{FF2B5EF4-FFF2-40B4-BE49-F238E27FC236}">
                <a16:creationId xmlns:a16="http://schemas.microsoft.com/office/drawing/2014/main" id="{19B9D858-2D65-2BB7-46F8-243978FA6A79}"/>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8888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B3E04F29-B5AE-0FE2-90AB-1ED341BAD224}"/>
            </a:ext>
          </a:extLst>
        </p:cNvPr>
        <p:cNvGrpSpPr/>
        <p:nvPr/>
      </p:nvGrpSpPr>
      <p:grpSpPr>
        <a:xfrm>
          <a:off x="0" y="0"/>
          <a:ext cx="0" cy="0"/>
          <a:chOff x="0" y="0"/>
          <a:chExt cx="0" cy="0"/>
        </a:xfrm>
      </p:grpSpPr>
      <p:sp>
        <p:nvSpPr>
          <p:cNvPr id="82" name="Google Shape;82;p7:notes">
            <a:extLst>
              <a:ext uri="{FF2B5EF4-FFF2-40B4-BE49-F238E27FC236}">
                <a16:creationId xmlns:a16="http://schemas.microsoft.com/office/drawing/2014/main" id="{0A6779BA-6D28-9FDE-6AB9-B64B68A13BBE}"/>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 name="Google Shape;83;p7:notes">
            <a:extLst>
              <a:ext uri="{FF2B5EF4-FFF2-40B4-BE49-F238E27FC236}">
                <a16:creationId xmlns:a16="http://schemas.microsoft.com/office/drawing/2014/main" id="{F3C7FBB2-25F5-7B8C-D738-CCC4A5E6D79D}"/>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44802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D1BE8179-AF3A-53E7-CAA2-3839E9D05AE9}"/>
            </a:ext>
          </a:extLst>
        </p:cNvPr>
        <p:cNvGrpSpPr/>
        <p:nvPr/>
      </p:nvGrpSpPr>
      <p:grpSpPr>
        <a:xfrm>
          <a:off x="0" y="0"/>
          <a:ext cx="0" cy="0"/>
          <a:chOff x="0" y="0"/>
          <a:chExt cx="0" cy="0"/>
        </a:xfrm>
      </p:grpSpPr>
      <p:sp>
        <p:nvSpPr>
          <p:cNvPr id="82" name="Google Shape;82;p7:notes">
            <a:extLst>
              <a:ext uri="{FF2B5EF4-FFF2-40B4-BE49-F238E27FC236}">
                <a16:creationId xmlns:a16="http://schemas.microsoft.com/office/drawing/2014/main" id="{A81CDE69-9072-4CA6-E7DC-A36D18952706}"/>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 name="Google Shape;83;p7:notes">
            <a:extLst>
              <a:ext uri="{FF2B5EF4-FFF2-40B4-BE49-F238E27FC236}">
                <a16:creationId xmlns:a16="http://schemas.microsoft.com/office/drawing/2014/main" id="{3B583BF7-D625-613C-F2ED-2FC7249CFECF}"/>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34595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FAE5973F-CD5D-071C-3521-C866CC7B6CFB}"/>
            </a:ext>
          </a:extLst>
        </p:cNvPr>
        <p:cNvGrpSpPr/>
        <p:nvPr/>
      </p:nvGrpSpPr>
      <p:grpSpPr>
        <a:xfrm>
          <a:off x="0" y="0"/>
          <a:ext cx="0" cy="0"/>
          <a:chOff x="0" y="0"/>
          <a:chExt cx="0" cy="0"/>
        </a:xfrm>
      </p:grpSpPr>
      <p:sp>
        <p:nvSpPr>
          <p:cNvPr id="94" name="Google Shape;94;p9:notes">
            <a:extLst>
              <a:ext uri="{FF2B5EF4-FFF2-40B4-BE49-F238E27FC236}">
                <a16:creationId xmlns:a16="http://schemas.microsoft.com/office/drawing/2014/main" id="{0BB7C6B1-4473-BD31-EE83-045D2E5EE0FA}"/>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9:notes">
            <a:extLst>
              <a:ext uri="{FF2B5EF4-FFF2-40B4-BE49-F238E27FC236}">
                <a16:creationId xmlns:a16="http://schemas.microsoft.com/office/drawing/2014/main" id="{24D3F011-7551-BADD-5974-8A716B71ECA2}"/>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9521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10: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
        <p:cNvGrpSpPr/>
        <p:nvPr/>
      </p:nvGrpSpPr>
      <p:grpSpPr>
        <a:xfrm>
          <a:off x="0" y="0"/>
          <a:ext cx="0" cy="0"/>
          <a:chOff x="0" y="0"/>
          <a:chExt cx="0" cy="0"/>
        </a:xfrm>
      </p:grpSpPr>
      <p:sp>
        <p:nvSpPr>
          <p:cNvPr id="14" name="Google Shape;14;p2"/>
          <p:cNvSpPr txBox="1">
            <a:spLocks noGrp="1"/>
          </p:cNvSpPr>
          <p:nvPr>
            <p:ph type="title"/>
          </p:nvPr>
        </p:nvSpPr>
        <p:spPr>
          <a:xfrm>
            <a:off x="891641" y="283210"/>
            <a:ext cx="7863205" cy="53289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800" b="1" i="0">
                <a:solidFill>
                  <a:srgbClr val="17365D"/>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body" idx="1"/>
          </p:nvPr>
        </p:nvSpPr>
        <p:spPr>
          <a:xfrm>
            <a:off x="891641" y="1170178"/>
            <a:ext cx="10351770" cy="304355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1800" b="0" i="0">
                <a:solidFill>
                  <a:schemeClr val="dk1"/>
                </a:solidFill>
                <a:latin typeface="Cambria"/>
                <a:ea typeface="Cambria"/>
                <a:cs typeface="Cambria"/>
                <a:sym typeface="Cambria"/>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6" name="Google Shape;16;p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9"/>
        <p:cNvGrpSpPr/>
        <p:nvPr/>
      </p:nvGrpSpPr>
      <p:grpSpPr>
        <a:xfrm>
          <a:off x="0" y="0"/>
          <a:ext cx="0" cy="0"/>
          <a:chOff x="0" y="0"/>
          <a:chExt cx="0" cy="0"/>
        </a:xfrm>
      </p:grpSpPr>
      <p:sp>
        <p:nvSpPr>
          <p:cNvPr id="20" name="Google Shape;20;p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3"/>
        <p:cNvGrpSpPr/>
        <p:nvPr/>
      </p:nvGrpSpPr>
      <p:grpSpPr>
        <a:xfrm>
          <a:off x="0" y="0"/>
          <a:ext cx="0" cy="0"/>
          <a:chOff x="0" y="0"/>
          <a:chExt cx="0" cy="0"/>
        </a:xfrm>
      </p:grpSpPr>
      <p:sp>
        <p:nvSpPr>
          <p:cNvPr id="24" name="Google Shape;24;p4"/>
          <p:cNvSpPr txBox="1">
            <a:spLocks noGrp="1"/>
          </p:cNvSpPr>
          <p:nvPr>
            <p:ph type="ctrTitle"/>
          </p:nvPr>
        </p:nvSpPr>
        <p:spPr>
          <a:xfrm>
            <a:off x="914400" y="2125980"/>
            <a:ext cx="10363200" cy="1440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800" b="1" i="0">
                <a:solidFill>
                  <a:srgbClr val="17365D"/>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b="0" i="0">
                <a:solidFill>
                  <a:schemeClr val="dk1"/>
                </a:solidFill>
                <a:latin typeface="Cambria"/>
                <a:ea typeface="Cambria"/>
                <a:cs typeface="Cambria"/>
                <a:sym typeface="Cambri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91641" y="283210"/>
            <a:ext cx="7863205" cy="53289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800" b="1" i="0">
                <a:solidFill>
                  <a:srgbClr val="17365D"/>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91641" y="283210"/>
            <a:ext cx="7863205" cy="53289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800" b="1" i="0">
                <a:solidFill>
                  <a:srgbClr val="17365D"/>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812800" y="885824"/>
            <a:ext cx="10668000" cy="57150"/>
          </a:xfrm>
          <a:custGeom>
            <a:avLst/>
            <a:gdLst/>
            <a:ahLst/>
            <a:cxnLst/>
            <a:rect l="l" t="t" r="r" b="b"/>
            <a:pathLst>
              <a:path w="10668000" h="57150" extrusionOk="0">
                <a:moveTo>
                  <a:pt x="10668000" y="45720"/>
                </a:moveTo>
                <a:lnTo>
                  <a:pt x="0" y="45720"/>
                </a:lnTo>
                <a:lnTo>
                  <a:pt x="0" y="57150"/>
                </a:lnTo>
                <a:lnTo>
                  <a:pt x="10668000" y="57150"/>
                </a:lnTo>
                <a:lnTo>
                  <a:pt x="10668000" y="45720"/>
                </a:lnTo>
                <a:close/>
              </a:path>
              <a:path w="10668000" h="57150" extrusionOk="0">
                <a:moveTo>
                  <a:pt x="10668000" y="0"/>
                </a:moveTo>
                <a:lnTo>
                  <a:pt x="0" y="0"/>
                </a:lnTo>
                <a:lnTo>
                  <a:pt x="0" y="34290"/>
                </a:lnTo>
                <a:lnTo>
                  <a:pt x="10668000" y="34290"/>
                </a:lnTo>
                <a:lnTo>
                  <a:pt x="1066800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 name="Google Shape;7;p1"/>
          <p:cNvPicPr preferRelativeResize="0"/>
          <p:nvPr/>
        </p:nvPicPr>
        <p:blipFill rotWithShape="1">
          <a:blip r:embed="rId7">
            <a:alphaModFix/>
          </a:blip>
          <a:srcRect/>
          <a:stretch/>
        </p:blipFill>
        <p:spPr>
          <a:xfrm>
            <a:off x="0" y="5991362"/>
            <a:ext cx="12191999" cy="866635"/>
          </a:xfrm>
          <a:prstGeom prst="rect">
            <a:avLst/>
          </a:prstGeom>
          <a:noFill/>
          <a:ln>
            <a:noFill/>
          </a:ln>
        </p:spPr>
      </p:pic>
      <p:sp>
        <p:nvSpPr>
          <p:cNvPr id="8" name="Google Shape;8;p1"/>
          <p:cNvSpPr txBox="1">
            <a:spLocks noGrp="1"/>
          </p:cNvSpPr>
          <p:nvPr>
            <p:ph type="title"/>
          </p:nvPr>
        </p:nvSpPr>
        <p:spPr>
          <a:xfrm>
            <a:off x="891641" y="283210"/>
            <a:ext cx="7863205" cy="532891"/>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2800" b="1" i="0" u="none" strike="noStrike" cap="none">
                <a:solidFill>
                  <a:srgbClr val="17365D"/>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891641" y="1170178"/>
            <a:ext cx="10351770" cy="304355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solidFill>
                  <a:schemeClr val="dk1"/>
                </a:solidFill>
                <a:latin typeface="Cambria"/>
                <a:ea typeface="Cambria"/>
                <a:cs typeface="Cambria"/>
                <a:sym typeface="Cambria"/>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8522" y="1164716"/>
            <a:ext cx="10635916" cy="456535"/>
          </a:xfrm>
          <a:prstGeom prst="rect">
            <a:avLst/>
          </a:prstGeom>
        </p:spPr>
        <p:txBody>
          <a:bodyPr vert="horz" wrap="square" lIns="0" tIns="12700" rIns="0" bIns="0" rtlCol="0">
            <a:spAutoFit/>
          </a:bodyPr>
          <a:lstStyle/>
          <a:p>
            <a:pPr marL="1737995" marR="5080" indent="-1725930" algn="ctr">
              <a:lnSpc>
                <a:spcPct val="100000"/>
              </a:lnSpc>
              <a:spcBef>
                <a:spcPts val="100"/>
              </a:spcBef>
            </a:pPr>
            <a:r>
              <a:rPr lang="en-US" b="0" dirty="0"/>
              <a:t>Al-Driven Public Health Chatbot for Disease Awareness - </a:t>
            </a:r>
            <a:r>
              <a:rPr lang="en-US" b="0" dirty="0" err="1"/>
              <a:t>Medibot</a:t>
            </a:r>
            <a:endParaRPr sz="2400" dirty="0">
              <a:latin typeface="Cambria"/>
              <a:cs typeface="Cambria"/>
            </a:endParaRPr>
          </a:p>
        </p:txBody>
      </p:sp>
      <p:graphicFrame>
        <p:nvGraphicFramePr>
          <p:cNvPr id="3" name="object 3"/>
          <p:cNvGraphicFramePr>
            <a:graphicFrameLocks noGrp="1"/>
          </p:cNvGraphicFramePr>
          <p:nvPr/>
        </p:nvGraphicFramePr>
        <p:xfrm>
          <a:off x="634847" y="2773500"/>
          <a:ext cx="4855845" cy="1365250"/>
        </p:xfrm>
        <a:graphic>
          <a:graphicData uri="http://schemas.openxmlformats.org/drawingml/2006/table">
            <a:tbl>
              <a:tblPr firstRow="1" bandRow="1">
                <a:tableStyleId>{2D5ABB26-0587-4C30-8999-92F81FD0307C}</a:tableStyleId>
              </a:tblPr>
              <a:tblGrid>
                <a:gridCol w="2205355">
                  <a:extLst>
                    <a:ext uri="{9D8B030D-6E8A-4147-A177-3AD203B41FA5}">
                      <a16:colId xmlns:a16="http://schemas.microsoft.com/office/drawing/2014/main" val="20000"/>
                    </a:ext>
                  </a:extLst>
                </a:gridCol>
                <a:gridCol w="2650490">
                  <a:extLst>
                    <a:ext uri="{9D8B030D-6E8A-4147-A177-3AD203B41FA5}">
                      <a16:colId xmlns:a16="http://schemas.microsoft.com/office/drawing/2014/main" val="20001"/>
                    </a:ext>
                  </a:extLst>
                </a:gridCol>
              </a:tblGrid>
              <a:tr h="316865">
                <a:tc>
                  <a:txBody>
                    <a:bodyPr/>
                    <a:lstStyle/>
                    <a:p>
                      <a:pPr marR="276860" algn="ctr">
                        <a:lnSpc>
                          <a:spcPts val="2055"/>
                        </a:lnSpc>
                      </a:pPr>
                      <a:r>
                        <a:rPr sz="1800" b="1" spc="105" dirty="0">
                          <a:solidFill>
                            <a:srgbClr val="17365D"/>
                          </a:solidFill>
                          <a:latin typeface="Cambria"/>
                          <a:cs typeface="Cambria"/>
                        </a:rPr>
                        <a:t>Roll</a:t>
                      </a:r>
                      <a:r>
                        <a:rPr sz="1800" b="1" spc="215" dirty="0">
                          <a:solidFill>
                            <a:srgbClr val="17365D"/>
                          </a:solidFill>
                          <a:latin typeface="Cambria"/>
                          <a:cs typeface="Cambria"/>
                        </a:rPr>
                        <a:t> </a:t>
                      </a:r>
                      <a:r>
                        <a:rPr sz="1800" b="1" spc="65" dirty="0">
                          <a:solidFill>
                            <a:srgbClr val="17365D"/>
                          </a:solidFill>
                          <a:latin typeface="Cambria"/>
                          <a:cs typeface="Cambria"/>
                        </a:rPr>
                        <a:t>Number</a:t>
                      </a:r>
                      <a:endParaRPr sz="1800">
                        <a:latin typeface="Cambria"/>
                        <a:cs typeface="Cambria"/>
                      </a:endParaRPr>
                    </a:p>
                  </a:txBody>
                  <a:tcPr marL="0" marR="0" marT="0" marB="0"/>
                </a:tc>
                <a:tc>
                  <a:txBody>
                    <a:bodyPr/>
                    <a:lstStyle/>
                    <a:p>
                      <a:pPr marL="280035" algn="ctr">
                        <a:lnSpc>
                          <a:spcPts val="2055"/>
                        </a:lnSpc>
                      </a:pPr>
                      <a:r>
                        <a:rPr sz="1800" b="1" spc="135" dirty="0">
                          <a:solidFill>
                            <a:srgbClr val="17365D"/>
                          </a:solidFill>
                          <a:latin typeface="Cambria"/>
                          <a:cs typeface="Cambria"/>
                        </a:rPr>
                        <a:t>Student</a:t>
                      </a:r>
                      <a:r>
                        <a:rPr sz="1800" b="1" spc="235" dirty="0">
                          <a:solidFill>
                            <a:srgbClr val="17365D"/>
                          </a:solidFill>
                          <a:latin typeface="Cambria"/>
                          <a:cs typeface="Cambria"/>
                        </a:rPr>
                        <a:t> </a:t>
                      </a:r>
                      <a:r>
                        <a:rPr sz="1800" b="1" spc="90" dirty="0">
                          <a:solidFill>
                            <a:srgbClr val="17365D"/>
                          </a:solidFill>
                          <a:latin typeface="Cambria"/>
                          <a:cs typeface="Cambria"/>
                        </a:rPr>
                        <a:t>Name</a:t>
                      </a:r>
                      <a:endParaRPr sz="1800">
                        <a:latin typeface="Cambria"/>
                        <a:cs typeface="Cambria"/>
                      </a:endParaRPr>
                    </a:p>
                  </a:txBody>
                  <a:tcPr marL="0" marR="0" marT="0" marB="0"/>
                </a:tc>
                <a:extLst>
                  <a:ext uri="{0D108BD9-81ED-4DB2-BD59-A6C34878D82A}">
                    <a16:rowId xmlns:a16="http://schemas.microsoft.com/office/drawing/2014/main" val="10000"/>
                  </a:ext>
                </a:extLst>
              </a:tr>
              <a:tr h="365760">
                <a:tc>
                  <a:txBody>
                    <a:bodyPr/>
                    <a:lstStyle/>
                    <a:p>
                      <a:pPr marR="277495" algn="ctr">
                        <a:lnSpc>
                          <a:spcPct val="100000"/>
                        </a:lnSpc>
                        <a:spcBef>
                          <a:spcPts val="280"/>
                        </a:spcBef>
                      </a:pPr>
                      <a:r>
                        <a:rPr sz="1800" b="1" spc="145" dirty="0">
                          <a:latin typeface="Cambria"/>
                          <a:cs typeface="Cambria"/>
                        </a:rPr>
                        <a:t>20221CSG0027</a:t>
                      </a:r>
                      <a:endParaRPr sz="1800">
                        <a:latin typeface="Cambria"/>
                        <a:cs typeface="Cambria"/>
                      </a:endParaRPr>
                    </a:p>
                  </a:txBody>
                  <a:tcPr marL="0" marR="0" marT="35560" marB="0"/>
                </a:tc>
                <a:tc>
                  <a:txBody>
                    <a:bodyPr/>
                    <a:lstStyle/>
                    <a:p>
                      <a:pPr marL="280035" algn="ctr">
                        <a:lnSpc>
                          <a:spcPct val="100000"/>
                        </a:lnSpc>
                        <a:spcBef>
                          <a:spcPts val="280"/>
                        </a:spcBef>
                      </a:pPr>
                      <a:r>
                        <a:rPr sz="1800" b="1" spc="130" dirty="0">
                          <a:latin typeface="Cambria"/>
                          <a:cs typeface="Cambria"/>
                        </a:rPr>
                        <a:t>SUZAIN</a:t>
                      </a:r>
                      <a:r>
                        <a:rPr sz="1800" b="1" spc="229" dirty="0">
                          <a:latin typeface="Cambria"/>
                          <a:cs typeface="Cambria"/>
                        </a:rPr>
                        <a:t> </a:t>
                      </a:r>
                      <a:r>
                        <a:rPr sz="1800" b="1" spc="130" dirty="0">
                          <a:latin typeface="Cambria"/>
                          <a:cs typeface="Cambria"/>
                        </a:rPr>
                        <a:t>PATEL</a:t>
                      </a:r>
                      <a:endParaRPr sz="1800">
                        <a:latin typeface="Cambria"/>
                        <a:cs typeface="Cambria"/>
                      </a:endParaRPr>
                    </a:p>
                  </a:txBody>
                  <a:tcPr marL="0" marR="0" marT="35560" marB="0"/>
                </a:tc>
                <a:extLst>
                  <a:ext uri="{0D108BD9-81ED-4DB2-BD59-A6C34878D82A}">
                    <a16:rowId xmlns:a16="http://schemas.microsoft.com/office/drawing/2014/main" val="10001"/>
                  </a:ext>
                </a:extLst>
              </a:tr>
              <a:tr h="365760">
                <a:tc>
                  <a:txBody>
                    <a:bodyPr/>
                    <a:lstStyle/>
                    <a:p>
                      <a:pPr marR="274320" algn="ctr">
                        <a:lnSpc>
                          <a:spcPct val="100000"/>
                        </a:lnSpc>
                        <a:spcBef>
                          <a:spcPts val="280"/>
                        </a:spcBef>
                      </a:pPr>
                      <a:r>
                        <a:rPr sz="1800" b="1" spc="145" dirty="0">
                          <a:latin typeface="Cambria"/>
                          <a:cs typeface="Cambria"/>
                        </a:rPr>
                        <a:t>20221CSG0055</a:t>
                      </a:r>
                      <a:endParaRPr sz="1800">
                        <a:latin typeface="Cambria"/>
                        <a:cs typeface="Cambria"/>
                      </a:endParaRPr>
                    </a:p>
                  </a:txBody>
                  <a:tcPr marL="0" marR="0" marT="35560" marB="0"/>
                </a:tc>
                <a:tc>
                  <a:txBody>
                    <a:bodyPr/>
                    <a:lstStyle/>
                    <a:p>
                      <a:pPr marL="278765" algn="ctr">
                        <a:lnSpc>
                          <a:spcPct val="100000"/>
                        </a:lnSpc>
                        <a:spcBef>
                          <a:spcPts val="280"/>
                        </a:spcBef>
                      </a:pPr>
                      <a:r>
                        <a:rPr sz="1800" b="1" spc="145" dirty="0">
                          <a:latin typeface="Cambria"/>
                          <a:cs typeface="Cambria"/>
                        </a:rPr>
                        <a:t>ZAKIR</a:t>
                      </a:r>
                      <a:r>
                        <a:rPr sz="1800" b="1" spc="220" dirty="0">
                          <a:latin typeface="Cambria"/>
                          <a:cs typeface="Cambria"/>
                        </a:rPr>
                        <a:t> </a:t>
                      </a:r>
                      <a:r>
                        <a:rPr sz="1800" b="1" spc="120" dirty="0">
                          <a:latin typeface="Cambria"/>
                          <a:cs typeface="Cambria"/>
                        </a:rPr>
                        <a:t>AHMAD</a:t>
                      </a:r>
                      <a:endParaRPr sz="1800">
                        <a:latin typeface="Cambria"/>
                        <a:cs typeface="Cambria"/>
                      </a:endParaRPr>
                    </a:p>
                  </a:txBody>
                  <a:tcPr marL="0" marR="0" marT="35560" marB="0"/>
                </a:tc>
                <a:extLst>
                  <a:ext uri="{0D108BD9-81ED-4DB2-BD59-A6C34878D82A}">
                    <a16:rowId xmlns:a16="http://schemas.microsoft.com/office/drawing/2014/main" val="10002"/>
                  </a:ext>
                </a:extLst>
              </a:tr>
              <a:tr h="316865">
                <a:tc>
                  <a:txBody>
                    <a:bodyPr/>
                    <a:lstStyle/>
                    <a:p>
                      <a:pPr marR="274320" algn="ctr">
                        <a:lnSpc>
                          <a:spcPts val="2115"/>
                        </a:lnSpc>
                        <a:spcBef>
                          <a:spcPts val="275"/>
                        </a:spcBef>
                      </a:pPr>
                      <a:r>
                        <a:rPr sz="1800" b="1" spc="145" dirty="0">
                          <a:latin typeface="Cambria"/>
                          <a:cs typeface="Cambria"/>
                        </a:rPr>
                        <a:t>20221CSG0022</a:t>
                      </a:r>
                      <a:endParaRPr sz="1800">
                        <a:latin typeface="Cambria"/>
                        <a:cs typeface="Cambria"/>
                      </a:endParaRPr>
                    </a:p>
                  </a:txBody>
                  <a:tcPr marL="0" marR="0" marT="34925" marB="0"/>
                </a:tc>
                <a:tc>
                  <a:txBody>
                    <a:bodyPr/>
                    <a:lstStyle/>
                    <a:p>
                      <a:pPr marL="281940" algn="ctr">
                        <a:lnSpc>
                          <a:spcPts val="2115"/>
                        </a:lnSpc>
                        <a:spcBef>
                          <a:spcPts val="275"/>
                        </a:spcBef>
                      </a:pPr>
                      <a:r>
                        <a:rPr sz="1800" b="1" spc="130" dirty="0">
                          <a:latin typeface="Cambria"/>
                          <a:cs typeface="Cambria"/>
                        </a:rPr>
                        <a:t>TARUN</a:t>
                      </a:r>
                      <a:r>
                        <a:rPr sz="1800" b="1" spc="235" dirty="0">
                          <a:latin typeface="Cambria"/>
                          <a:cs typeface="Cambria"/>
                        </a:rPr>
                        <a:t> </a:t>
                      </a:r>
                      <a:r>
                        <a:rPr sz="1800" b="1" spc="110" dirty="0">
                          <a:latin typeface="Cambria"/>
                          <a:cs typeface="Cambria"/>
                        </a:rPr>
                        <a:t>PANDIAN</a:t>
                      </a:r>
                      <a:r>
                        <a:rPr sz="1800" b="1" spc="245" dirty="0">
                          <a:latin typeface="Cambria"/>
                          <a:cs typeface="Cambria"/>
                        </a:rPr>
                        <a:t> </a:t>
                      </a:r>
                      <a:r>
                        <a:rPr sz="1800" b="1" spc="100" dirty="0">
                          <a:latin typeface="Cambria"/>
                          <a:cs typeface="Cambria"/>
                        </a:rPr>
                        <a:t>M</a:t>
                      </a:r>
                      <a:endParaRPr sz="1800">
                        <a:latin typeface="Cambria"/>
                        <a:cs typeface="Cambria"/>
                      </a:endParaRPr>
                    </a:p>
                  </a:txBody>
                  <a:tcPr marL="0" marR="0" marT="34925" marB="0"/>
                </a:tc>
                <a:extLst>
                  <a:ext uri="{0D108BD9-81ED-4DB2-BD59-A6C34878D82A}">
                    <a16:rowId xmlns:a16="http://schemas.microsoft.com/office/drawing/2014/main" val="10003"/>
                  </a:ext>
                </a:extLst>
              </a:tr>
            </a:tbl>
          </a:graphicData>
        </a:graphic>
      </p:graphicFrame>
      <p:sp>
        <p:nvSpPr>
          <p:cNvPr id="4" name="object 4"/>
          <p:cNvSpPr txBox="1"/>
          <p:nvPr/>
        </p:nvSpPr>
        <p:spPr>
          <a:xfrm>
            <a:off x="631951" y="2178177"/>
            <a:ext cx="10252710" cy="3555460"/>
          </a:xfrm>
          <a:prstGeom prst="rect">
            <a:avLst/>
          </a:prstGeom>
        </p:spPr>
        <p:txBody>
          <a:bodyPr vert="horz" wrap="square" lIns="0" tIns="12700" rIns="0" bIns="0" rtlCol="0">
            <a:spAutoFit/>
          </a:bodyPr>
          <a:lstStyle/>
          <a:p>
            <a:pPr marL="95885">
              <a:lnSpc>
                <a:spcPct val="100000"/>
              </a:lnSpc>
              <a:spcBef>
                <a:spcPts val="100"/>
              </a:spcBef>
              <a:tabLst>
                <a:tab pos="6921500" algn="l"/>
              </a:tabLst>
            </a:pPr>
            <a:r>
              <a:rPr sz="2700" b="1" baseline="1543" dirty="0">
                <a:solidFill>
                  <a:srgbClr val="17365D"/>
                </a:solidFill>
                <a:latin typeface="Cambria"/>
                <a:cs typeface="Cambria"/>
              </a:rPr>
              <a:t>Batch</a:t>
            </a:r>
            <a:r>
              <a:rPr sz="2700" b="1" spc="-30" baseline="1543" dirty="0">
                <a:solidFill>
                  <a:srgbClr val="17365D"/>
                </a:solidFill>
                <a:latin typeface="Cambria"/>
                <a:cs typeface="Cambria"/>
              </a:rPr>
              <a:t> </a:t>
            </a:r>
            <a:r>
              <a:rPr sz="2700" b="1" baseline="1543" dirty="0">
                <a:solidFill>
                  <a:srgbClr val="17365D"/>
                </a:solidFill>
                <a:latin typeface="Cambria"/>
                <a:cs typeface="Cambria"/>
              </a:rPr>
              <a:t>Number:</a:t>
            </a:r>
            <a:r>
              <a:rPr sz="2700" b="1" spc="-97" baseline="1543" dirty="0">
                <a:solidFill>
                  <a:srgbClr val="17365D"/>
                </a:solidFill>
                <a:latin typeface="Cambria"/>
                <a:cs typeface="Cambria"/>
              </a:rPr>
              <a:t> </a:t>
            </a:r>
            <a:r>
              <a:rPr sz="2700" b="1" spc="-15" baseline="1543" dirty="0">
                <a:solidFill>
                  <a:srgbClr val="17365D"/>
                </a:solidFill>
                <a:latin typeface="Cambria"/>
                <a:cs typeface="Cambria"/>
              </a:rPr>
              <a:t>CSG_</a:t>
            </a:r>
            <a:r>
              <a:rPr lang="en-US" sz="2700" b="1" spc="-15" baseline="1543" dirty="0">
                <a:solidFill>
                  <a:srgbClr val="17365D"/>
                </a:solidFill>
                <a:latin typeface="Cambria"/>
                <a:cs typeface="Cambria"/>
              </a:rPr>
              <a:t>16</a:t>
            </a:r>
            <a:r>
              <a:rPr sz="2700" b="1" baseline="1543" dirty="0">
                <a:solidFill>
                  <a:srgbClr val="17365D"/>
                </a:solidFill>
                <a:latin typeface="Cambria"/>
                <a:cs typeface="Cambria"/>
              </a:rPr>
              <a:t>	</a:t>
            </a:r>
            <a:r>
              <a:rPr sz="1800" b="1" dirty="0">
                <a:solidFill>
                  <a:srgbClr val="17365D"/>
                </a:solidFill>
                <a:latin typeface="Cambria"/>
                <a:cs typeface="Cambria"/>
              </a:rPr>
              <a:t>Under</a:t>
            </a:r>
            <a:r>
              <a:rPr sz="1800" b="1" spc="-45" dirty="0">
                <a:solidFill>
                  <a:srgbClr val="17365D"/>
                </a:solidFill>
                <a:latin typeface="Cambria"/>
                <a:cs typeface="Cambria"/>
              </a:rPr>
              <a:t> </a:t>
            </a:r>
            <a:r>
              <a:rPr sz="1800" b="1" dirty="0">
                <a:solidFill>
                  <a:srgbClr val="17365D"/>
                </a:solidFill>
                <a:latin typeface="Cambria"/>
                <a:cs typeface="Cambria"/>
              </a:rPr>
              <a:t>the</a:t>
            </a:r>
            <a:r>
              <a:rPr sz="1800" b="1" spc="-20" dirty="0">
                <a:solidFill>
                  <a:srgbClr val="17365D"/>
                </a:solidFill>
                <a:latin typeface="Cambria"/>
                <a:cs typeface="Cambria"/>
              </a:rPr>
              <a:t> </a:t>
            </a:r>
            <a:r>
              <a:rPr sz="1800" b="1" dirty="0">
                <a:solidFill>
                  <a:srgbClr val="17365D"/>
                </a:solidFill>
                <a:latin typeface="Cambria"/>
                <a:cs typeface="Cambria"/>
              </a:rPr>
              <a:t>Supervision</a:t>
            </a:r>
            <a:r>
              <a:rPr sz="1800" b="1" spc="-55" dirty="0">
                <a:solidFill>
                  <a:srgbClr val="17365D"/>
                </a:solidFill>
                <a:latin typeface="Cambria"/>
                <a:cs typeface="Cambria"/>
              </a:rPr>
              <a:t> </a:t>
            </a:r>
            <a:r>
              <a:rPr sz="1800" b="1" spc="-25" dirty="0">
                <a:solidFill>
                  <a:srgbClr val="17365D"/>
                </a:solidFill>
                <a:latin typeface="Cambria"/>
                <a:cs typeface="Cambria"/>
              </a:rPr>
              <a:t>of,</a:t>
            </a:r>
            <a:endParaRPr sz="1800" dirty="0">
              <a:latin typeface="Cambria"/>
              <a:cs typeface="Cambria"/>
            </a:endParaRPr>
          </a:p>
          <a:p>
            <a:pPr>
              <a:lnSpc>
                <a:spcPct val="100000"/>
              </a:lnSpc>
              <a:spcBef>
                <a:spcPts val="350"/>
              </a:spcBef>
            </a:pPr>
            <a:endParaRPr sz="1800" dirty="0">
              <a:latin typeface="Cambria"/>
              <a:cs typeface="Cambria"/>
            </a:endParaRPr>
          </a:p>
          <a:p>
            <a:pPr marL="5584825">
              <a:lnSpc>
                <a:spcPct val="100000"/>
              </a:lnSpc>
            </a:pPr>
            <a:r>
              <a:rPr sz="1800" b="1" dirty="0">
                <a:solidFill>
                  <a:srgbClr val="17365D"/>
                </a:solidFill>
                <a:latin typeface="Trebuchet MS"/>
                <a:cs typeface="Trebuchet MS"/>
              </a:rPr>
              <a:t>M</a:t>
            </a:r>
            <a:r>
              <a:rPr lang="en-US" sz="1800" b="1" dirty="0">
                <a:solidFill>
                  <a:srgbClr val="17365D"/>
                </a:solidFill>
                <a:latin typeface="Trebuchet MS"/>
                <a:cs typeface="Trebuchet MS"/>
              </a:rPr>
              <a:t>r. Asif Ahmad Najar</a:t>
            </a:r>
            <a:endParaRPr sz="1800" dirty="0">
              <a:latin typeface="Trebuchet MS"/>
              <a:cs typeface="Trebuchet MS"/>
            </a:endParaRPr>
          </a:p>
          <a:p>
            <a:pPr marL="5584825">
              <a:lnSpc>
                <a:spcPct val="100000"/>
              </a:lnSpc>
              <a:spcBef>
                <a:spcPts val="395"/>
              </a:spcBef>
            </a:pPr>
            <a:r>
              <a:rPr lang="en-IN" sz="1800" b="1" dirty="0">
                <a:solidFill>
                  <a:srgbClr val="17365D"/>
                </a:solidFill>
                <a:latin typeface="Cambria"/>
                <a:cs typeface="Cambria"/>
              </a:rPr>
              <a:t>Assistant</a:t>
            </a:r>
            <a:r>
              <a:rPr sz="1800" b="1" spc="-50" dirty="0">
                <a:solidFill>
                  <a:srgbClr val="17365D"/>
                </a:solidFill>
                <a:latin typeface="Cambria"/>
                <a:cs typeface="Cambria"/>
              </a:rPr>
              <a:t> </a:t>
            </a:r>
            <a:r>
              <a:rPr sz="1800" b="1" spc="-10" dirty="0">
                <a:solidFill>
                  <a:srgbClr val="17365D"/>
                </a:solidFill>
                <a:latin typeface="Cambria"/>
                <a:cs typeface="Cambria"/>
              </a:rPr>
              <a:t>Professor</a:t>
            </a:r>
            <a:endParaRPr sz="1800" dirty="0">
              <a:latin typeface="Cambria"/>
              <a:cs typeface="Cambria"/>
            </a:endParaRPr>
          </a:p>
          <a:p>
            <a:pPr marL="5584825" marR="5080">
              <a:lnSpc>
                <a:spcPct val="113900"/>
              </a:lnSpc>
            </a:pPr>
            <a:r>
              <a:rPr sz="1800" b="1" dirty="0">
                <a:solidFill>
                  <a:srgbClr val="17365D"/>
                </a:solidFill>
                <a:latin typeface="Cambria"/>
                <a:cs typeface="Cambria"/>
              </a:rPr>
              <a:t>School</a:t>
            </a:r>
            <a:r>
              <a:rPr sz="1800" b="1" spc="-50" dirty="0">
                <a:solidFill>
                  <a:srgbClr val="17365D"/>
                </a:solidFill>
                <a:latin typeface="Cambria"/>
                <a:cs typeface="Cambria"/>
              </a:rPr>
              <a:t> </a:t>
            </a:r>
            <a:r>
              <a:rPr sz="1800" b="1" dirty="0">
                <a:solidFill>
                  <a:srgbClr val="17365D"/>
                </a:solidFill>
                <a:latin typeface="Cambria"/>
                <a:cs typeface="Cambria"/>
              </a:rPr>
              <a:t>of</a:t>
            </a:r>
            <a:r>
              <a:rPr sz="1800" b="1" spc="-45" dirty="0">
                <a:solidFill>
                  <a:srgbClr val="17365D"/>
                </a:solidFill>
                <a:latin typeface="Cambria"/>
                <a:cs typeface="Cambria"/>
              </a:rPr>
              <a:t> </a:t>
            </a:r>
            <a:r>
              <a:rPr sz="1800" b="1" dirty="0">
                <a:solidFill>
                  <a:srgbClr val="17365D"/>
                </a:solidFill>
                <a:latin typeface="Cambria"/>
                <a:cs typeface="Cambria"/>
              </a:rPr>
              <a:t>Computer</a:t>
            </a:r>
            <a:r>
              <a:rPr sz="1800" b="1" spc="-70" dirty="0">
                <a:solidFill>
                  <a:srgbClr val="17365D"/>
                </a:solidFill>
                <a:latin typeface="Cambria"/>
                <a:cs typeface="Cambria"/>
              </a:rPr>
              <a:t> </a:t>
            </a:r>
            <a:r>
              <a:rPr sz="1800" b="1" dirty="0">
                <a:solidFill>
                  <a:srgbClr val="17365D"/>
                </a:solidFill>
                <a:latin typeface="Cambria"/>
                <a:cs typeface="Cambria"/>
              </a:rPr>
              <a:t>Science</a:t>
            </a:r>
            <a:r>
              <a:rPr sz="1800" b="1" spc="-50" dirty="0">
                <a:solidFill>
                  <a:srgbClr val="17365D"/>
                </a:solidFill>
                <a:latin typeface="Cambria"/>
                <a:cs typeface="Cambria"/>
              </a:rPr>
              <a:t> </a:t>
            </a:r>
            <a:r>
              <a:rPr sz="1800" b="1" dirty="0">
                <a:solidFill>
                  <a:srgbClr val="17365D"/>
                </a:solidFill>
                <a:latin typeface="Cambria"/>
                <a:cs typeface="Cambria"/>
              </a:rPr>
              <a:t>and</a:t>
            </a:r>
            <a:r>
              <a:rPr sz="1800" b="1" spc="-55" dirty="0">
                <a:solidFill>
                  <a:srgbClr val="17365D"/>
                </a:solidFill>
                <a:latin typeface="Cambria"/>
                <a:cs typeface="Cambria"/>
              </a:rPr>
              <a:t> </a:t>
            </a:r>
            <a:r>
              <a:rPr sz="1800" b="1" spc="-10" dirty="0">
                <a:solidFill>
                  <a:srgbClr val="17365D"/>
                </a:solidFill>
                <a:latin typeface="Cambria"/>
                <a:cs typeface="Cambria"/>
              </a:rPr>
              <a:t>Engineering </a:t>
            </a:r>
            <a:r>
              <a:rPr sz="1800" b="1" dirty="0">
                <a:solidFill>
                  <a:srgbClr val="17365D"/>
                </a:solidFill>
                <a:latin typeface="Cambria"/>
                <a:cs typeface="Cambria"/>
              </a:rPr>
              <a:t>Presidency</a:t>
            </a:r>
            <a:r>
              <a:rPr sz="1800" b="1" spc="-75" dirty="0">
                <a:solidFill>
                  <a:srgbClr val="17365D"/>
                </a:solidFill>
                <a:latin typeface="Cambria"/>
                <a:cs typeface="Cambria"/>
              </a:rPr>
              <a:t> </a:t>
            </a:r>
            <a:r>
              <a:rPr sz="1800" b="1" spc="-10" dirty="0">
                <a:solidFill>
                  <a:srgbClr val="17365D"/>
                </a:solidFill>
                <a:latin typeface="Cambria"/>
                <a:cs typeface="Cambria"/>
              </a:rPr>
              <a:t>University</a:t>
            </a:r>
            <a:endParaRPr sz="1800" dirty="0">
              <a:latin typeface="Cambria"/>
              <a:cs typeface="Cambria"/>
            </a:endParaRPr>
          </a:p>
          <a:p>
            <a:pPr>
              <a:lnSpc>
                <a:spcPct val="100000"/>
              </a:lnSpc>
            </a:pPr>
            <a:endParaRPr sz="1800" dirty="0">
              <a:latin typeface="Cambria"/>
              <a:cs typeface="Cambria"/>
            </a:endParaRPr>
          </a:p>
          <a:p>
            <a:pPr>
              <a:lnSpc>
                <a:spcPct val="100000"/>
              </a:lnSpc>
              <a:spcBef>
                <a:spcPts val="290"/>
              </a:spcBef>
            </a:pPr>
            <a:endParaRPr sz="1800" dirty="0">
              <a:latin typeface="Cambria"/>
              <a:cs typeface="Cambria"/>
            </a:endParaRPr>
          </a:p>
          <a:p>
            <a:pPr marL="12700" marR="7225030">
              <a:lnSpc>
                <a:spcPct val="100000"/>
              </a:lnSpc>
            </a:pPr>
            <a:r>
              <a:rPr sz="1800" b="1" dirty="0">
                <a:solidFill>
                  <a:srgbClr val="4F81BC"/>
                </a:solidFill>
                <a:latin typeface="Cambria"/>
                <a:cs typeface="Cambria"/>
              </a:rPr>
              <a:t>Name</a:t>
            </a:r>
            <a:r>
              <a:rPr sz="1800" b="1" spc="-25" dirty="0">
                <a:solidFill>
                  <a:srgbClr val="4F81BC"/>
                </a:solidFill>
                <a:latin typeface="Cambria"/>
                <a:cs typeface="Cambria"/>
              </a:rPr>
              <a:t> </a:t>
            </a:r>
            <a:r>
              <a:rPr sz="1800" b="1" dirty="0">
                <a:solidFill>
                  <a:srgbClr val="4F81BC"/>
                </a:solidFill>
                <a:latin typeface="Cambria"/>
                <a:cs typeface="Cambria"/>
              </a:rPr>
              <a:t>of</a:t>
            </a:r>
            <a:r>
              <a:rPr sz="1800" b="1" spc="-10" dirty="0">
                <a:solidFill>
                  <a:srgbClr val="4F81BC"/>
                </a:solidFill>
                <a:latin typeface="Cambria"/>
                <a:cs typeface="Cambria"/>
              </a:rPr>
              <a:t> </a:t>
            </a:r>
            <a:r>
              <a:rPr sz="1800" b="1" dirty="0">
                <a:solidFill>
                  <a:srgbClr val="4F81BC"/>
                </a:solidFill>
                <a:latin typeface="Cambria"/>
                <a:cs typeface="Cambria"/>
              </a:rPr>
              <a:t>the</a:t>
            </a:r>
            <a:r>
              <a:rPr sz="1800" b="1" spc="-25" dirty="0">
                <a:solidFill>
                  <a:srgbClr val="4F81BC"/>
                </a:solidFill>
                <a:latin typeface="Cambria"/>
                <a:cs typeface="Cambria"/>
              </a:rPr>
              <a:t> </a:t>
            </a:r>
            <a:r>
              <a:rPr sz="1800" b="1" dirty="0">
                <a:solidFill>
                  <a:srgbClr val="4F81BC"/>
                </a:solidFill>
                <a:latin typeface="Cambria"/>
                <a:cs typeface="Cambria"/>
              </a:rPr>
              <a:t>Program:</a:t>
            </a:r>
            <a:r>
              <a:rPr sz="1800" b="1" spc="-20" dirty="0">
                <a:solidFill>
                  <a:srgbClr val="4F81BC"/>
                </a:solidFill>
                <a:latin typeface="Cambria"/>
                <a:cs typeface="Cambria"/>
              </a:rPr>
              <a:t> </a:t>
            </a:r>
            <a:r>
              <a:rPr sz="1800" b="1" spc="-25" dirty="0">
                <a:solidFill>
                  <a:srgbClr val="0C0C0C"/>
                </a:solidFill>
                <a:latin typeface="Cambria"/>
                <a:cs typeface="Cambria"/>
              </a:rPr>
              <a:t>CSG </a:t>
            </a:r>
            <a:r>
              <a:rPr sz="1800" b="1" dirty="0">
                <a:solidFill>
                  <a:srgbClr val="4F81BC"/>
                </a:solidFill>
                <a:latin typeface="Cambria"/>
                <a:cs typeface="Cambria"/>
              </a:rPr>
              <a:t>Name</a:t>
            </a:r>
            <a:r>
              <a:rPr sz="1800" b="1" spc="-20" dirty="0">
                <a:solidFill>
                  <a:srgbClr val="4F81BC"/>
                </a:solidFill>
                <a:latin typeface="Cambria"/>
                <a:cs typeface="Cambria"/>
              </a:rPr>
              <a:t> </a:t>
            </a:r>
            <a:r>
              <a:rPr sz="1800" b="1" dirty="0">
                <a:solidFill>
                  <a:srgbClr val="4F81BC"/>
                </a:solidFill>
                <a:latin typeface="Cambria"/>
                <a:cs typeface="Cambria"/>
              </a:rPr>
              <a:t>of the</a:t>
            </a:r>
            <a:r>
              <a:rPr sz="1800" b="1" spc="-20" dirty="0">
                <a:solidFill>
                  <a:srgbClr val="4F81BC"/>
                </a:solidFill>
                <a:latin typeface="Cambria"/>
                <a:cs typeface="Cambria"/>
              </a:rPr>
              <a:t> </a:t>
            </a:r>
            <a:r>
              <a:rPr sz="1800" b="1" dirty="0">
                <a:solidFill>
                  <a:srgbClr val="4F81BC"/>
                </a:solidFill>
                <a:latin typeface="Cambria"/>
                <a:cs typeface="Cambria"/>
              </a:rPr>
              <a:t>HoD:</a:t>
            </a:r>
            <a:r>
              <a:rPr sz="1800" b="1" spc="-5" dirty="0">
                <a:solidFill>
                  <a:srgbClr val="4F81BC"/>
                </a:solidFill>
                <a:latin typeface="Cambria"/>
                <a:cs typeface="Cambria"/>
              </a:rPr>
              <a:t> </a:t>
            </a:r>
            <a:r>
              <a:rPr sz="1800" b="1" dirty="0">
                <a:latin typeface="Cambria"/>
                <a:cs typeface="Cambria"/>
              </a:rPr>
              <a:t>Dr</a:t>
            </a:r>
            <a:r>
              <a:rPr sz="1800" b="1" spc="-25" dirty="0">
                <a:latin typeface="Cambria"/>
                <a:cs typeface="Cambria"/>
              </a:rPr>
              <a:t> </a:t>
            </a:r>
            <a:r>
              <a:rPr sz="1800" b="1" dirty="0">
                <a:latin typeface="Cambria"/>
                <a:cs typeface="Cambria"/>
              </a:rPr>
              <a:t>.</a:t>
            </a:r>
            <a:r>
              <a:rPr sz="1800" b="1" spc="-10" dirty="0">
                <a:latin typeface="Cambria"/>
                <a:cs typeface="Cambria"/>
              </a:rPr>
              <a:t> Pallavi</a:t>
            </a:r>
            <a:endParaRPr sz="1800" dirty="0">
              <a:latin typeface="Cambria"/>
              <a:cs typeface="Cambria"/>
            </a:endParaRPr>
          </a:p>
          <a:p>
            <a:pPr marL="12700">
              <a:lnSpc>
                <a:spcPct val="100000"/>
              </a:lnSpc>
            </a:pPr>
            <a:r>
              <a:rPr sz="1800" b="1" dirty="0">
                <a:solidFill>
                  <a:srgbClr val="4F81BC"/>
                </a:solidFill>
                <a:latin typeface="Cambria"/>
                <a:cs typeface="Cambria"/>
              </a:rPr>
              <a:t>Name</a:t>
            </a:r>
            <a:r>
              <a:rPr sz="1800" b="1" spc="-40" dirty="0">
                <a:solidFill>
                  <a:srgbClr val="4F81BC"/>
                </a:solidFill>
                <a:latin typeface="Cambria"/>
                <a:cs typeface="Cambria"/>
              </a:rPr>
              <a:t> </a:t>
            </a:r>
            <a:r>
              <a:rPr sz="1800" b="1" dirty="0">
                <a:solidFill>
                  <a:srgbClr val="4F81BC"/>
                </a:solidFill>
                <a:latin typeface="Cambria"/>
                <a:cs typeface="Cambria"/>
              </a:rPr>
              <a:t>of</a:t>
            </a:r>
            <a:r>
              <a:rPr sz="1800" b="1" spc="-20" dirty="0">
                <a:solidFill>
                  <a:srgbClr val="4F81BC"/>
                </a:solidFill>
                <a:latin typeface="Cambria"/>
                <a:cs typeface="Cambria"/>
              </a:rPr>
              <a:t> </a:t>
            </a:r>
            <a:r>
              <a:rPr sz="1800" b="1" dirty="0">
                <a:solidFill>
                  <a:srgbClr val="4F81BC"/>
                </a:solidFill>
                <a:latin typeface="Cambria"/>
                <a:cs typeface="Cambria"/>
              </a:rPr>
              <a:t>the</a:t>
            </a:r>
            <a:r>
              <a:rPr sz="1800" b="1" spc="-40" dirty="0">
                <a:solidFill>
                  <a:srgbClr val="4F81BC"/>
                </a:solidFill>
                <a:latin typeface="Cambria"/>
                <a:cs typeface="Cambria"/>
              </a:rPr>
              <a:t> </a:t>
            </a:r>
            <a:r>
              <a:rPr sz="1800" b="1" dirty="0">
                <a:solidFill>
                  <a:srgbClr val="4F81BC"/>
                </a:solidFill>
                <a:latin typeface="Cambria"/>
                <a:cs typeface="Cambria"/>
              </a:rPr>
              <a:t>Program</a:t>
            </a:r>
            <a:r>
              <a:rPr sz="1800" b="1" spc="-35" dirty="0">
                <a:solidFill>
                  <a:srgbClr val="4F81BC"/>
                </a:solidFill>
                <a:latin typeface="Cambria"/>
                <a:cs typeface="Cambria"/>
              </a:rPr>
              <a:t> </a:t>
            </a:r>
            <a:r>
              <a:rPr sz="1800" b="1" dirty="0">
                <a:solidFill>
                  <a:srgbClr val="4F81BC"/>
                </a:solidFill>
                <a:latin typeface="Cambria"/>
                <a:cs typeface="Cambria"/>
              </a:rPr>
              <a:t>Project</a:t>
            </a:r>
            <a:r>
              <a:rPr sz="1800" b="1" spc="-20" dirty="0">
                <a:solidFill>
                  <a:srgbClr val="4F81BC"/>
                </a:solidFill>
                <a:latin typeface="Cambria"/>
                <a:cs typeface="Cambria"/>
              </a:rPr>
              <a:t> </a:t>
            </a:r>
            <a:r>
              <a:rPr sz="1800" b="1" dirty="0">
                <a:solidFill>
                  <a:srgbClr val="4F81BC"/>
                </a:solidFill>
                <a:latin typeface="Cambria"/>
                <a:cs typeface="Cambria"/>
              </a:rPr>
              <a:t>Coordinator:</a:t>
            </a:r>
            <a:r>
              <a:rPr sz="1800" b="1" spc="-15" dirty="0">
                <a:solidFill>
                  <a:srgbClr val="4F81BC"/>
                </a:solidFill>
                <a:latin typeface="Cambria"/>
                <a:cs typeface="Cambria"/>
              </a:rPr>
              <a:t> </a:t>
            </a:r>
            <a:r>
              <a:rPr sz="1800" b="1" dirty="0">
                <a:latin typeface="Cambria"/>
                <a:cs typeface="Cambria"/>
              </a:rPr>
              <a:t>Ms</a:t>
            </a:r>
            <a:r>
              <a:rPr sz="1800" b="1" spc="-30" dirty="0">
                <a:latin typeface="Cambria"/>
                <a:cs typeface="Cambria"/>
              </a:rPr>
              <a:t> </a:t>
            </a:r>
            <a:r>
              <a:rPr sz="1800" b="1" dirty="0">
                <a:latin typeface="Cambria"/>
                <a:cs typeface="Cambria"/>
              </a:rPr>
              <a:t>Benitha</a:t>
            </a:r>
            <a:r>
              <a:rPr sz="1800" b="1" spc="-45" dirty="0">
                <a:latin typeface="Cambria"/>
                <a:cs typeface="Cambria"/>
              </a:rPr>
              <a:t> </a:t>
            </a:r>
            <a:r>
              <a:rPr sz="1800" b="1" dirty="0">
                <a:latin typeface="Cambria"/>
                <a:cs typeface="Cambria"/>
              </a:rPr>
              <a:t>Christinal</a:t>
            </a:r>
            <a:r>
              <a:rPr sz="1800" b="1" spc="-50" dirty="0">
                <a:latin typeface="Cambria"/>
                <a:cs typeface="Cambria"/>
              </a:rPr>
              <a:t> J</a:t>
            </a:r>
            <a:endParaRPr sz="1800" dirty="0">
              <a:latin typeface="Cambria"/>
              <a:cs typeface="Cambria"/>
            </a:endParaRPr>
          </a:p>
          <a:p>
            <a:pPr marL="12700">
              <a:lnSpc>
                <a:spcPct val="100000"/>
              </a:lnSpc>
              <a:spcBef>
                <a:spcPts val="5"/>
              </a:spcBef>
            </a:pPr>
            <a:r>
              <a:rPr sz="1800" b="1" dirty="0">
                <a:solidFill>
                  <a:srgbClr val="4F81BC"/>
                </a:solidFill>
                <a:latin typeface="Cambria"/>
                <a:cs typeface="Cambria"/>
              </a:rPr>
              <a:t>Name</a:t>
            </a:r>
            <a:r>
              <a:rPr sz="1800" b="1" spc="-35" dirty="0">
                <a:solidFill>
                  <a:srgbClr val="4F81BC"/>
                </a:solidFill>
                <a:latin typeface="Cambria"/>
                <a:cs typeface="Cambria"/>
              </a:rPr>
              <a:t> </a:t>
            </a:r>
            <a:r>
              <a:rPr sz="1800" b="1" dirty="0">
                <a:solidFill>
                  <a:srgbClr val="4F81BC"/>
                </a:solidFill>
                <a:latin typeface="Cambria"/>
                <a:cs typeface="Cambria"/>
              </a:rPr>
              <a:t>of</a:t>
            </a:r>
            <a:r>
              <a:rPr sz="1800" b="1" spc="-20" dirty="0">
                <a:solidFill>
                  <a:srgbClr val="4F81BC"/>
                </a:solidFill>
                <a:latin typeface="Cambria"/>
                <a:cs typeface="Cambria"/>
              </a:rPr>
              <a:t> </a:t>
            </a:r>
            <a:r>
              <a:rPr sz="1800" b="1" dirty="0">
                <a:solidFill>
                  <a:srgbClr val="4F81BC"/>
                </a:solidFill>
                <a:latin typeface="Cambria"/>
                <a:cs typeface="Cambria"/>
              </a:rPr>
              <a:t>the</a:t>
            </a:r>
            <a:r>
              <a:rPr sz="1800" b="1" spc="-30" dirty="0">
                <a:solidFill>
                  <a:srgbClr val="4F81BC"/>
                </a:solidFill>
                <a:latin typeface="Cambria"/>
                <a:cs typeface="Cambria"/>
              </a:rPr>
              <a:t> </a:t>
            </a:r>
            <a:r>
              <a:rPr sz="1800" b="1" dirty="0">
                <a:solidFill>
                  <a:srgbClr val="4F81BC"/>
                </a:solidFill>
                <a:latin typeface="Cambria"/>
                <a:cs typeface="Cambria"/>
              </a:rPr>
              <a:t>School</a:t>
            </a:r>
            <a:r>
              <a:rPr sz="1800" b="1" spc="-10" dirty="0">
                <a:solidFill>
                  <a:srgbClr val="4F81BC"/>
                </a:solidFill>
                <a:latin typeface="Cambria"/>
                <a:cs typeface="Cambria"/>
              </a:rPr>
              <a:t> </a:t>
            </a:r>
            <a:r>
              <a:rPr sz="1800" b="1" dirty="0">
                <a:solidFill>
                  <a:srgbClr val="4F81BC"/>
                </a:solidFill>
                <a:latin typeface="Cambria"/>
                <a:cs typeface="Cambria"/>
              </a:rPr>
              <a:t>Project</a:t>
            </a:r>
            <a:r>
              <a:rPr sz="1800" b="1" spc="-20" dirty="0">
                <a:solidFill>
                  <a:srgbClr val="4F81BC"/>
                </a:solidFill>
                <a:latin typeface="Cambria"/>
                <a:cs typeface="Cambria"/>
              </a:rPr>
              <a:t> </a:t>
            </a:r>
            <a:r>
              <a:rPr sz="1800" b="1" dirty="0">
                <a:solidFill>
                  <a:srgbClr val="4F81BC"/>
                </a:solidFill>
                <a:latin typeface="Cambria"/>
                <a:cs typeface="Cambria"/>
              </a:rPr>
              <a:t>Coordinators:</a:t>
            </a:r>
            <a:r>
              <a:rPr sz="1800" b="1" spc="-15" dirty="0">
                <a:solidFill>
                  <a:srgbClr val="4F81BC"/>
                </a:solidFill>
                <a:latin typeface="Cambria"/>
                <a:cs typeface="Cambria"/>
              </a:rPr>
              <a:t> </a:t>
            </a:r>
            <a:r>
              <a:rPr sz="1800" b="1" dirty="0">
                <a:latin typeface="Cambria"/>
                <a:cs typeface="Cambria"/>
              </a:rPr>
              <a:t>Dr.</a:t>
            </a:r>
            <a:r>
              <a:rPr sz="1800" b="1" spc="-35" dirty="0">
                <a:latin typeface="Cambria"/>
                <a:cs typeface="Cambria"/>
              </a:rPr>
              <a:t> </a:t>
            </a:r>
            <a:r>
              <a:rPr sz="1800" b="1" dirty="0">
                <a:latin typeface="Cambria"/>
                <a:cs typeface="Cambria"/>
              </a:rPr>
              <a:t>Sampath</a:t>
            </a:r>
            <a:r>
              <a:rPr sz="1800" b="1" spc="-20" dirty="0">
                <a:latin typeface="Cambria"/>
                <a:cs typeface="Cambria"/>
              </a:rPr>
              <a:t> </a:t>
            </a:r>
            <a:r>
              <a:rPr sz="1800" b="1" dirty="0">
                <a:latin typeface="Cambria"/>
                <a:cs typeface="Cambria"/>
              </a:rPr>
              <a:t>A</a:t>
            </a:r>
            <a:r>
              <a:rPr sz="1800" b="1" spc="-30" dirty="0">
                <a:latin typeface="Cambria"/>
                <a:cs typeface="Cambria"/>
              </a:rPr>
              <a:t> </a:t>
            </a:r>
            <a:r>
              <a:rPr sz="1800" b="1" dirty="0">
                <a:latin typeface="Cambria"/>
                <a:cs typeface="Cambria"/>
              </a:rPr>
              <a:t>K</a:t>
            </a:r>
            <a:r>
              <a:rPr sz="1800" b="1" spc="-25" dirty="0">
                <a:latin typeface="Cambria"/>
                <a:cs typeface="Cambria"/>
              </a:rPr>
              <a:t> </a:t>
            </a:r>
            <a:r>
              <a:rPr sz="1800" b="1" dirty="0">
                <a:latin typeface="Cambria"/>
                <a:cs typeface="Cambria"/>
              </a:rPr>
              <a:t>,</a:t>
            </a:r>
            <a:r>
              <a:rPr sz="1800" b="1" spc="-25" dirty="0">
                <a:latin typeface="Cambria"/>
                <a:cs typeface="Cambria"/>
              </a:rPr>
              <a:t> </a:t>
            </a:r>
            <a:r>
              <a:rPr sz="1800" b="1" dirty="0">
                <a:latin typeface="Cambria"/>
                <a:cs typeface="Cambria"/>
              </a:rPr>
              <a:t>Dr.</a:t>
            </a:r>
            <a:r>
              <a:rPr sz="1800" b="1" spc="-35" dirty="0">
                <a:latin typeface="Cambria"/>
                <a:cs typeface="Cambria"/>
              </a:rPr>
              <a:t> </a:t>
            </a:r>
            <a:r>
              <a:rPr sz="1800" b="1" dirty="0">
                <a:latin typeface="Cambria"/>
                <a:cs typeface="Cambria"/>
              </a:rPr>
              <a:t>Geetha</a:t>
            </a:r>
            <a:r>
              <a:rPr sz="1800" b="1" spc="-50" dirty="0">
                <a:latin typeface="Cambria"/>
                <a:cs typeface="Cambria"/>
              </a:rPr>
              <a:t> A</a:t>
            </a:r>
            <a:endParaRPr sz="1800" dirty="0">
              <a:latin typeface="Cambria"/>
              <a:cs typeface="Cambria"/>
            </a:endParaRPr>
          </a:p>
        </p:txBody>
      </p:sp>
      <p:sp>
        <p:nvSpPr>
          <p:cNvPr id="5" name="object 5"/>
          <p:cNvSpPr txBox="1"/>
          <p:nvPr/>
        </p:nvSpPr>
        <p:spPr>
          <a:xfrm>
            <a:off x="4575809" y="125348"/>
            <a:ext cx="2849245" cy="617990"/>
          </a:xfrm>
          <a:prstGeom prst="rect">
            <a:avLst/>
          </a:prstGeom>
        </p:spPr>
        <p:txBody>
          <a:bodyPr vert="horz" wrap="square" lIns="0" tIns="12700" rIns="0" bIns="0" rtlCol="0">
            <a:spAutoFit/>
          </a:bodyPr>
          <a:lstStyle/>
          <a:p>
            <a:pPr marL="932815" marR="5080" indent="-920750">
              <a:lnSpc>
                <a:spcPct val="113900"/>
              </a:lnSpc>
              <a:spcBef>
                <a:spcPts val="100"/>
              </a:spcBef>
            </a:pPr>
            <a:r>
              <a:rPr sz="1800" b="1" dirty="0">
                <a:solidFill>
                  <a:srgbClr val="17365D"/>
                </a:solidFill>
                <a:latin typeface="Cambria"/>
                <a:cs typeface="Cambria"/>
              </a:rPr>
              <a:t>CSE7</a:t>
            </a:r>
            <a:r>
              <a:rPr lang="en-US" sz="1800" b="1" dirty="0">
                <a:solidFill>
                  <a:srgbClr val="17365D"/>
                </a:solidFill>
                <a:latin typeface="Cambria"/>
                <a:cs typeface="Cambria"/>
              </a:rPr>
              <a:t>302</a:t>
            </a:r>
            <a:r>
              <a:rPr sz="1800" b="1" dirty="0">
                <a:solidFill>
                  <a:srgbClr val="17365D"/>
                </a:solidFill>
                <a:latin typeface="Cambria"/>
                <a:cs typeface="Cambria"/>
              </a:rPr>
              <a:t>-</a:t>
            </a:r>
            <a:r>
              <a:rPr sz="1800" b="1" spc="-75" dirty="0">
                <a:solidFill>
                  <a:srgbClr val="17365D"/>
                </a:solidFill>
                <a:latin typeface="Cambria"/>
                <a:cs typeface="Cambria"/>
              </a:rPr>
              <a:t> </a:t>
            </a:r>
            <a:r>
              <a:rPr sz="1800" b="1" dirty="0">
                <a:solidFill>
                  <a:srgbClr val="17365D"/>
                </a:solidFill>
                <a:latin typeface="Cambria"/>
                <a:cs typeface="Cambria"/>
              </a:rPr>
              <a:t>Capstone</a:t>
            </a:r>
            <a:r>
              <a:rPr sz="1800" b="1" spc="-75" dirty="0">
                <a:solidFill>
                  <a:srgbClr val="17365D"/>
                </a:solidFill>
                <a:latin typeface="Cambria"/>
                <a:cs typeface="Cambria"/>
              </a:rPr>
              <a:t> </a:t>
            </a:r>
            <a:r>
              <a:rPr sz="1800" b="1" spc="-10" dirty="0">
                <a:solidFill>
                  <a:srgbClr val="17365D"/>
                </a:solidFill>
                <a:latin typeface="Cambria"/>
                <a:cs typeface="Cambria"/>
              </a:rPr>
              <a:t>Project Review-</a:t>
            </a:r>
            <a:r>
              <a:rPr lang="en-US" sz="1800" b="1" spc="-50" dirty="0">
                <a:solidFill>
                  <a:srgbClr val="17365D"/>
                </a:solidFill>
                <a:latin typeface="Cambria"/>
                <a:cs typeface="Cambria"/>
              </a:rPr>
              <a:t>2</a:t>
            </a:r>
            <a:endParaRPr sz="1800" dirty="0">
              <a:latin typeface="Cambria"/>
              <a:cs typeface="Cambria"/>
            </a:endParaRPr>
          </a:p>
        </p:txBody>
      </p:sp>
      <p:sp>
        <p:nvSpPr>
          <p:cNvPr id="6" name="TextBox 5">
            <a:extLst>
              <a:ext uri="{FF2B5EF4-FFF2-40B4-BE49-F238E27FC236}">
                <a16:creationId xmlns:a16="http://schemas.microsoft.com/office/drawing/2014/main" id="{FA65F8E7-A11A-C01C-E086-1286D77633ED}"/>
              </a:ext>
            </a:extLst>
          </p:cNvPr>
          <p:cNvSpPr txBox="1"/>
          <p:nvPr/>
        </p:nvSpPr>
        <p:spPr>
          <a:xfrm>
            <a:off x="631951" y="3109054"/>
            <a:ext cx="5311649" cy="1200329"/>
          </a:xfrm>
          <a:prstGeom prst="rect">
            <a:avLst/>
          </a:prstGeom>
          <a:solidFill>
            <a:schemeClr val="bg1"/>
          </a:solidFill>
        </p:spPr>
        <p:txBody>
          <a:bodyPr wrap="square" rtlCol="0">
            <a:spAutoFit/>
          </a:bodyPr>
          <a:lstStyle/>
          <a:p>
            <a:r>
              <a:rPr lang="en-US" sz="1800" dirty="0"/>
              <a:t>20221CSG0020                 S Mohammed Affan   </a:t>
            </a:r>
          </a:p>
          <a:p>
            <a:r>
              <a:rPr lang="en-US" sz="1800" dirty="0"/>
              <a:t>20221CSG0059                 Karthik Mp</a:t>
            </a:r>
          </a:p>
          <a:p>
            <a:r>
              <a:rPr lang="en-US" sz="1800" dirty="0"/>
              <a:t>20221CSG0092                 Chaithra C</a:t>
            </a:r>
          </a:p>
          <a:p>
            <a:endParaRPr lang="en-IN"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891641" y="283210"/>
            <a:ext cx="7863300" cy="4431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dirty="0"/>
              <a:t>Abstract</a:t>
            </a:r>
            <a:endParaRPr dirty="0"/>
          </a:p>
        </p:txBody>
      </p:sp>
      <p:sp>
        <p:nvSpPr>
          <p:cNvPr id="56" name="Google Shape;56;p8"/>
          <p:cNvSpPr txBox="1"/>
          <p:nvPr/>
        </p:nvSpPr>
        <p:spPr>
          <a:xfrm>
            <a:off x="830381" y="972152"/>
            <a:ext cx="10681434" cy="5316825"/>
          </a:xfrm>
          <a:prstGeom prst="rect">
            <a:avLst/>
          </a:prstGeom>
          <a:noFill/>
          <a:ln>
            <a:noFill/>
          </a:ln>
        </p:spPr>
        <p:txBody>
          <a:bodyPr spcFirstLastPara="1" wrap="square" lIns="0" tIns="53325" rIns="0" bIns="0" anchor="t" anchorCtr="0">
            <a:spAutoFit/>
          </a:bodyPr>
          <a:lstStyle/>
          <a:p>
            <a:pPr algn="just"/>
            <a:r>
              <a:rPr lang="en-US" sz="1800" dirty="0"/>
              <a:t>Access to accurate public health information remains a challenge, particularly for rural and semi-urban populations, where existing medical chatbots often generate unreliable or hallucinated responses due to weak factual grounding. To address this issue, this project proposes an AI-driven Public Health Chatbot for Disease Awareness using Retrieval-Augmented Generation (RAG) to deliver reliable, document-grounded health information.</a:t>
            </a:r>
          </a:p>
          <a:p>
            <a:pPr algn="just"/>
            <a:endParaRPr lang="en-US" sz="1800" dirty="0"/>
          </a:p>
          <a:p>
            <a:pPr algn="just"/>
            <a:r>
              <a:rPr lang="en-US" sz="1800" dirty="0"/>
              <a:t>The system is designed to educate users on preventive healthcare, disease symptoms, and vaccination-related information by retrieving content exclusively from trusted medical sources and generating responses strictly based on the retrieved context. The chatbot functions as an educational and decision-support tool, explicitly avoiding diagnosis or treatment recommendations to ensure safety and ethical compliance.</a:t>
            </a:r>
          </a:p>
          <a:p>
            <a:pPr algn="just"/>
            <a:endParaRPr lang="en-US" sz="1800" dirty="0"/>
          </a:p>
          <a:p>
            <a:pPr algn="just"/>
            <a:r>
              <a:rPr lang="en-US" sz="1800" dirty="0"/>
              <a:t>The proposed approach preprocesses authoritative medical documents, converts them into semantic vector embeddings, and stores them in a FAISS vector database for efficient retrieval. User queries submitted through the chatbot interface are matched against this knowledge base, and the retrieved content is used by a language model to generate accurate and context-aware responses. This architecture improves response reliability, reduces misinformation, and supports scalable deployment for controlled public health information dissemination, with future scope for real-time outbreak alerts and integration with official health data sources.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891641" y="283210"/>
            <a:ext cx="7863205" cy="443055"/>
          </a:xfrm>
          <a:prstGeom prst="rect">
            <a:avLst/>
          </a:prstGeom>
          <a:noFill/>
          <a:ln>
            <a:noFill/>
          </a:ln>
        </p:spPr>
        <p:txBody>
          <a:bodyPr spcFirstLastPara="1" wrap="square" lIns="0" tIns="12050" rIns="0" bIns="0" anchor="t" anchorCtr="0">
            <a:spAutoFit/>
          </a:bodyPr>
          <a:lstStyle/>
          <a:p>
            <a:pPr marL="12700" lvl="0"/>
            <a:r>
              <a:rPr lang="en-US" dirty="0"/>
              <a:t>Literature Survey</a:t>
            </a:r>
            <a:endParaRPr dirty="0"/>
          </a:p>
        </p:txBody>
      </p:sp>
      <p:sp>
        <p:nvSpPr>
          <p:cNvPr id="62" name="Google Shape;62;p9"/>
          <p:cNvSpPr txBox="1"/>
          <p:nvPr/>
        </p:nvSpPr>
        <p:spPr>
          <a:xfrm>
            <a:off x="769771" y="956851"/>
            <a:ext cx="11045509" cy="3836302"/>
          </a:xfrm>
          <a:prstGeom prst="rect">
            <a:avLst/>
          </a:prstGeom>
          <a:noFill/>
          <a:ln>
            <a:noFill/>
          </a:ln>
        </p:spPr>
        <p:txBody>
          <a:bodyPr spcFirstLastPara="1" wrap="square" lIns="0" tIns="141600" rIns="0" bIns="0" anchor="t" anchorCtr="0">
            <a:spAutoFit/>
          </a:bodyPr>
          <a:lstStyle/>
          <a:p>
            <a:pPr marL="12700" lvl="0" algn="just">
              <a:buSzPts val="2400"/>
            </a:pPr>
            <a:r>
              <a:rPr lang="en-US" sz="2000" dirty="0"/>
              <a:t>This literature survey examines existing research on public health and healthcare chatbots, the application of large language models (LLMs) in medical information systems, and retrieval-augmented generation (RAG) techniques. Prior studies demonstrate that conversational agents improve accessibility and user engagement for health awareness and disease-related education; however, many existing systems rely on rule-based logic or shallow NLP methods, leading to limited contextual understanding and unreliable responses. Recent advances in LLMs highlight their strong natural language understanding and medical knowledge capabilities, but multiple studies identify hallucination as a major concern in safety-critical domains such as healthcare. RAG has emerged as an effective solution by integrating document retrieval with text generation to improve factual accuracy and reliability. Despite these advances, there remains a lack of document-grounded, RAG-based public health chatbots designed specifically for disease awareness and decision-support, motivating the proposed system.</a:t>
            </a:r>
            <a:endParaRPr sz="2000" dirty="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0"/>
          <p:cNvSpPr txBox="1">
            <a:spLocks noGrp="1"/>
          </p:cNvSpPr>
          <p:nvPr>
            <p:ph type="title"/>
          </p:nvPr>
        </p:nvSpPr>
        <p:spPr>
          <a:xfrm>
            <a:off x="891641" y="283210"/>
            <a:ext cx="7863205" cy="532891"/>
          </a:xfrm>
          <a:prstGeom prst="rect">
            <a:avLst/>
          </a:prstGeom>
          <a:noFill/>
          <a:ln>
            <a:noFill/>
          </a:ln>
        </p:spPr>
        <p:txBody>
          <a:bodyPr spcFirstLastPara="1" wrap="square" lIns="0" tIns="92825" rIns="0" bIns="0" anchor="t" anchorCtr="0">
            <a:spAutoFit/>
          </a:bodyPr>
          <a:lstStyle/>
          <a:p>
            <a:pPr marL="165100" lvl="0"/>
            <a:r>
              <a:rPr lang="en-US" dirty="0"/>
              <a:t>Literature Survey</a:t>
            </a:r>
            <a:endParaRPr dirty="0"/>
          </a:p>
        </p:txBody>
      </p:sp>
      <p:sp>
        <p:nvSpPr>
          <p:cNvPr id="68" name="Google Shape;68;p10"/>
          <p:cNvSpPr txBox="1"/>
          <p:nvPr/>
        </p:nvSpPr>
        <p:spPr>
          <a:xfrm>
            <a:off x="818423" y="1019219"/>
            <a:ext cx="10227945" cy="5029582"/>
          </a:xfrm>
          <a:prstGeom prst="rect">
            <a:avLst/>
          </a:prstGeom>
          <a:noFill/>
          <a:ln>
            <a:noFill/>
          </a:ln>
        </p:spPr>
        <p:txBody>
          <a:bodyPr spcFirstLastPara="1" wrap="square" lIns="0" tIns="12700" rIns="0" bIns="0" anchor="t" anchorCtr="0">
            <a:spAutoFit/>
          </a:bodyPr>
          <a:lstStyle/>
          <a:p>
            <a:r>
              <a:rPr lang="en-US" sz="2000" b="1" dirty="0"/>
              <a:t>1. Laranjo et al., 2018 – Chatbots in Healthcare: A Systematic Review</a:t>
            </a:r>
          </a:p>
          <a:p>
            <a:r>
              <a:rPr lang="en-US" sz="1800" dirty="0"/>
              <a:t>This paper provides a systematic review of healthcare chatbots used for patient education, monitoring, and support. The authors report improved accessibility and engagement but observe that most systems are rule-based or rely on shallow NLP methods.</a:t>
            </a:r>
          </a:p>
          <a:p>
            <a:pPr marL="285750" indent="-285750">
              <a:buFont typeface="Arial" panose="020B0604020202020204" pitchFamily="34" charset="0"/>
              <a:buChar char="•"/>
            </a:pPr>
            <a:r>
              <a:rPr lang="en-US" sz="1800" b="1" dirty="0"/>
              <a:t>Impact on Our Design:</a:t>
            </a:r>
            <a:br>
              <a:rPr lang="en-US" sz="1800" dirty="0"/>
            </a:br>
            <a:r>
              <a:rPr lang="en-US" sz="1800" dirty="0"/>
              <a:t>This work justifies the use of a conversational chatbot for medical information delivery.</a:t>
            </a:r>
          </a:p>
          <a:p>
            <a:pPr marL="285750" indent="-285750">
              <a:buFont typeface="Arial" panose="020B0604020202020204" pitchFamily="34" charset="0"/>
              <a:buChar char="•"/>
            </a:pPr>
            <a:r>
              <a:rPr lang="en-US" sz="1800" b="1" dirty="0"/>
              <a:t>Gap Identified:</a:t>
            </a:r>
            <a:br>
              <a:rPr lang="en-US" sz="1800" dirty="0"/>
            </a:br>
            <a:r>
              <a:rPr lang="en-US" sz="1800" dirty="0"/>
              <a:t>Lack of contextual intelligence and factual grounding in responses.</a:t>
            </a:r>
          </a:p>
          <a:p>
            <a:endParaRPr lang="en-US" sz="1800" dirty="0"/>
          </a:p>
          <a:p>
            <a:r>
              <a:rPr lang="en-US" sz="2000" b="1" dirty="0"/>
              <a:t>2. Bickmore et al., 2018 – Safety First: Conversational Agents for Health Information</a:t>
            </a:r>
          </a:p>
          <a:p>
            <a:r>
              <a:rPr lang="en-US" sz="1800" dirty="0"/>
              <a:t>This paper studies conversational agents designed for general health information and public health awareness. The authors report that such chatbots improve accessibility and user engagement but raise safety concerns when responses are not properly validated.</a:t>
            </a:r>
          </a:p>
          <a:p>
            <a:pPr marL="285750" indent="-285750">
              <a:buFont typeface="Arial" panose="020B0604020202020204" pitchFamily="34" charset="0"/>
              <a:buChar char="•"/>
            </a:pPr>
            <a:r>
              <a:rPr lang="en-US" sz="1800" b="1" dirty="0"/>
              <a:t>Impact on Our Design:</a:t>
            </a:r>
            <a:br>
              <a:rPr lang="en-US" sz="1800" dirty="0"/>
            </a:br>
            <a:r>
              <a:rPr lang="en-US" sz="1800" dirty="0"/>
              <a:t>Justifies using a chatbot for disease awareness while emphasizing a non-diagnostic, decision-support role.</a:t>
            </a:r>
          </a:p>
          <a:p>
            <a:pPr marL="285750" indent="-285750">
              <a:buFont typeface="Arial" panose="020B0604020202020204" pitchFamily="34" charset="0"/>
              <a:buChar char="•"/>
            </a:pPr>
            <a:r>
              <a:rPr lang="en-US" sz="1800" b="1" dirty="0"/>
              <a:t>Gap Identified:</a:t>
            </a:r>
            <a:br>
              <a:rPr lang="en-US" sz="1800" dirty="0"/>
            </a:br>
            <a:r>
              <a:rPr lang="en-US" sz="1800" dirty="0"/>
              <a:t>Does not provide a technical framework to ensure factual grounding of chatbot responses.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91641" y="283210"/>
            <a:ext cx="7863205" cy="443055"/>
          </a:xfrm>
          <a:prstGeom prst="rect">
            <a:avLst/>
          </a:prstGeom>
          <a:noFill/>
          <a:ln>
            <a:noFill/>
          </a:ln>
        </p:spPr>
        <p:txBody>
          <a:bodyPr spcFirstLastPara="1" wrap="square" lIns="0" tIns="12050" rIns="0" bIns="0" anchor="t" anchorCtr="0">
            <a:spAutoFit/>
          </a:bodyPr>
          <a:lstStyle/>
          <a:p>
            <a:pPr marL="12700" lvl="0"/>
            <a:r>
              <a:rPr lang="en-US" dirty="0"/>
              <a:t>Literature Survey</a:t>
            </a:r>
            <a:endParaRPr dirty="0"/>
          </a:p>
        </p:txBody>
      </p:sp>
      <p:sp>
        <p:nvSpPr>
          <p:cNvPr id="74" name="Google Shape;74;p11"/>
          <p:cNvSpPr txBox="1"/>
          <p:nvPr/>
        </p:nvSpPr>
        <p:spPr>
          <a:xfrm>
            <a:off x="839470" y="891045"/>
            <a:ext cx="10513060" cy="5583580"/>
          </a:xfrm>
          <a:prstGeom prst="rect">
            <a:avLst/>
          </a:prstGeom>
          <a:noFill/>
          <a:ln>
            <a:noFill/>
          </a:ln>
        </p:spPr>
        <p:txBody>
          <a:bodyPr spcFirstLastPara="1" wrap="square" lIns="0" tIns="12700" rIns="0" bIns="0" anchor="t" anchorCtr="0">
            <a:spAutoFit/>
          </a:bodyPr>
          <a:lstStyle/>
          <a:p>
            <a:r>
              <a:rPr lang="en-US" sz="2000" b="1" dirty="0"/>
              <a:t>3. Wilson &amp; </a:t>
            </a:r>
            <a:r>
              <a:rPr lang="en-US" sz="2000" b="1" dirty="0" err="1"/>
              <a:t>Marasoiu</a:t>
            </a:r>
            <a:r>
              <a:rPr lang="en-US" sz="2000" b="1" dirty="0"/>
              <a:t>, 2022 – The Development and Use of Chatbots in Public Health</a:t>
            </a:r>
          </a:p>
          <a:p>
            <a:r>
              <a:rPr lang="en-US" sz="1800" dirty="0"/>
              <a:t>This paper presents a scoping review of chatbots used in public health for disease awareness, preventive healthcare education, and vaccination communication. The authors report that chatbots improve accessibility and outreach, particularly in large and diverse populations.</a:t>
            </a:r>
          </a:p>
          <a:p>
            <a:pPr marL="285750" indent="-285750">
              <a:buFont typeface="Arial" panose="020B0604020202020204" pitchFamily="34" charset="0"/>
              <a:buChar char="•"/>
            </a:pPr>
            <a:r>
              <a:rPr lang="en-US" sz="1800" b="1" dirty="0"/>
              <a:t>Impact on Our Design:</a:t>
            </a:r>
            <a:br>
              <a:rPr lang="en-US" sz="1800" dirty="0"/>
            </a:br>
            <a:r>
              <a:rPr lang="en-US" sz="1800" dirty="0"/>
              <a:t>Directly supports the use of an AI chatbot for public health education and disease awareness.</a:t>
            </a:r>
          </a:p>
          <a:p>
            <a:pPr marL="285750" indent="-285750">
              <a:buFont typeface="Arial" panose="020B0604020202020204" pitchFamily="34" charset="0"/>
              <a:buChar char="•"/>
            </a:pPr>
            <a:r>
              <a:rPr lang="en-US" sz="1800" b="1" dirty="0"/>
              <a:t>Gap Identified:</a:t>
            </a:r>
            <a:br>
              <a:rPr lang="en-US" sz="1800" dirty="0"/>
            </a:br>
            <a:r>
              <a:rPr lang="en-US" sz="1800" dirty="0"/>
              <a:t>Most reviewed systems lack advanced AI grounding mechanisms and rely on predefined responses, limiting reliability and scalability.</a:t>
            </a:r>
          </a:p>
          <a:p>
            <a:br>
              <a:rPr lang="en-US" sz="1800" dirty="0"/>
            </a:br>
            <a:r>
              <a:rPr lang="en-US" sz="1800" b="1" dirty="0"/>
              <a:t>4. Branda et al., 2025 – AI-Based Chatbots in Public Health Emergencies</a:t>
            </a:r>
          </a:p>
          <a:p>
            <a:r>
              <a:rPr lang="en-US" sz="1800" dirty="0"/>
              <a:t>This paper reviews AI-based chatbots used during infectious disease outbreaks and public health emergencies. The authors report that chatbots support real-time outbreak communication, disease awareness, and preventive guidance while reducing misinformation.</a:t>
            </a:r>
          </a:p>
          <a:p>
            <a:pPr marL="285750" indent="-285750">
              <a:buFont typeface="Arial" panose="020B0604020202020204" pitchFamily="34" charset="0"/>
              <a:buChar char="•"/>
            </a:pPr>
            <a:r>
              <a:rPr lang="en-US" sz="1800" b="1" dirty="0"/>
              <a:t>Impact on Our Design:</a:t>
            </a:r>
            <a:br>
              <a:rPr lang="en-US" sz="1800" dirty="0"/>
            </a:br>
            <a:r>
              <a:rPr lang="en-US" sz="1800" dirty="0"/>
              <a:t>Supports using AI chatbots for real-time public health communication and disease awareness.</a:t>
            </a:r>
          </a:p>
          <a:p>
            <a:pPr marL="285750" indent="-285750">
              <a:buFont typeface="Arial" panose="020B0604020202020204" pitchFamily="34" charset="0"/>
              <a:buChar char="•"/>
            </a:pPr>
            <a:r>
              <a:rPr lang="en-US" sz="1800" b="1" dirty="0"/>
              <a:t>Gap Identified:</a:t>
            </a:r>
            <a:br>
              <a:rPr lang="en-US" sz="1800" dirty="0"/>
            </a:br>
            <a:r>
              <a:rPr lang="en-US" sz="1800" dirty="0"/>
              <a:t>Does not present a technical mechanism to ensure response accuracy during rapidly evolving outbreaks.</a:t>
            </a:r>
          </a:p>
          <a:p>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2">
          <a:extLst>
            <a:ext uri="{FF2B5EF4-FFF2-40B4-BE49-F238E27FC236}">
              <a16:creationId xmlns:a16="http://schemas.microsoft.com/office/drawing/2014/main" id="{5874A5A0-47BB-9F28-D79C-E7D4A05C23B4}"/>
            </a:ext>
          </a:extLst>
        </p:cNvPr>
        <p:cNvGrpSpPr/>
        <p:nvPr/>
      </p:nvGrpSpPr>
      <p:grpSpPr>
        <a:xfrm>
          <a:off x="0" y="0"/>
          <a:ext cx="0" cy="0"/>
          <a:chOff x="0" y="0"/>
          <a:chExt cx="0" cy="0"/>
        </a:xfrm>
      </p:grpSpPr>
      <p:sp>
        <p:nvSpPr>
          <p:cNvPr id="73" name="Google Shape;73;p11">
            <a:extLst>
              <a:ext uri="{FF2B5EF4-FFF2-40B4-BE49-F238E27FC236}">
                <a16:creationId xmlns:a16="http://schemas.microsoft.com/office/drawing/2014/main" id="{41C2D23D-BECB-0F36-FAB9-0F4191C04EAA}"/>
              </a:ext>
            </a:extLst>
          </p:cNvPr>
          <p:cNvSpPr txBox="1">
            <a:spLocks noGrp="1"/>
          </p:cNvSpPr>
          <p:nvPr>
            <p:ph type="title"/>
          </p:nvPr>
        </p:nvSpPr>
        <p:spPr>
          <a:xfrm>
            <a:off x="891641" y="283210"/>
            <a:ext cx="7863205" cy="443055"/>
          </a:xfrm>
          <a:prstGeom prst="rect">
            <a:avLst/>
          </a:prstGeom>
          <a:noFill/>
          <a:ln>
            <a:noFill/>
          </a:ln>
        </p:spPr>
        <p:txBody>
          <a:bodyPr spcFirstLastPara="1" wrap="square" lIns="0" tIns="12050" rIns="0" bIns="0" anchor="t" anchorCtr="0">
            <a:spAutoFit/>
          </a:bodyPr>
          <a:lstStyle/>
          <a:p>
            <a:pPr marL="12700" lvl="0"/>
            <a:r>
              <a:rPr lang="en-US" dirty="0"/>
              <a:t>Literature Survey</a:t>
            </a:r>
            <a:endParaRPr dirty="0"/>
          </a:p>
        </p:txBody>
      </p:sp>
      <p:sp>
        <p:nvSpPr>
          <p:cNvPr id="74" name="Google Shape;74;p11">
            <a:extLst>
              <a:ext uri="{FF2B5EF4-FFF2-40B4-BE49-F238E27FC236}">
                <a16:creationId xmlns:a16="http://schemas.microsoft.com/office/drawing/2014/main" id="{AB8690A4-C6EC-20DD-0901-680723AB0ECA}"/>
              </a:ext>
            </a:extLst>
          </p:cNvPr>
          <p:cNvSpPr txBox="1"/>
          <p:nvPr/>
        </p:nvSpPr>
        <p:spPr>
          <a:xfrm>
            <a:off x="839470" y="1102802"/>
            <a:ext cx="10513060" cy="4814138"/>
          </a:xfrm>
          <a:prstGeom prst="rect">
            <a:avLst/>
          </a:prstGeom>
          <a:noFill/>
          <a:ln>
            <a:noFill/>
          </a:ln>
        </p:spPr>
        <p:txBody>
          <a:bodyPr spcFirstLastPara="1" wrap="square" lIns="0" tIns="12700" rIns="0" bIns="0" anchor="t" anchorCtr="0">
            <a:spAutoFit/>
          </a:bodyPr>
          <a:lstStyle/>
          <a:p>
            <a:r>
              <a:rPr lang="en-US" sz="2000" b="1" dirty="0"/>
              <a:t>5. Singhal et al., 2023 – Large Language Models Encode Medical Knowledge</a:t>
            </a:r>
          </a:p>
          <a:p>
            <a:r>
              <a:rPr lang="en-US" sz="1800" dirty="0"/>
              <a:t>This paper shows that LLMs perform well on medical question answering and encode substantial medical knowledge.</a:t>
            </a:r>
          </a:p>
          <a:p>
            <a:pPr marL="285750" indent="-285750">
              <a:buFont typeface="Arial" panose="020B0604020202020204" pitchFamily="34" charset="0"/>
              <a:buChar char="•"/>
            </a:pPr>
            <a:r>
              <a:rPr lang="en-US" sz="1800" b="1" dirty="0"/>
              <a:t>Impact on Our Design:</a:t>
            </a:r>
            <a:br>
              <a:rPr lang="en-US" sz="1800" dirty="0"/>
            </a:br>
            <a:r>
              <a:rPr lang="en-US" sz="1800" dirty="0"/>
              <a:t>Justifies the use of an LLM for fluent and context-aware response generation.</a:t>
            </a:r>
          </a:p>
          <a:p>
            <a:pPr marL="285750" indent="-285750">
              <a:buFont typeface="Arial" panose="020B0604020202020204" pitchFamily="34" charset="0"/>
              <a:buChar char="•"/>
            </a:pPr>
            <a:r>
              <a:rPr lang="en-US" sz="1800" b="1" dirty="0"/>
              <a:t>Gap Identified:</a:t>
            </a:r>
            <a:br>
              <a:rPr lang="en-US" sz="1800" dirty="0"/>
            </a:br>
            <a:r>
              <a:rPr lang="en-US" sz="1800" dirty="0"/>
              <a:t>Standalone LLMs are prone to hallucinations, making them unsafe for medical use.</a:t>
            </a:r>
          </a:p>
          <a:p>
            <a:endParaRPr lang="en-US" sz="2000" b="1" dirty="0"/>
          </a:p>
          <a:p>
            <a:r>
              <a:rPr lang="en-US" sz="2000" b="1" dirty="0"/>
              <a:t>6. Ji et al., 2023 – A Survey of Hallucination in Natural Language Generation</a:t>
            </a:r>
          </a:p>
          <a:p>
            <a:r>
              <a:rPr lang="en-US" sz="1800" dirty="0"/>
              <a:t>The authors present an extensive analysis of hallucination in generative models, identifying healthcare as a high-risk domain.</a:t>
            </a:r>
          </a:p>
          <a:p>
            <a:pPr marL="285750" indent="-285750">
              <a:buFont typeface="Arial" panose="020B0604020202020204" pitchFamily="34" charset="0"/>
              <a:buChar char="•"/>
            </a:pPr>
            <a:r>
              <a:rPr lang="en-US" sz="1800" b="1" dirty="0"/>
              <a:t>Impact on Our Design:</a:t>
            </a:r>
            <a:br>
              <a:rPr lang="en-US" sz="1800" dirty="0"/>
            </a:br>
            <a:r>
              <a:rPr lang="en-US" sz="1800" dirty="0"/>
              <a:t>Motivates the use of document grounding and retrieval-based constraints.</a:t>
            </a:r>
          </a:p>
          <a:p>
            <a:pPr marL="285750" indent="-285750">
              <a:buFont typeface="Arial" panose="020B0604020202020204" pitchFamily="34" charset="0"/>
              <a:buChar char="•"/>
            </a:pPr>
            <a:r>
              <a:rPr lang="en-US" sz="1800" b="1" dirty="0"/>
              <a:t>Gap Identified:</a:t>
            </a:r>
            <a:br>
              <a:rPr lang="en-US" sz="1800" dirty="0"/>
            </a:br>
            <a:r>
              <a:rPr lang="en-US" sz="1800" dirty="0"/>
              <a:t>Primarily analytical; lacks a deployable mitigation solution.</a:t>
            </a:r>
          </a:p>
          <a:p>
            <a:br>
              <a:rPr lang="en-US" sz="1800" dirty="0"/>
            </a:br>
            <a:endParaRPr lang="en-US" sz="1800" dirty="0"/>
          </a:p>
        </p:txBody>
      </p:sp>
    </p:spTree>
    <p:extLst>
      <p:ext uri="{BB962C8B-B14F-4D97-AF65-F5344CB8AC3E}">
        <p14:creationId xmlns:p14="http://schemas.microsoft.com/office/powerpoint/2010/main" val="3513821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
          <a:extLst>
            <a:ext uri="{FF2B5EF4-FFF2-40B4-BE49-F238E27FC236}">
              <a16:creationId xmlns:a16="http://schemas.microsoft.com/office/drawing/2014/main" id="{568554CC-129A-12D7-569B-D8AC2D0027C8}"/>
            </a:ext>
          </a:extLst>
        </p:cNvPr>
        <p:cNvGrpSpPr/>
        <p:nvPr/>
      </p:nvGrpSpPr>
      <p:grpSpPr>
        <a:xfrm>
          <a:off x="0" y="0"/>
          <a:ext cx="0" cy="0"/>
          <a:chOff x="0" y="0"/>
          <a:chExt cx="0" cy="0"/>
        </a:xfrm>
      </p:grpSpPr>
      <p:sp>
        <p:nvSpPr>
          <p:cNvPr id="73" name="Google Shape;73;p11">
            <a:extLst>
              <a:ext uri="{FF2B5EF4-FFF2-40B4-BE49-F238E27FC236}">
                <a16:creationId xmlns:a16="http://schemas.microsoft.com/office/drawing/2014/main" id="{A736E19E-001B-F568-007E-EE757EF40CBC}"/>
              </a:ext>
            </a:extLst>
          </p:cNvPr>
          <p:cNvSpPr txBox="1">
            <a:spLocks noGrp="1"/>
          </p:cNvSpPr>
          <p:nvPr>
            <p:ph type="title"/>
          </p:nvPr>
        </p:nvSpPr>
        <p:spPr>
          <a:xfrm>
            <a:off x="891641" y="283210"/>
            <a:ext cx="7863205" cy="443055"/>
          </a:xfrm>
          <a:prstGeom prst="rect">
            <a:avLst/>
          </a:prstGeom>
          <a:noFill/>
          <a:ln>
            <a:noFill/>
          </a:ln>
        </p:spPr>
        <p:txBody>
          <a:bodyPr spcFirstLastPara="1" wrap="square" lIns="0" tIns="12050" rIns="0" bIns="0" anchor="t" anchorCtr="0">
            <a:spAutoFit/>
          </a:bodyPr>
          <a:lstStyle/>
          <a:p>
            <a:pPr marL="12700" lvl="0"/>
            <a:r>
              <a:rPr lang="en-US" dirty="0"/>
              <a:t>Literature Survey</a:t>
            </a:r>
            <a:endParaRPr dirty="0"/>
          </a:p>
        </p:txBody>
      </p:sp>
      <p:sp>
        <p:nvSpPr>
          <p:cNvPr id="74" name="Google Shape;74;p11">
            <a:extLst>
              <a:ext uri="{FF2B5EF4-FFF2-40B4-BE49-F238E27FC236}">
                <a16:creationId xmlns:a16="http://schemas.microsoft.com/office/drawing/2014/main" id="{9F4A36B5-E1B4-A892-2E35-118F26045A74}"/>
              </a:ext>
            </a:extLst>
          </p:cNvPr>
          <p:cNvSpPr txBox="1"/>
          <p:nvPr/>
        </p:nvSpPr>
        <p:spPr>
          <a:xfrm>
            <a:off x="891641" y="1170178"/>
            <a:ext cx="10513060" cy="4814138"/>
          </a:xfrm>
          <a:prstGeom prst="rect">
            <a:avLst/>
          </a:prstGeom>
          <a:noFill/>
          <a:ln>
            <a:noFill/>
          </a:ln>
        </p:spPr>
        <p:txBody>
          <a:bodyPr spcFirstLastPara="1" wrap="square" lIns="0" tIns="12700" rIns="0" bIns="0" anchor="t" anchorCtr="0">
            <a:spAutoFit/>
          </a:bodyPr>
          <a:lstStyle/>
          <a:p>
            <a:r>
              <a:rPr lang="en-US" sz="2000" b="1" dirty="0"/>
              <a:t>7. Lewis et al., 2020 – Retrieval-Augmented Generation</a:t>
            </a:r>
          </a:p>
          <a:p>
            <a:r>
              <a:rPr lang="en-US" sz="1800" dirty="0"/>
              <a:t>This foundational work introduces RAG, combining document retrieval with generation to improve factual accuracy in knowledge-intensive tasks.</a:t>
            </a:r>
          </a:p>
          <a:p>
            <a:pPr marL="285750" indent="-285750">
              <a:buFont typeface="Arial" panose="020B0604020202020204" pitchFamily="34" charset="0"/>
              <a:buChar char="•"/>
            </a:pPr>
            <a:r>
              <a:rPr lang="en-US" sz="1800" b="1" dirty="0"/>
              <a:t>Impact on Our Design:</a:t>
            </a:r>
            <a:br>
              <a:rPr lang="en-US" sz="1800" dirty="0"/>
            </a:br>
            <a:r>
              <a:rPr lang="en-US" sz="1800" dirty="0"/>
              <a:t>Forms the core methodology adopted in the proposed system.</a:t>
            </a:r>
          </a:p>
          <a:p>
            <a:pPr marL="285750" indent="-285750">
              <a:buFont typeface="Arial" panose="020B0604020202020204" pitchFamily="34" charset="0"/>
              <a:buChar char="•"/>
            </a:pPr>
            <a:r>
              <a:rPr lang="en-US" sz="1800" b="1" dirty="0"/>
              <a:t>Gap Identified:</a:t>
            </a:r>
            <a:br>
              <a:rPr lang="en-US" sz="1800" dirty="0"/>
            </a:br>
            <a:r>
              <a:rPr lang="en-US" sz="1800" dirty="0"/>
              <a:t>Originally designed for general NLP tasks, not medical documents.</a:t>
            </a:r>
          </a:p>
          <a:p>
            <a:endParaRPr lang="en-IN" sz="2000" b="1" dirty="0"/>
          </a:p>
          <a:p>
            <a:r>
              <a:rPr lang="en-IN" sz="2000" b="1" dirty="0"/>
              <a:t>8. Izacard &amp; Grave, 2021 – Leveraging Passage Retrieval for QA</a:t>
            </a:r>
          </a:p>
          <a:p>
            <a:r>
              <a:rPr lang="en-IN" sz="1800" dirty="0"/>
              <a:t>The study demonstrates that retrieval-based QA systems outperform generative-only approaches for factual tasks.</a:t>
            </a:r>
          </a:p>
          <a:p>
            <a:pPr marL="285750" indent="-285750">
              <a:buFont typeface="Arial" panose="020B0604020202020204" pitchFamily="34" charset="0"/>
              <a:buChar char="•"/>
            </a:pPr>
            <a:r>
              <a:rPr lang="en-IN" sz="1800" b="1" dirty="0"/>
              <a:t>Impact on Our Design:</a:t>
            </a:r>
            <a:br>
              <a:rPr lang="en-IN" sz="1800" dirty="0"/>
            </a:br>
            <a:r>
              <a:rPr lang="en-IN" sz="1800" dirty="0"/>
              <a:t>Supports embedding-based semantic retrieval using FAISS.</a:t>
            </a:r>
          </a:p>
          <a:p>
            <a:pPr marL="285750" indent="-285750">
              <a:buFont typeface="Arial" panose="020B0604020202020204" pitchFamily="34" charset="0"/>
              <a:buChar char="•"/>
            </a:pPr>
            <a:r>
              <a:rPr lang="en-IN" sz="1800" b="1" dirty="0"/>
              <a:t>Gap Identified:</a:t>
            </a:r>
            <a:br>
              <a:rPr lang="en-IN" sz="1800" dirty="0"/>
            </a:br>
            <a:r>
              <a:rPr lang="en-IN" sz="1800" dirty="0"/>
              <a:t>Evaluation limited to general datasets, not </a:t>
            </a:r>
            <a:r>
              <a:rPr lang="en-IN" sz="1800"/>
              <a:t>medical specimens.</a:t>
            </a:r>
            <a:endParaRPr lang="en-IN" sz="1800" dirty="0"/>
          </a:p>
          <a:p>
            <a:br>
              <a:rPr lang="en-IN" sz="1800" dirty="0"/>
            </a:br>
            <a:endParaRPr lang="en-IN" sz="1800" dirty="0"/>
          </a:p>
        </p:txBody>
      </p:sp>
    </p:spTree>
    <p:extLst>
      <p:ext uri="{BB962C8B-B14F-4D97-AF65-F5344CB8AC3E}">
        <p14:creationId xmlns:p14="http://schemas.microsoft.com/office/powerpoint/2010/main" val="1893426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2">
          <a:extLst>
            <a:ext uri="{FF2B5EF4-FFF2-40B4-BE49-F238E27FC236}">
              <a16:creationId xmlns:a16="http://schemas.microsoft.com/office/drawing/2014/main" id="{F6C569E2-8277-569F-B04C-E51875BF3EA1}"/>
            </a:ext>
          </a:extLst>
        </p:cNvPr>
        <p:cNvGrpSpPr/>
        <p:nvPr/>
      </p:nvGrpSpPr>
      <p:grpSpPr>
        <a:xfrm>
          <a:off x="0" y="0"/>
          <a:ext cx="0" cy="0"/>
          <a:chOff x="0" y="0"/>
          <a:chExt cx="0" cy="0"/>
        </a:xfrm>
      </p:grpSpPr>
      <p:sp>
        <p:nvSpPr>
          <p:cNvPr id="73" name="Google Shape;73;p11">
            <a:extLst>
              <a:ext uri="{FF2B5EF4-FFF2-40B4-BE49-F238E27FC236}">
                <a16:creationId xmlns:a16="http://schemas.microsoft.com/office/drawing/2014/main" id="{5EE8478D-D51D-9D67-E9F8-2ED4626A9A65}"/>
              </a:ext>
            </a:extLst>
          </p:cNvPr>
          <p:cNvSpPr txBox="1">
            <a:spLocks noGrp="1"/>
          </p:cNvSpPr>
          <p:nvPr>
            <p:ph type="title"/>
          </p:nvPr>
        </p:nvSpPr>
        <p:spPr>
          <a:xfrm>
            <a:off x="891641" y="283210"/>
            <a:ext cx="7863205" cy="443055"/>
          </a:xfrm>
          <a:prstGeom prst="rect">
            <a:avLst/>
          </a:prstGeom>
          <a:noFill/>
          <a:ln>
            <a:noFill/>
          </a:ln>
        </p:spPr>
        <p:txBody>
          <a:bodyPr spcFirstLastPara="1" wrap="square" lIns="0" tIns="12050" rIns="0" bIns="0" anchor="t" anchorCtr="0">
            <a:spAutoFit/>
          </a:bodyPr>
          <a:lstStyle/>
          <a:p>
            <a:pPr marL="12700" lvl="0"/>
            <a:r>
              <a:rPr lang="en-US" dirty="0"/>
              <a:t>Literature Survey</a:t>
            </a:r>
            <a:endParaRPr dirty="0"/>
          </a:p>
        </p:txBody>
      </p:sp>
      <p:sp>
        <p:nvSpPr>
          <p:cNvPr id="74" name="Google Shape;74;p11">
            <a:extLst>
              <a:ext uri="{FF2B5EF4-FFF2-40B4-BE49-F238E27FC236}">
                <a16:creationId xmlns:a16="http://schemas.microsoft.com/office/drawing/2014/main" id="{B905277D-E2CF-581E-2936-A058E066A0A7}"/>
              </a:ext>
            </a:extLst>
          </p:cNvPr>
          <p:cNvSpPr txBox="1"/>
          <p:nvPr/>
        </p:nvSpPr>
        <p:spPr>
          <a:xfrm>
            <a:off x="891641" y="1170178"/>
            <a:ext cx="10513060" cy="4229363"/>
          </a:xfrm>
          <a:prstGeom prst="rect">
            <a:avLst/>
          </a:prstGeom>
          <a:noFill/>
          <a:ln>
            <a:noFill/>
          </a:ln>
        </p:spPr>
        <p:txBody>
          <a:bodyPr spcFirstLastPara="1" wrap="square" lIns="0" tIns="12700" rIns="0" bIns="0" anchor="t" anchorCtr="0">
            <a:spAutoFit/>
          </a:bodyPr>
          <a:lstStyle/>
          <a:p>
            <a:r>
              <a:rPr lang="en-US" sz="2000" b="1" dirty="0"/>
              <a:t>9. Miner et al., 2020 – Conversational AI in Healthcare</a:t>
            </a:r>
          </a:p>
          <a:p>
            <a:pPr lvl="1"/>
            <a:r>
              <a:rPr lang="en-US" sz="1800" dirty="0"/>
              <a:t>This review evaluates healthcare conversational agents and highlights issues related to transparency and trust.</a:t>
            </a:r>
          </a:p>
          <a:p>
            <a:pPr marL="342900" indent="-342900">
              <a:buFont typeface="Arial" panose="020B0604020202020204" pitchFamily="34" charset="0"/>
              <a:buChar char="•"/>
            </a:pPr>
            <a:r>
              <a:rPr lang="en-US" sz="1800" b="1" dirty="0"/>
              <a:t>Impact on Our Design:</a:t>
            </a:r>
            <a:br>
              <a:rPr lang="en-US" sz="1800" dirty="0"/>
            </a:br>
            <a:r>
              <a:rPr lang="en-US" sz="1800" dirty="0"/>
              <a:t>Reinforces the need for document-grounded responses.</a:t>
            </a:r>
          </a:p>
          <a:p>
            <a:pPr marL="342900" indent="-342900">
              <a:buFont typeface="Arial" panose="020B0604020202020204" pitchFamily="34" charset="0"/>
              <a:buChar char="•"/>
            </a:pPr>
            <a:r>
              <a:rPr lang="en-US" sz="1800" b="1" dirty="0"/>
              <a:t>Gap Identified:</a:t>
            </a:r>
            <a:br>
              <a:rPr lang="en-US" sz="1800" dirty="0"/>
            </a:br>
            <a:r>
              <a:rPr lang="en-US" sz="1800" dirty="0"/>
              <a:t>Does not provide a concrete technical architecture.</a:t>
            </a:r>
          </a:p>
          <a:p>
            <a:br>
              <a:rPr lang="en-US" sz="1800" dirty="0"/>
            </a:br>
            <a:endParaRPr lang="en-US" sz="1800" dirty="0"/>
          </a:p>
          <a:p>
            <a:r>
              <a:rPr lang="en-US" sz="2000" b="1" dirty="0"/>
              <a:t>10. Devaraj et al., 2022 – Document-Grounded Clinical Decision Support</a:t>
            </a:r>
          </a:p>
          <a:p>
            <a:r>
              <a:rPr lang="en-US" sz="1800" dirty="0"/>
              <a:t>The authors propose document-backed AI systems for clinical decision support using medical evidence.</a:t>
            </a:r>
          </a:p>
          <a:p>
            <a:pPr marL="342900" indent="-342900">
              <a:buFont typeface="Arial" panose="020B0604020202020204" pitchFamily="34" charset="0"/>
              <a:buChar char="•"/>
            </a:pPr>
            <a:r>
              <a:rPr lang="en-US" sz="1800" b="1" dirty="0"/>
              <a:t>Impact on Our Design:</a:t>
            </a:r>
            <a:br>
              <a:rPr lang="en-US" sz="1800" dirty="0"/>
            </a:br>
            <a:r>
              <a:rPr lang="en-US" sz="1800" dirty="0"/>
              <a:t>Closely aligns with our document-grounded, decision-support approach.</a:t>
            </a:r>
          </a:p>
          <a:p>
            <a:pPr marL="342900" indent="-342900">
              <a:buFont typeface="Arial" panose="020B0604020202020204" pitchFamily="34" charset="0"/>
              <a:buChar char="•"/>
            </a:pPr>
            <a:r>
              <a:rPr lang="en-US" sz="1800" b="1" dirty="0"/>
              <a:t>Gap Identified:</a:t>
            </a:r>
            <a:br>
              <a:rPr lang="en-US" sz="1800" dirty="0"/>
            </a:br>
            <a:r>
              <a:rPr lang="en-US" sz="1800" dirty="0"/>
              <a:t>Lacks an interactive chatbot interface for users.</a:t>
            </a:r>
          </a:p>
        </p:txBody>
      </p:sp>
    </p:spTree>
    <p:extLst>
      <p:ext uri="{BB962C8B-B14F-4D97-AF65-F5344CB8AC3E}">
        <p14:creationId xmlns:p14="http://schemas.microsoft.com/office/powerpoint/2010/main" val="3952861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2">
          <a:extLst>
            <a:ext uri="{FF2B5EF4-FFF2-40B4-BE49-F238E27FC236}">
              <a16:creationId xmlns:a16="http://schemas.microsoft.com/office/drawing/2014/main" id="{9C5528C1-31B6-7978-34F4-CA710B8AE0C4}"/>
            </a:ext>
          </a:extLst>
        </p:cNvPr>
        <p:cNvGrpSpPr/>
        <p:nvPr/>
      </p:nvGrpSpPr>
      <p:grpSpPr>
        <a:xfrm>
          <a:off x="0" y="0"/>
          <a:ext cx="0" cy="0"/>
          <a:chOff x="0" y="0"/>
          <a:chExt cx="0" cy="0"/>
        </a:xfrm>
      </p:grpSpPr>
      <p:sp>
        <p:nvSpPr>
          <p:cNvPr id="73" name="Google Shape;73;p11">
            <a:extLst>
              <a:ext uri="{FF2B5EF4-FFF2-40B4-BE49-F238E27FC236}">
                <a16:creationId xmlns:a16="http://schemas.microsoft.com/office/drawing/2014/main" id="{72B4298D-7E19-2EE8-26DC-11DF69A51506}"/>
              </a:ext>
            </a:extLst>
          </p:cNvPr>
          <p:cNvSpPr txBox="1">
            <a:spLocks noGrp="1"/>
          </p:cNvSpPr>
          <p:nvPr>
            <p:ph type="title"/>
          </p:nvPr>
        </p:nvSpPr>
        <p:spPr>
          <a:xfrm>
            <a:off x="891641" y="283210"/>
            <a:ext cx="7863205" cy="443055"/>
          </a:xfrm>
          <a:prstGeom prst="rect">
            <a:avLst/>
          </a:prstGeom>
          <a:noFill/>
          <a:ln>
            <a:noFill/>
          </a:ln>
        </p:spPr>
        <p:txBody>
          <a:bodyPr spcFirstLastPara="1" wrap="square" lIns="0" tIns="12050" rIns="0" bIns="0" anchor="t" anchorCtr="0">
            <a:spAutoFit/>
          </a:bodyPr>
          <a:lstStyle/>
          <a:p>
            <a:pPr marL="12700" lvl="0"/>
            <a:r>
              <a:rPr lang="en-US" dirty="0"/>
              <a:t>Literature Survey</a:t>
            </a:r>
            <a:endParaRPr dirty="0"/>
          </a:p>
        </p:txBody>
      </p:sp>
      <p:graphicFrame>
        <p:nvGraphicFramePr>
          <p:cNvPr id="4" name="Table 3">
            <a:extLst>
              <a:ext uri="{FF2B5EF4-FFF2-40B4-BE49-F238E27FC236}">
                <a16:creationId xmlns:a16="http://schemas.microsoft.com/office/drawing/2014/main" id="{3AB3501B-17F7-E0C8-005A-E431EC5B2411}"/>
              </a:ext>
            </a:extLst>
          </p:cNvPr>
          <p:cNvGraphicFramePr>
            <a:graphicFrameLocks noGrp="1"/>
          </p:cNvGraphicFramePr>
          <p:nvPr>
            <p:extLst>
              <p:ext uri="{D42A27DB-BD31-4B8C-83A1-F6EECF244321}">
                <p14:modId xmlns:p14="http://schemas.microsoft.com/office/powerpoint/2010/main" val="4190129800"/>
              </p:ext>
            </p:extLst>
          </p:nvPr>
        </p:nvGraphicFramePr>
        <p:xfrm>
          <a:off x="779646" y="943276"/>
          <a:ext cx="10886170" cy="5196805"/>
        </p:xfrm>
        <a:graphic>
          <a:graphicData uri="http://schemas.openxmlformats.org/drawingml/2006/table">
            <a:tbl>
              <a:tblPr>
                <a:tableStyleId>{08FB837D-C827-4EFA-A057-4D05807E0F7C}</a:tableStyleId>
              </a:tblPr>
              <a:tblGrid>
                <a:gridCol w="2177234">
                  <a:extLst>
                    <a:ext uri="{9D8B030D-6E8A-4147-A177-3AD203B41FA5}">
                      <a16:colId xmlns:a16="http://schemas.microsoft.com/office/drawing/2014/main" val="2014135953"/>
                    </a:ext>
                  </a:extLst>
                </a:gridCol>
                <a:gridCol w="2177234">
                  <a:extLst>
                    <a:ext uri="{9D8B030D-6E8A-4147-A177-3AD203B41FA5}">
                      <a16:colId xmlns:a16="http://schemas.microsoft.com/office/drawing/2014/main" val="3176291628"/>
                    </a:ext>
                  </a:extLst>
                </a:gridCol>
                <a:gridCol w="2177234">
                  <a:extLst>
                    <a:ext uri="{9D8B030D-6E8A-4147-A177-3AD203B41FA5}">
                      <a16:colId xmlns:a16="http://schemas.microsoft.com/office/drawing/2014/main" val="1113803305"/>
                    </a:ext>
                  </a:extLst>
                </a:gridCol>
                <a:gridCol w="2177234">
                  <a:extLst>
                    <a:ext uri="{9D8B030D-6E8A-4147-A177-3AD203B41FA5}">
                      <a16:colId xmlns:a16="http://schemas.microsoft.com/office/drawing/2014/main" val="4032482739"/>
                    </a:ext>
                  </a:extLst>
                </a:gridCol>
                <a:gridCol w="2177234">
                  <a:extLst>
                    <a:ext uri="{9D8B030D-6E8A-4147-A177-3AD203B41FA5}">
                      <a16:colId xmlns:a16="http://schemas.microsoft.com/office/drawing/2014/main" val="3613684786"/>
                    </a:ext>
                  </a:extLst>
                </a:gridCol>
              </a:tblGrid>
              <a:tr h="231977">
                <a:tc>
                  <a:txBody>
                    <a:bodyPr/>
                    <a:lstStyle/>
                    <a:p>
                      <a:pPr>
                        <a:buNone/>
                      </a:pPr>
                      <a:r>
                        <a:rPr lang="en-IN" sz="1200" b="1"/>
                        <a:t>Paper</a:t>
                      </a:r>
                      <a:endParaRPr lang="en-IN" sz="1200"/>
                    </a:p>
                  </a:txBody>
                  <a:tcPr marL="42464" marR="42464" marT="21232" marB="21232" anchor="ctr"/>
                </a:tc>
                <a:tc>
                  <a:txBody>
                    <a:bodyPr/>
                    <a:lstStyle/>
                    <a:p>
                      <a:pPr>
                        <a:buNone/>
                      </a:pPr>
                      <a:r>
                        <a:rPr lang="en-IN" sz="1200" b="1"/>
                        <a:t>Focus Area</a:t>
                      </a:r>
                      <a:endParaRPr lang="en-IN" sz="1200"/>
                    </a:p>
                  </a:txBody>
                  <a:tcPr marL="42464" marR="42464" marT="21232" marB="21232" anchor="ctr"/>
                </a:tc>
                <a:tc>
                  <a:txBody>
                    <a:bodyPr/>
                    <a:lstStyle/>
                    <a:p>
                      <a:pPr>
                        <a:buNone/>
                      </a:pPr>
                      <a:r>
                        <a:rPr lang="en-IN" sz="1200" b="1"/>
                        <a:t>Approach Used</a:t>
                      </a:r>
                      <a:endParaRPr lang="en-IN" sz="1200"/>
                    </a:p>
                  </a:txBody>
                  <a:tcPr marL="42464" marR="42464" marT="21232" marB="21232" anchor="ctr"/>
                </a:tc>
                <a:tc>
                  <a:txBody>
                    <a:bodyPr/>
                    <a:lstStyle/>
                    <a:p>
                      <a:pPr>
                        <a:buNone/>
                      </a:pPr>
                      <a:r>
                        <a:rPr lang="en-IN" sz="1200" b="1"/>
                        <a:t>Key Contribution</a:t>
                      </a:r>
                      <a:endParaRPr lang="en-IN" sz="1200"/>
                    </a:p>
                  </a:txBody>
                  <a:tcPr marL="42464" marR="42464" marT="21232" marB="21232" anchor="ctr"/>
                </a:tc>
                <a:tc>
                  <a:txBody>
                    <a:bodyPr/>
                    <a:lstStyle/>
                    <a:p>
                      <a:pPr>
                        <a:buNone/>
                      </a:pPr>
                      <a:r>
                        <a:rPr lang="en-IN" sz="1200" b="1"/>
                        <a:t>Identified Gap</a:t>
                      </a:r>
                      <a:endParaRPr lang="en-IN" sz="1200"/>
                    </a:p>
                  </a:txBody>
                  <a:tcPr marL="42464" marR="42464" marT="21232" marB="21232" anchor="ctr"/>
                </a:tc>
                <a:extLst>
                  <a:ext uri="{0D108BD9-81ED-4DB2-BD59-A6C34878D82A}">
                    <a16:rowId xmlns:a16="http://schemas.microsoft.com/office/drawing/2014/main" val="2439217132"/>
                  </a:ext>
                </a:extLst>
              </a:tr>
              <a:tr h="555322">
                <a:tc>
                  <a:txBody>
                    <a:bodyPr/>
                    <a:lstStyle/>
                    <a:p>
                      <a:pPr>
                        <a:buNone/>
                      </a:pPr>
                      <a:r>
                        <a:rPr lang="en-IN" sz="1200" b="1" dirty="0"/>
                        <a:t>Laranjo et al., 2018</a:t>
                      </a:r>
                      <a:endParaRPr lang="en-IN" sz="1200" dirty="0"/>
                    </a:p>
                  </a:txBody>
                  <a:tcPr marL="42464" marR="42464" marT="21232" marB="21232" anchor="ctr"/>
                </a:tc>
                <a:tc>
                  <a:txBody>
                    <a:bodyPr/>
                    <a:lstStyle/>
                    <a:p>
                      <a:pPr>
                        <a:buNone/>
                      </a:pPr>
                      <a:r>
                        <a:rPr lang="en-IN" sz="1200"/>
                        <a:t>Healthcare chatbots</a:t>
                      </a:r>
                    </a:p>
                  </a:txBody>
                  <a:tcPr marL="42464" marR="42464" marT="21232" marB="21232" anchor="ctr"/>
                </a:tc>
                <a:tc>
                  <a:txBody>
                    <a:bodyPr/>
                    <a:lstStyle/>
                    <a:p>
                      <a:pPr>
                        <a:buNone/>
                      </a:pPr>
                      <a:r>
                        <a:rPr lang="en-IN" sz="1200"/>
                        <a:t>Systematic review</a:t>
                      </a:r>
                    </a:p>
                  </a:txBody>
                  <a:tcPr marL="42464" marR="42464" marT="21232" marB="21232" anchor="ctr"/>
                </a:tc>
                <a:tc>
                  <a:txBody>
                    <a:bodyPr/>
                    <a:lstStyle/>
                    <a:p>
                      <a:pPr>
                        <a:buNone/>
                      </a:pPr>
                      <a:r>
                        <a:rPr lang="en-US" sz="1200"/>
                        <a:t>Validates chatbot use for health information</a:t>
                      </a:r>
                    </a:p>
                  </a:txBody>
                  <a:tcPr marL="42464" marR="42464" marT="21232" marB="21232" anchor="ctr"/>
                </a:tc>
                <a:tc>
                  <a:txBody>
                    <a:bodyPr/>
                    <a:lstStyle/>
                    <a:p>
                      <a:pPr>
                        <a:buNone/>
                      </a:pPr>
                      <a:r>
                        <a:rPr lang="en-US" sz="1200"/>
                        <a:t>Mostly rule-based, low contextual intelligence</a:t>
                      </a:r>
                    </a:p>
                  </a:txBody>
                  <a:tcPr marL="42464" marR="42464" marT="21232" marB="21232" anchor="ctr"/>
                </a:tc>
                <a:extLst>
                  <a:ext uri="{0D108BD9-81ED-4DB2-BD59-A6C34878D82A}">
                    <a16:rowId xmlns:a16="http://schemas.microsoft.com/office/drawing/2014/main" val="3948766087"/>
                  </a:ext>
                </a:extLst>
              </a:tr>
              <a:tr h="555322">
                <a:tc>
                  <a:txBody>
                    <a:bodyPr/>
                    <a:lstStyle/>
                    <a:p>
                      <a:pPr>
                        <a:buNone/>
                      </a:pPr>
                      <a:r>
                        <a:rPr lang="en-IN" sz="1200" b="1"/>
                        <a:t>Bickmore et al., 2018</a:t>
                      </a:r>
                      <a:endParaRPr lang="en-IN" sz="1200"/>
                    </a:p>
                  </a:txBody>
                  <a:tcPr marL="42464" marR="42464" marT="21232" marB="21232" anchor="ctr"/>
                </a:tc>
                <a:tc>
                  <a:txBody>
                    <a:bodyPr/>
                    <a:lstStyle/>
                    <a:p>
                      <a:pPr>
                        <a:buNone/>
                      </a:pPr>
                      <a:r>
                        <a:rPr lang="en-IN" sz="1200"/>
                        <a:t>Safe health information</a:t>
                      </a:r>
                    </a:p>
                  </a:txBody>
                  <a:tcPr marL="42464" marR="42464" marT="21232" marB="21232" anchor="ctr"/>
                </a:tc>
                <a:tc>
                  <a:txBody>
                    <a:bodyPr/>
                    <a:lstStyle/>
                    <a:p>
                      <a:pPr>
                        <a:buNone/>
                      </a:pPr>
                      <a:r>
                        <a:rPr lang="en-IN" sz="1200"/>
                        <a:t>Design &amp; safety analysis</a:t>
                      </a:r>
                    </a:p>
                  </a:txBody>
                  <a:tcPr marL="42464" marR="42464" marT="21232" marB="21232" anchor="ctr"/>
                </a:tc>
                <a:tc>
                  <a:txBody>
                    <a:bodyPr/>
                    <a:lstStyle/>
                    <a:p>
                      <a:pPr>
                        <a:buNone/>
                      </a:pPr>
                      <a:r>
                        <a:rPr lang="en-IN" sz="1200"/>
                        <a:t>Emphasizes non-diagnostic chatbot design</a:t>
                      </a:r>
                    </a:p>
                  </a:txBody>
                  <a:tcPr marL="42464" marR="42464" marT="21232" marB="21232" anchor="ctr"/>
                </a:tc>
                <a:tc>
                  <a:txBody>
                    <a:bodyPr/>
                    <a:lstStyle/>
                    <a:p>
                      <a:pPr>
                        <a:buNone/>
                      </a:pPr>
                      <a:r>
                        <a:rPr lang="en-IN" sz="1200"/>
                        <a:t>No technical grounding mechanism</a:t>
                      </a:r>
                    </a:p>
                  </a:txBody>
                  <a:tcPr marL="42464" marR="42464" marT="21232" marB="21232" anchor="ctr"/>
                </a:tc>
                <a:extLst>
                  <a:ext uri="{0D108BD9-81ED-4DB2-BD59-A6C34878D82A}">
                    <a16:rowId xmlns:a16="http://schemas.microsoft.com/office/drawing/2014/main" val="287222960"/>
                  </a:ext>
                </a:extLst>
              </a:tr>
              <a:tr h="555322">
                <a:tc>
                  <a:txBody>
                    <a:bodyPr/>
                    <a:lstStyle/>
                    <a:p>
                      <a:pPr>
                        <a:buNone/>
                      </a:pPr>
                      <a:r>
                        <a:rPr lang="en-IN" sz="1200" b="1"/>
                        <a:t>Wilson &amp; Marasoiu, 2022</a:t>
                      </a:r>
                      <a:endParaRPr lang="en-IN" sz="1200"/>
                    </a:p>
                  </a:txBody>
                  <a:tcPr marL="42464" marR="42464" marT="21232" marB="21232" anchor="ctr"/>
                </a:tc>
                <a:tc>
                  <a:txBody>
                    <a:bodyPr/>
                    <a:lstStyle/>
                    <a:p>
                      <a:pPr>
                        <a:buNone/>
                      </a:pPr>
                      <a:r>
                        <a:rPr lang="en-IN" sz="1200"/>
                        <a:t>Public health awareness</a:t>
                      </a:r>
                    </a:p>
                  </a:txBody>
                  <a:tcPr marL="42464" marR="42464" marT="21232" marB="21232" anchor="ctr"/>
                </a:tc>
                <a:tc>
                  <a:txBody>
                    <a:bodyPr/>
                    <a:lstStyle/>
                    <a:p>
                      <a:pPr>
                        <a:buNone/>
                      </a:pPr>
                      <a:r>
                        <a:rPr lang="en-IN" sz="1200"/>
                        <a:t>Scoping review</a:t>
                      </a:r>
                    </a:p>
                  </a:txBody>
                  <a:tcPr marL="42464" marR="42464" marT="21232" marB="21232" anchor="ctr"/>
                </a:tc>
                <a:tc>
                  <a:txBody>
                    <a:bodyPr/>
                    <a:lstStyle/>
                    <a:p>
                      <a:pPr>
                        <a:buNone/>
                      </a:pPr>
                      <a:r>
                        <a:rPr lang="en-US" sz="1200"/>
                        <a:t>Shows chatbots improve disease awareness</a:t>
                      </a:r>
                    </a:p>
                  </a:txBody>
                  <a:tcPr marL="42464" marR="42464" marT="21232" marB="21232" anchor="ctr"/>
                </a:tc>
                <a:tc>
                  <a:txBody>
                    <a:bodyPr/>
                    <a:lstStyle/>
                    <a:p>
                      <a:pPr>
                        <a:buNone/>
                      </a:pPr>
                      <a:r>
                        <a:rPr lang="en-US" sz="1200"/>
                        <a:t>Limited use of advanced AI</a:t>
                      </a:r>
                    </a:p>
                  </a:txBody>
                  <a:tcPr marL="42464" marR="42464" marT="21232" marB="21232" anchor="ctr"/>
                </a:tc>
                <a:extLst>
                  <a:ext uri="{0D108BD9-81ED-4DB2-BD59-A6C34878D82A}">
                    <a16:rowId xmlns:a16="http://schemas.microsoft.com/office/drawing/2014/main" val="97291378"/>
                  </a:ext>
                </a:extLst>
              </a:tr>
              <a:tr h="555322">
                <a:tc>
                  <a:txBody>
                    <a:bodyPr/>
                    <a:lstStyle/>
                    <a:p>
                      <a:pPr>
                        <a:buNone/>
                      </a:pPr>
                      <a:r>
                        <a:rPr lang="en-IN" sz="1200" b="1"/>
                        <a:t>Branda et al., 2025</a:t>
                      </a:r>
                      <a:endParaRPr lang="en-IN" sz="1200"/>
                    </a:p>
                  </a:txBody>
                  <a:tcPr marL="42464" marR="42464" marT="21232" marB="21232" anchor="ctr"/>
                </a:tc>
                <a:tc>
                  <a:txBody>
                    <a:bodyPr/>
                    <a:lstStyle/>
                    <a:p>
                      <a:pPr>
                        <a:buNone/>
                      </a:pPr>
                      <a:r>
                        <a:rPr lang="en-IN" sz="1200"/>
                        <a:t>Public health emergencies</a:t>
                      </a:r>
                    </a:p>
                  </a:txBody>
                  <a:tcPr marL="42464" marR="42464" marT="21232" marB="21232" anchor="ctr"/>
                </a:tc>
                <a:tc>
                  <a:txBody>
                    <a:bodyPr/>
                    <a:lstStyle/>
                    <a:p>
                      <a:pPr>
                        <a:buNone/>
                      </a:pPr>
                      <a:r>
                        <a:rPr lang="en-IN" sz="1200"/>
                        <a:t>Narrative review</a:t>
                      </a:r>
                    </a:p>
                  </a:txBody>
                  <a:tcPr marL="42464" marR="42464" marT="21232" marB="21232" anchor="ctr"/>
                </a:tc>
                <a:tc>
                  <a:txBody>
                    <a:bodyPr/>
                    <a:lstStyle/>
                    <a:p>
                      <a:pPr>
                        <a:buNone/>
                      </a:pPr>
                      <a:r>
                        <a:rPr lang="en-IN" sz="1200"/>
                        <a:t>Enables real-time outbreak communication</a:t>
                      </a:r>
                    </a:p>
                  </a:txBody>
                  <a:tcPr marL="42464" marR="42464" marT="21232" marB="21232" anchor="ctr"/>
                </a:tc>
                <a:tc>
                  <a:txBody>
                    <a:bodyPr/>
                    <a:lstStyle/>
                    <a:p>
                      <a:pPr>
                        <a:buNone/>
                      </a:pPr>
                      <a:r>
                        <a:rPr lang="en-IN" sz="1200"/>
                        <a:t>Accuracy assurance not addressed</a:t>
                      </a:r>
                    </a:p>
                  </a:txBody>
                  <a:tcPr marL="42464" marR="42464" marT="21232" marB="21232" anchor="ctr"/>
                </a:tc>
                <a:extLst>
                  <a:ext uri="{0D108BD9-81ED-4DB2-BD59-A6C34878D82A}">
                    <a16:rowId xmlns:a16="http://schemas.microsoft.com/office/drawing/2014/main" val="2075019097"/>
                  </a:ext>
                </a:extLst>
              </a:tr>
              <a:tr h="555322">
                <a:tc>
                  <a:txBody>
                    <a:bodyPr/>
                    <a:lstStyle/>
                    <a:p>
                      <a:pPr>
                        <a:buNone/>
                      </a:pPr>
                      <a:r>
                        <a:rPr lang="en-IN" sz="1200" b="1"/>
                        <a:t>Singhal et al., 2023</a:t>
                      </a:r>
                      <a:endParaRPr lang="en-IN" sz="1200"/>
                    </a:p>
                  </a:txBody>
                  <a:tcPr marL="42464" marR="42464" marT="21232" marB="21232" anchor="ctr"/>
                </a:tc>
                <a:tc>
                  <a:txBody>
                    <a:bodyPr/>
                    <a:lstStyle/>
                    <a:p>
                      <a:pPr>
                        <a:buNone/>
                      </a:pPr>
                      <a:r>
                        <a:rPr lang="en-IN" sz="1200"/>
                        <a:t>Medical LLM capability</a:t>
                      </a:r>
                    </a:p>
                  </a:txBody>
                  <a:tcPr marL="42464" marR="42464" marT="21232" marB="21232" anchor="ctr"/>
                </a:tc>
                <a:tc>
                  <a:txBody>
                    <a:bodyPr/>
                    <a:lstStyle/>
                    <a:p>
                      <a:pPr>
                        <a:buNone/>
                      </a:pPr>
                      <a:r>
                        <a:rPr lang="en-IN" sz="1200"/>
                        <a:t>LLM evaluation study</a:t>
                      </a:r>
                    </a:p>
                  </a:txBody>
                  <a:tcPr marL="42464" marR="42464" marT="21232" marB="21232" anchor="ctr"/>
                </a:tc>
                <a:tc>
                  <a:txBody>
                    <a:bodyPr/>
                    <a:lstStyle/>
                    <a:p>
                      <a:pPr>
                        <a:buNone/>
                      </a:pPr>
                      <a:r>
                        <a:rPr lang="en-US" sz="1200"/>
                        <a:t>Confirms strong medical knowledge in LLMs</a:t>
                      </a:r>
                    </a:p>
                  </a:txBody>
                  <a:tcPr marL="42464" marR="42464" marT="21232" marB="21232" anchor="ctr"/>
                </a:tc>
                <a:tc>
                  <a:txBody>
                    <a:bodyPr/>
                    <a:lstStyle/>
                    <a:p>
                      <a:pPr>
                        <a:buNone/>
                      </a:pPr>
                      <a:r>
                        <a:rPr lang="en-IN" sz="1200"/>
                        <a:t>Prone to hallucinated responses</a:t>
                      </a:r>
                    </a:p>
                  </a:txBody>
                  <a:tcPr marL="42464" marR="42464" marT="21232" marB="21232" anchor="ctr"/>
                </a:tc>
                <a:extLst>
                  <a:ext uri="{0D108BD9-81ED-4DB2-BD59-A6C34878D82A}">
                    <a16:rowId xmlns:a16="http://schemas.microsoft.com/office/drawing/2014/main" val="1483158629"/>
                  </a:ext>
                </a:extLst>
              </a:tr>
              <a:tr h="555322">
                <a:tc>
                  <a:txBody>
                    <a:bodyPr/>
                    <a:lstStyle/>
                    <a:p>
                      <a:pPr>
                        <a:buNone/>
                      </a:pPr>
                      <a:r>
                        <a:rPr lang="en-IN" sz="1200" b="1"/>
                        <a:t>Ji et al., 2023</a:t>
                      </a:r>
                      <a:endParaRPr lang="en-IN" sz="1200"/>
                    </a:p>
                  </a:txBody>
                  <a:tcPr marL="42464" marR="42464" marT="21232" marB="21232" anchor="ctr"/>
                </a:tc>
                <a:tc>
                  <a:txBody>
                    <a:bodyPr/>
                    <a:lstStyle/>
                    <a:p>
                      <a:pPr>
                        <a:buNone/>
                      </a:pPr>
                      <a:r>
                        <a:rPr lang="en-IN" sz="1200"/>
                        <a:t>Hallucination risks</a:t>
                      </a:r>
                    </a:p>
                  </a:txBody>
                  <a:tcPr marL="42464" marR="42464" marT="21232" marB="21232" anchor="ctr"/>
                </a:tc>
                <a:tc>
                  <a:txBody>
                    <a:bodyPr/>
                    <a:lstStyle/>
                    <a:p>
                      <a:pPr>
                        <a:buNone/>
                      </a:pPr>
                      <a:r>
                        <a:rPr lang="en-IN" sz="1200"/>
                        <a:t>Survey study</a:t>
                      </a:r>
                    </a:p>
                  </a:txBody>
                  <a:tcPr marL="42464" marR="42464" marT="21232" marB="21232" anchor="ctr"/>
                </a:tc>
                <a:tc>
                  <a:txBody>
                    <a:bodyPr/>
                    <a:lstStyle/>
                    <a:p>
                      <a:pPr>
                        <a:buNone/>
                      </a:pPr>
                      <a:r>
                        <a:rPr lang="en-US" sz="1200"/>
                        <a:t>Identifies hallucination as high risk in healthcare</a:t>
                      </a:r>
                    </a:p>
                  </a:txBody>
                  <a:tcPr marL="42464" marR="42464" marT="21232" marB="21232" anchor="ctr"/>
                </a:tc>
                <a:tc>
                  <a:txBody>
                    <a:bodyPr/>
                    <a:lstStyle/>
                    <a:p>
                      <a:pPr>
                        <a:buNone/>
                      </a:pPr>
                      <a:r>
                        <a:rPr lang="en-IN" sz="1200"/>
                        <a:t>No practical mitigation framework</a:t>
                      </a:r>
                    </a:p>
                  </a:txBody>
                  <a:tcPr marL="42464" marR="42464" marT="21232" marB="21232" anchor="ctr"/>
                </a:tc>
                <a:extLst>
                  <a:ext uri="{0D108BD9-81ED-4DB2-BD59-A6C34878D82A}">
                    <a16:rowId xmlns:a16="http://schemas.microsoft.com/office/drawing/2014/main" val="2248451807"/>
                  </a:ext>
                </a:extLst>
              </a:tr>
              <a:tr h="397904">
                <a:tc>
                  <a:txBody>
                    <a:bodyPr/>
                    <a:lstStyle/>
                    <a:p>
                      <a:pPr>
                        <a:buNone/>
                      </a:pPr>
                      <a:r>
                        <a:rPr lang="en-IN" sz="1200" b="1"/>
                        <a:t>Lewis et al., 2020</a:t>
                      </a:r>
                      <a:endParaRPr lang="en-IN" sz="1200"/>
                    </a:p>
                  </a:txBody>
                  <a:tcPr marL="42464" marR="42464" marT="21232" marB="21232" anchor="ctr"/>
                </a:tc>
                <a:tc>
                  <a:txBody>
                    <a:bodyPr/>
                    <a:lstStyle/>
                    <a:p>
                      <a:pPr>
                        <a:buNone/>
                      </a:pPr>
                      <a:r>
                        <a:rPr lang="en-IN" sz="1200"/>
                        <a:t>Factual text generation</a:t>
                      </a:r>
                    </a:p>
                  </a:txBody>
                  <a:tcPr marL="42464" marR="42464" marT="21232" marB="21232" anchor="ctr"/>
                </a:tc>
                <a:tc>
                  <a:txBody>
                    <a:bodyPr/>
                    <a:lstStyle/>
                    <a:p>
                      <a:pPr>
                        <a:buNone/>
                      </a:pPr>
                      <a:r>
                        <a:rPr lang="en-IN" sz="1200"/>
                        <a:t>RAG framework</a:t>
                      </a:r>
                    </a:p>
                  </a:txBody>
                  <a:tcPr marL="42464" marR="42464" marT="21232" marB="21232" anchor="ctr"/>
                </a:tc>
                <a:tc>
                  <a:txBody>
                    <a:bodyPr/>
                    <a:lstStyle/>
                    <a:p>
                      <a:pPr>
                        <a:buNone/>
                      </a:pPr>
                      <a:r>
                        <a:rPr lang="en-IN" sz="1200"/>
                        <a:t>Introduces retrieval-grounded generation</a:t>
                      </a:r>
                    </a:p>
                  </a:txBody>
                  <a:tcPr marL="42464" marR="42464" marT="21232" marB="21232" anchor="ctr"/>
                </a:tc>
                <a:tc>
                  <a:txBody>
                    <a:bodyPr/>
                    <a:lstStyle/>
                    <a:p>
                      <a:pPr>
                        <a:buNone/>
                      </a:pPr>
                      <a:r>
                        <a:rPr lang="en-IN" sz="1200"/>
                        <a:t>Not domain-specific to healthcare</a:t>
                      </a:r>
                    </a:p>
                  </a:txBody>
                  <a:tcPr marL="42464" marR="42464" marT="21232" marB="21232" anchor="ctr"/>
                </a:tc>
                <a:extLst>
                  <a:ext uri="{0D108BD9-81ED-4DB2-BD59-A6C34878D82A}">
                    <a16:rowId xmlns:a16="http://schemas.microsoft.com/office/drawing/2014/main" val="2328694248"/>
                  </a:ext>
                </a:extLst>
              </a:tr>
              <a:tr h="391897">
                <a:tc>
                  <a:txBody>
                    <a:bodyPr/>
                    <a:lstStyle/>
                    <a:p>
                      <a:pPr>
                        <a:buNone/>
                      </a:pPr>
                      <a:r>
                        <a:rPr lang="en-IN" sz="1200" b="1"/>
                        <a:t>Izacard &amp; Grave, 2021</a:t>
                      </a:r>
                      <a:endParaRPr lang="en-IN" sz="1200"/>
                    </a:p>
                  </a:txBody>
                  <a:tcPr marL="42464" marR="42464" marT="21232" marB="21232" anchor="ctr"/>
                </a:tc>
                <a:tc>
                  <a:txBody>
                    <a:bodyPr/>
                    <a:lstStyle/>
                    <a:p>
                      <a:pPr>
                        <a:buNone/>
                      </a:pPr>
                      <a:r>
                        <a:rPr lang="en-IN" sz="1200"/>
                        <a:t>Retrieval-based QA</a:t>
                      </a:r>
                    </a:p>
                  </a:txBody>
                  <a:tcPr marL="42464" marR="42464" marT="21232" marB="21232" anchor="ctr"/>
                </a:tc>
                <a:tc>
                  <a:txBody>
                    <a:bodyPr/>
                    <a:lstStyle/>
                    <a:p>
                      <a:pPr>
                        <a:buNone/>
                      </a:pPr>
                      <a:r>
                        <a:rPr lang="en-IN" sz="1200"/>
                        <a:t>Passage retrieval + generation</a:t>
                      </a:r>
                    </a:p>
                  </a:txBody>
                  <a:tcPr marL="42464" marR="42464" marT="21232" marB="21232" anchor="ctr"/>
                </a:tc>
                <a:tc>
                  <a:txBody>
                    <a:bodyPr/>
                    <a:lstStyle/>
                    <a:p>
                      <a:pPr>
                        <a:buNone/>
                      </a:pPr>
                      <a:r>
                        <a:rPr lang="en-IN" sz="1200"/>
                        <a:t>Improves factual correctness</a:t>
                      </a:r>
                    </a:p>
                  </a:txBody>
                  <a:tcPr marL="42464" marR="42464" marT="21232" marB="21232" anchor="ctr"/>
                </a:tc>
                <a:tc>
                  <a:txBody>
                    <a:bodyPr/>
                    <a:lstStyle/>
                    <a:p>
                      <a:pPr>
                        <a:buNone/>
                      </a:pPr>
                      <a:r>
                        <a:rPr lang="en-IN" sz="1200"/>
                        <a:t>Tested on open-domain datasets</a:t>
                      </a:r>
                    </a:p>
                  </a:txBody>
                  <a:tcPr marL="42464" marR="42464" marT="21232" marB="21232" anchor="ctr"/>
                </a:tc>
                <a:extLst>
                  <a:ext uri="{0D108BD9-81ED-4DB2-BD59-A6C34878D82A}">
                    <a16:rowId xmlns:a16="http://schemas.microsoft.com/office/drawing/2014/main" val="2405781438"/>
                  </a:ext>
                </a:extLst>
              </a:tr>
              <a:tr h="397904">
                <a:tc>
                  <a:txBody>
                    <a:bodyPr/>
                    <a:lstStyle/>
                    <a:p>
                      <a:pPr>
                        <a:buNone/>
                      </a:pPr>
                      <a:r>
                        <a:rPr lang="en-IN" sz="1200" b="1"/>
                        <a:t>Miner et al., 2020</a:t>
                      </a:r>
                      <a:endParaRPr lang="en-IN" sz="1200"/>
                    </a:p>
                  </a:txBody>
                  <a:tcPr marL="42464" marR="42464" marT="21232" marB="21232" anchor="ctr"/>
                </a:tc>
                <a:tc>
                  <a:txBody>
                    <a:bodyPr/>
                    <a:lstStyle/>
                    <a:p>
                      <a:pPr>
                        <a:buNone/>
                      </a:pPr>
                      <a:r>
                        <a:rPr lang="en-IN" sz="1200"/>
                        <a:t>Pandemic chatbots</a:t>
                      </a:r>
                    </a:p>
                  </a:txBody>
                  <a:tcPr marL="42464" marR="42464" marT="21232" marB="21232" anchor="ctr"/>
                </a:tc>
                <a:tc>
                  <a:txBody>
                    <a:bodyPr/>
                    <a:lstStyle/>
                    <a:p>
                      <a:pPr>
                        <a:buNone/>
                      </a:pPr>
                      <a:r>
                        <a:rPr lang="en-IN" sz="1200"/>
                        <a:t>Review of deployments</a:t>
                      </a:r>
                    </a:p>
                  </a:txBody>
                  <a:tcPr marL="42464" marR="42464" marT="21232" marB="21232" anchor="ctr"/>
                </a:tc>
                <a:tc>
                  <a:txBody>
                    <a:bodyPr/>
                    <a:lstStyle/>
                    <a:p>
                      <a:pPr>
                        <a:buNone/>
                      </a:pPr>
                      <a:r>
                        <a:rPr lang="en-IN" sz="1200"/>
                        <a:t>Supports large-scale health communication</a:t>
                      </a:r>
                    </a:p>
                  </a:txBody>
                  <a:tcPr marL="42464" marR="42464" marT="21232" marB="21232" anchor="ctr"/>
                </a:tc>
                <a:tc>
                  <a:txBody>
                    <a:bodyPr/>
                    <a:lstStyle/>
                    <a:p>
                      <a:pPr>
                        <a:buNone/>
                      </a:pPr>
                      <a:r>
                        <a:rPr lang="en-IN" sz="1200"/>
                        <a:t>Mostly rule-based systems</a:t>
                      </a:r>
                    </a:p>
                  </a:txBody>
                  <a:tcPr marL="42464" marR="42464" marT="21232" marB="21232" anchor="ctr"/>
                </a:tc>
                <a:extLst>
                  <a:ext uri="{0D108BD9-81ED-4DB2-BD59-A6C34878D82A}">
                    <a16:rowId xmlns:a16="http://schemas.microsoft.com/office/drawing/2014/main" val="1376129401"/>
                  </a:ext>
                </a:extLst>
              </a:tr>
              <a:tr h="397904">
                <a:tc>
                  <a:txBody>
                    <a:bodyPr/>
                    <a:lstStyle/>
                    <a:p>
                      <a:pPr>
                        <a:buNone/>
                      </a:pPr>
                      <a:r>
                        <a:rPr lang="en-IN" sz="1200" b="1"/>
                        <a:t>Devaraj et al., 2022</a:t>
                      </a:r>
                      <a:endParaRPr lang="en-IN" sz="1200"/>
                    </a:p>
                  </a:txBody>
                  <a:tcPr marL="42464" marR="42464" marT="21232" marB="21232" anchor="ctr"/>
                </a:tc>
                <a:tc>
                  <a:txBody>
                    <a:bodyPr/>
                    <a:lstStyle/>
                    <a:p>
                      <a:pPr>
                        <a:buNone/>
                      </a:pPr>
                      <a:r>
                        <a:rPr lang="en-IN" sz="1200"/>
                        <a:t>Evidence-based support</a:t>
                      </a:r>
                    </a:p>
                  </a:txBody>
                  <a:tcPr marL="42464" marR="42464" marT="21232" marB="21232" anchor="ctr"/>
                </a:tc>
                <a:tc>
                  <a:txBody>
                    <a:bodyPr/>
                    <a:lstStyle/>
                    <a:p>
                      <a:pPr>
                        <a:buNone/>
                      </a:pPr>
                      <a:r>
                        <a:rPr lang="en-IN" sz="1200"/>
                        <a:t>NLP + document retrieval</a:t>
                      </a:r>
                    </a:p>
                  </a:txBody>
                  <a:tcPr marL="42464" marR="42464" marT="21232" marB="21232" anchor="ctr"/>
                </a:tc>
                <a:tc>
                  <a:txBody>
                    <a:bodyPr/>
                    <a:lstStyle/>
                    <a:p>
                      <a:pPr>
                        <a:buNone/>
                      </a:pPr>
                      <a:r>
                        <a:rPr lang="en-US" sz="1200"/>
                        <a:t>Grounds medical outputs in evidence</a:t>
                      </a:r>
                    </a:p>
                  </a:txBody>
                  <a:tcPr marL="42464" marR="42464" marT="21232" marB="21232" anchor="ctr"/>
                </a:tc>
                <a:tc>
                  <a:txBody>
                    <a:bodyPr/>
                    <a:lstStyle/>
                    <a:p>
                      <a:pPr>
                        <a:buNone/>
                      </a:pPr>
                      <a:r>
                        <a:rPr lang="en-IN" sz="1200" dirty="0"/>
                        <a:t>No conversational chatbot interface</a:t>
                      </a:r>
                    </a:p>
                  </a:txBody>
                  <a:tcPr marL="42464" marR="42464" marT="21232" marB="21232" anchor="ctr"/>
                </a:tc>
                <a:extLst>
                  <a:ext uri="{0D108BD9-81ED-4DB2-BD59-A6C34878D82A}">
                    <a16:rowId xmlns:a16="http://schemas.microsoft.com/office/drawing/2014/main" val="657016304"/>
                  </a:ext>
                </a:extLst>
              </a:tr>
            </a:tbl>
          </a:graphicData>
        </a:graphic>
      </p:graphicFrame>
    </p:spTree>
    <p:extLst>
      <p:ext uri="{BB962C8B-B14F-4D97-AF65-F5344CB8AC3E}">
        <p14:creationId xmlns:p14="http://schemas.microsoft.com/office/powerpoint/2010/main" val="2005508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a:off x="891641" y="283210"/>
            <a:ext cx="7863205" cy="443055"/>
          </a:xfrm>
          <a:prstGeom prst="rect">
            <a:avLst/>
          </a:prstGeom>
          <a:noFill/>
          <a:ln>
            <a:noFill/>
          </a:ln>
        </p:spPr>
        <p:txBody>
          <a:bodyPr spcFirstLastPara="1" wrap="square" lIns="0" tIns="12050" rIns="0" bIns="0" anchor="t" anchorCtr="0">
            <a:spAutoFit/>
          </a:bodyPr>
          <a:lstStyle/>
          <a:p>
            <a:pPr marL="12700" lvl="0"/>
            <a:r>
              <a:rPr lang="en-US" dirty="0"/>
              <a:t>Objectives</a:t>
            </a:r>
            <a:endParaRPr dirty="0"/>
          </a:p>
        </p:txBody>
      </p:sp>
      <p:sp>
        <p:nvSpPr>
          <p:cNvPr id="80" name="Google Shape;80;p12"/>
          <p:cNvSpPr txBox="1"/>
          <p:nvPr/>
        </p:nvSpPr>
        <p:spPr>
          <a:xfrm>
            <a:off x="891641" y="995896"/>
            <a:ext cx="10511700" cy="4476210"/>
          </a:xfrm>
          <a:prstGeom prst="rect">
            <a:avLst/>
          </a:prstGeom>
          <a:noFill/>
          <a:ln>
            <a:noFill/>
          </a:ln>
        </p:spPr>
        <p:txBody>
          <a:bodyPr spcFirstLastPara="1" wrap="square" lIns="0" tIns="43800" rIns="0" bIns="0" anchor="t" anchorCtr="0">
            <a:spAutoFit/>
          </a:bodyPr>
          <a:lstStyle/>
          <a:p>
            <a:pPr marL="285750" indent="-285750">
              <a:buFont typeface="Arial" panose="020B0604020202020204" pitchFamily="34" charset="0"/>
              <a:buChar char="•"/>
            </a:pPr>
            <a:r>
              <a:rPr lang="en-US" sz="1800" dirty="0"/>
              <a:t>To design and develop an AI-driven public health chatbot capable of answering user queries related to preventive healthcare, disease symptoms, and vaccination awareness by retrieving information exclusively from trusted medical knowledge sources</a:t>
            </a:r>
          </a:p>
          <a:p>
            <a:endParaRPr lang="en-US" sz="1800" dirty="0"/>
          </a:p>
          <a:p>
            <a:pPr marL="285750" indent="-285750">
              <a:buFont typeface="Arial" panose="020B0604020202020204" pitchFamily="34" charset="0"/>
              <a:buChar char="•"/>
            </a:pPr>
            <a:r>
              <a:rPr lang="en-US" sz="1800" dirty="0"/>
              <a:t>To implement a Retrieval-Augmented Generation (RAG) framework that integrates semantic document retrieval with large language models to generate accurate, context-aware, and document-grounded responses.</a:t>
            </a:r>
          </a:p>
          <a:p>
            <a:endParaRPr lang="en-US" sz="1800" dirty="0"/>
          </a:p>
          <a:p>
            <a:pPr marL="285750" indent="-285750">
              <a:buFont typeface="Arial" panose="020B0604020202020204" pitchFamily="34" charset="0"/>
              <a:buChar char="•"/>
            </a:pPr>
            <a:r>
              <a:rPr lang="en-US" sz="1800" dirty="0"/>
              <a:t>To minimize misinformation and hallucinations by ensuring that all chatbot responses are strictly supported by verified medical documents and retrieved contextual evidence.</a:t>
            </a:r>
          </a:p>
          <a:p>
            <a:endParaRPr lang="en-US" sz="1800" dirty="0"/>
          </a:p>
          <a:p>
            <a:pPr marL="285750" indent="-285750">
              <a:buFont typeface="Arial" panose="020B0604020202020204" pitchFamily="34" charset="0"/>
              <a:buChar char="•"/>
            </a:pPr>
            <a:r>
              <a:rPr lang="en-US" sz="1800" dirty="0">
                <a:latin typeface="Cambria"/>
                <a:ea typeface="Cambria"/>
                <a:cs typeface="Cambria"/>
                <a:sym typeface="Cambria"/>
              </a:rPr>
              <a:t>T</a:t>
            </a:r>
            <a:r>
              <a:rPr lang="en-US" sz="1800" dirty="0"/>
              <a:t>o enable efficient semantic retrieval of medical information using vector embeddings and a FAISS-based vector database for fast and accurate similarity search.</a:t>
            </a:r>
          </a:p>
          <a:p>
            <a:endParaRPr lang="en-US" sz="1800" dirty="0"/>
          </a:p>
          <a:p>
            <a:pPr marL="285750" indent="-285750">
              <a:buFont typeface="Arial" panose="020B0604020202020204" pitchFamily="34" charset="0"/>
              <a:buChar char="•"/>
            </a:pPr>
            <a:r>
              <a:rPr lang="en-US" sz="1800" dirty="0"/>
              <a:t>To provide a safe, educational, and decision-support interface that assists users in understanding public health information while explicitly avoiding diagnostic or treatment-related recommendations.</a:t>
            </a:r>
            <a:endParaRPr sz="1800" dirty="0">
              <a:latin typeface="Cambria"/>
              <a:ea typeface="Cambria"/>
              <a:cs typeface="Cambria"/>
              <a:sym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891641" y="283210"/>
            <a:ext cx="7863300" cy="443100"/>
          </a:xfrm>
          <a:prstGeom prst="rect">
            <a:avLst/>
          </a:prstGeom>
          <a:noFill/>
          <a:ln>
            <a:noFill/>
          </a:ln>
        </p:spPr>
        <p:txBody>
          <a:bodyPr spcFirstLastPara="1" wrap="square" lIns="0" tIns="12050" rIns="0" bIns="0" anchor="t" anchorCtr="0">
            <a:spAutoFit/>
          </a:bodyPr>
          <a:lstStyle/>
          <a:p>
            <a:pPr marL="12700" lvl="0"/>
            <a:r>
              <a:rPr lang="en-IN" dirty="0"/>
              <a:t>Existing Methods and Drawbacks</a:t>
            </a:r>
            <a:endParaRPr dirty="0"/>
          </a:p>
        </p:txBody>
      </p:sp>
      <p:sp>
        <p:nvSpPr>
          <p:cNvPr id="86" name="Google Shape;86;p13"/>
          <p:cNvSpPr txBox="1"/>
          <p:nvPr/>
        </p:nvSpPr>
        <p:spPr>
          <a:xfrm>
            <a:off x="891641" y="1122438"/>
            <a:ext cx="9994532" cy="3090590"/>
          </a:xfrm>
          <a:prstGeom prst="rect">
            <a:avLst/>
          </a:prstGeom>
          <a:noFill/>
          <a:ln>
            <a:noFill/>
          </a:ln>
        </p:spPr>
        <p:txBody>
          <a:bodyPr spcFirstLastPara="1" wrap="square" lIns="0" tIns="12700" rIns="0" bIns="0" anchor="t" anchorCtr="0">
            <a:spAutoFit/>
          </a:bodyPr>
          <a:lstStyle/>
          <a:p>
            <a:pPr algn="just"/>
            <a:r>
              <a:rPr lang="en-US" sz="2000" dirty="0"/>
              <a:t>Existing public health and medical chatbot systems include rule-based chatbots, keyword-driven information retrieval systems, and standalone large language model (LLM)-based chatbots. Rule-based systems provide predefined responses and lack flexibility when handling diverse or complex user queries. Keyword-based retrieval systems can locate relevant documents but offer limited conversational interaction and poor contextual understanding. LLM-only chatbots generate fluent and natural responses; however, they are prone to hallucinations and cannot guarantee that outputs are grounded in verified medical sources. These limitations significantly impact the reliability, safety, and trustworthiness of current approaches for public health information dissemination.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8355CA82-885D-2CF1-F737-A0B7A61DAFF3}"/>
            </a:ext>
          </a:extLst>
        </p:cNvPr>
        <p:cNvGrpSpPr/>
        <p:nvPr/>
      </p:nvGrpSpPr>
      <p:grpSpPr>
        <a:xfrm>
          <a:off x="0" y="0"/>
          <a:ext cx="0" cy="0"/>
          <a:chOff x="0" y="0"/>
          <a:chExt cx="0" cy="0"/>
        </a:xfrm>
      </p:grpSpPr>
      <p:sp>
        <p:nvSpPr>
          <p:cNvPr id="85" name="Google Shape;85;p13">
            <a:extLst>
              <a:ext uri="{FF2B5EF4-FFF2-40B4-BE49-F238E27FC236}">
                <a16:creationId xmlns:a16="http://schemas.microsoft.com/office/drawing/2014/main" id="{AA3730DB-CA82-8354-1627-825A4AEA4C1E}"/>
              </a:ext>
            </a:extLst>
          </p:cNvPr>
          <p:cNvSpPr txBox="1">
            <a:spLocks noGrp="1"/>
          </p:cNvSpPr>
          <p:nvPr>
            <p:ph type="title"/>
          </p:nvPr>
        </p:nvSpPr>
        <p:spPr>
          <a:xfrm>
            <a:off x="891641" y="283210"/>
            <a:ext cx="7863300" cy="443100"/>
          </a:xfrm>
          <a:prstGeom prst="rect">
            <a:avLst/>
          </a:prstGeom>
          <a:noFill/>
          <a:ln>
            <a:noFill/>
          </a:ln>
        </p:spPr>
        <p:txBody>
          <a:bodyPr spcFirstLastPara="1" wrap="square" lIns="0" tIns="12050" rIns="0" bIns="0" anchor="t" anchorCtr="0">
            <a:spAutoFit/>
          </a:bodyPr>
          <a:lstStyle/>
          <a:p>
            <a:pPr marL="12700" lvl="0"/>
            <a:r>
              <a:rPr lang="en-IN" dirty="0"/>
              <a:t>Proposed Methodology &amp; Feasibility Study</a:t>
            </a:r>
            <a:endParaRPr dirty="0"/>
          </a:p>
        </p:txBody>
      </p:sp>
      <p:sp>
        <p:nvSpPr>
          <p:cNvPr id="86" name="Google Shape;86;p13">
            <a:extLst>
              <a:ext uri="{FF2B5EF4-FFF2-40B4-BE49-F238E27FC236}">
                <a16:creationId xmlns:a16="http://schemas.microsoft.com/office/drawing/2014/main" id="{DC16BB73-C653-070D-4276-F1DFE677AD17}"/>
              </a:ext>
            </a:extLst>
          </p:cNvPr>
          <p:cNvSpPr txBox="1"/>
          <p:nvPr/>
        </p:nvSpPr>
        <p:spPr>
          <a:xfrm>
            <a:off x="891641" y="1035811"/>
            <a:ext cx="9994900" cy="4444807"/>
          </a:xfrm>
          <a:prstGeom prst="rect">
            <a:avLst/>
          </a:prstGeom>
          <a:noFill/>
          <a:ln>
            <a:noFill/>
          </a:ln>
        </p:spPr>
        <p:txBody>
          <a:bodyPr spcFirstLastPara="1" wrap="square" lIns="0" tIns="12700" rIns="0" bIns="0" anchor="t" anchorCtr="0">
            <a:spAutoFit/>
          </a:bodyPr>
          <a:lstStyle/>
          <a:p>
            <a:r>
              <a:rPr lang="en-IN" sz="2000" b="1" dirty="0"/>
              <a:t>Proposed Methodology</a:t>
            </a:r>
          </a:p>
          <a:p>
            <a:pPr marL="285750" indent="-285750">
              <a:buFont typeface="Arial" panose="020B0604020202020204" pitchFamily="34" charset="0"/>
              <a:buChar char="•"/>
            </a:pPr>
            <a:r>
              <a:rPr lang="en-IN" sz="1800" dirty="0"/>
              <a:t>Ingest trusted medical PDF documents.</a:t>
            </a:r>
          </a:p>
          <a:p>
            <a:pPr marL="285750" indent="-285750">
              <a:buFont typeface="Arial" panose="020B0604020202020204" pitchFamily="34" charset="0"/>
              <a:buChar char="•"/>
            </a:pPr>
            <a:r>
              <a:rPr lang="en-IN" sz="1800" dirty="0"/>
              <a:t>Preprocess and split documents into semantic text chunks.</a:t>
            </a:r>
          </a:p>
          <a:p>
            <a:pPr marL="285750" indent="-285750">
              <a:buFont typeface="Arial" panose="020B0604020202020204" pitchFamily="34" charset="0"/>
              <a:buChar char="•"/>
            </a:pPr>
            <a:r>
              <a:rPr lang="en-IN" sz="1800" dirty="0"/>
              <a:t>Generate vector embeddings for each chunk.</a:t>
            </a:r>
          </a:p>
          <a:p>
            <a:pPr marL="285750" indent="-285750">
              <a:buFont typeface="Arial" panose="020B0604020202020204" pitchFamily="34" charset="0"/>
              <a:buChar char="•"/>
            </a:pPr>
            <a:r>
              <a:rPr lang="en-IN" sz="1800" dirty="0"/>
              <a:t>Store embeddings in a FAISS vector database for semantic search.</a:t>
            </a:r>
          </a:p>
          <a:p>
            <a:pPr marL="285750" indent="-285750">
              <a:buFont typeface="Arial" panose="020B0604020202020204" pitchFamily="34" charset="0"/>
              <a:buChar char="•"/>
            </a:pPr>
            <a:r>
              <a:rPr lang="en-IN" sz="1800" dirty="0"/>
              <a:t>Retrieve relevant document chunks based on user queries.</a:t>
            </a:r>
          </a:p>
          <a:p>
            <a:pPr marL="285750" indent="-285750">
              <a:buFont typeface="Arial" panose="020B0604020202020204" pitchFamily="34" charset="0"/>
              <a:buChar char="•"/>
            </a:pPr>
            <a:r>
              <a:rPr lang="en-IN" sz="1800" dirty="0"/>
              <a:t>Use a Large Language Model to generate responses strictly from retrieved content.</a:t>
            </a:r>
          </a:p>
          <a:p>
            <a:pPr marL="285750" indent="-285750">
              <a:buFont typeface="Arial" panose="020B0604020202020204" pitchFamily="34" charset="0"/>
              <a:buChar char="•"/>
            </a:pPr>
            <a:r>
              <a:rPr lang="en-IN" sz="1800" dirty="0"/>
              <a:t>Deliver responses through a chatbot interface.</a:t>
            </a:r>
          </a:p>
          <a:p>
            <a:endParaRPr lang="en-IN" sz="1800" dirty="0"/>
          </a:p>
          <a:p>
            <a:r>
              <a:rPr lang="en-IN" sz="2000" b="1" dirty="0"/>
              <a:t>Feasibility Study</a:t>
            </a:r>
          </a:p>
          <a:p>
            <a:pPr marL="342900" indent="-342900">
              <a:buFont typeface="Arial" panose="020B0604020202020204" pitchFamily="34" charset="0"/>
              <a:buChar char="•"/>
            </a:pPr>
            <a:r>
              <a:rPr lang="en-IN" sz="2000" dirty="0"/>
              <a:t>Technical Feasibility: Implemented using open-source tools (</a:t>
            </a:r>
            <a:r>
              <a:rPr lang="en-IN" sz="2000" dirty="0" err="1"/>
              <a:t>LangChain</a:t>
            </a:r>
            <a:r>
              <a:rPr lang="en-IN" sz="2000" dirty="0"/>
              <a:t>, FAISS, </a:t>
            </a:r>
            <a:r>
              <a:rPr lang="en-IN" sz="2000" dirty="0" err="1"/>
              <a:t>HuggingFace</a:t>
            </a:r>
            <a:r>
              <a:rPr lang="en-IN" sz="2000" dirty="0"/>
              <a:t>, </a:t>
            </a:r>
            <a:r>
              <a:rPr lang="en-IN" sz="2000" dirty="0" err="1"/>
              <a:t>Streamlit</a:t>
            </a:r>
            <a:r>
              <a:rPr lang="en-IN" sz="2000" dirty="0"/>
              <a:t>).</a:t>
            </a:r>
          </a:p>
          <a:p>
            <a:pPr marL="342900" indent="-342900">
              <a:buFont typeface="Arial" panose="020B0604020202020204" pitchFamily="34" charset="0"/>
              <a:buChar char="•"/>
            </a:pPr>
            <a:r>
              <a:rPr lang="en-IN" sz="2000" dirty="0"/>
              <a:t>Cost Feasibility: No licensing cost; runs on standard CPU-based systems.</a:t>
            </a:r>
          </a:p>
          <a:p>
            <a:pPr marL="342900" indent="-342900">
              <a:buFont typeface="Arial" panose="020B0604020202020204" pitchFamily="34" charset="0"/>
              <a:buChar char="•"/>
            </a:pPr>
            <a:r>
              <a:rPr lang="en-IN" sz="2000" dirty="0"/>
              <a:t>Resource Feasibility: Modular architecture allows incremental development and easy maintenance.</a:t>
            </a:r>
          </a:p>
        </p:txBody>
      </p:sp>
    </p:spTree>
    <p:extLst>
      <p:ext uri="{BB962C8B-B14F-4D97-AF65-F5344CB8AC3E}">
        <p14:creationId xmlns:p14="http://schemas.microsoft.com/office/powerpoint/2010/main" val="663153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B4342BC8-E74B-E68E-345B-B1818C0F8818}"/>
            </a:ext>
          </a:extLst>
        </p:cNvPr>
        <p:cNvGrpSpPr/>
        <p:nvPr/>
      </p:nvGrpSpPr>
      <p:grpSpPr>
        <a:xfrm>
          <a:off x="0" y="0"/>
          <a:ext cx="0" cy="0"/>
          <a:chOff x="0" y="0"/>
          <a:chExt cx="0" cy="0"/>
        </a:xfrm>
      </p:grpSpPr>
      <p:sp>
        <p:nvSpPr>
          <p:cNvPr id="85" name="Google Shape;85;p13">
            <a:extLst>
              <a:ext uri="{FF2B5EF4-FFF2-40B4-BE49-F238E27FC236}">
                <a16:creationId xmlns:a16="http://schemas.microsoft.com/office/drawing/2014/main" id="{88C5D461-AFD9-0689-E2BB-333BA9B7A0C3}"/>
              </a:ext>
            </a:extLst>
          </p:cNvPr>
          <p:cNvSpPr txBox="1">
            <a:spLocks noGrp="1"/>
          </p:cNvSpPr>
          <p:nvPr>
            <p:ph type="title"/>
          </p:nvPr>
        </p:nvSpPr>
        <p:spPr>
          <a:xfrm>
            <a:off x="891641" y="283210"/>
            <a:ext cx="7863300" cy="443100"/>
          </a:xfrm>
          <a:prstGeom prst="rect">
            <a:avLst/>
          </a:prstGeom>
          <a:noFill/>
          <a:ln>
            <a:noFill/>
          </a:ln>
        </p:spPr>
        <p:txBody>
          <a:bodyPr spcFirstLastPara="1" wrap="square" lIns="0" tIns="12050" rIns="0" bIns="0" anchor="t" anchorCtr="0">
            <a:spAutoFit/>
          </a:bodyPr>
          <a:lstStyle/>
          <a:p>
            <a:pPr marL="12700" lvl="0"/>
            <a:r>
              <a:rPr lang="en-IN" dirty="0"/>
              <a:t>Architecture Diagram</a:t>
            </a:r>
            <a:endParaRPr dirty="0"/>
          </a:p>
        </p:txBody>
      </p:sp>
      <p:sp>
        <p:nvSpPr>
          <p:cNvPr id="86" name="Google Shape;86;p13">
            <a:extLst>
              <a:ext uri="{FF2B5EF4-FFF2-40B4-BE49-F238E27FC236}">
                <a16:creationId xmlns:a16="http://schemas.microsoft.com/office/drawing/2014/main" id="{9389205B-BA38-2FB7-6C24-378EF6E2270B}"/>
              </a:ext>
            </a:extLst>
          </p:cNvPr>
          <p:cNvSpPr txBox="1"/>
          <p:nvPr/>
        </p:nvSpPr>
        <p:spPr>
          <a:xfrm>
            <a:off x="891641" y="1035811"/>
            <a:ext cx="9994900" cy="320601"/>
          </a:xfrm>
          <a:prstGeom prst="rect">
            <a:avLst/>
          </a:prstGeom>
          <a:noFill/>
          <a:ln>
            <a:noFill/>
          </a:ln>
        </p:spPr>
        <p:txBody>
          <a:bodyPr spcFirstLastPara="1" wrap="square" lIns="0" tIns="12700" rIns="0" bIns="0" anchor="t" anchorCtr="0">
            <a:spAutoFit/>
          </a:bodyPr>
          <a:lstStyle/>
          <a:p>
            <a:r>
              <a:rPr lang="en-IN" sz="2000" b="1" dirty="0"/>
              <a:t> </a:t>
            </a:r>
            <a:endParaRPr lang="en-IN" sz="2000" dirty="0"/>
          </a:p>
        </p:txBody>
      </p:sp>
      <p:pic>
        <p:nvPicPr>
          <p:cNvPr id="4" name="Picture 3">
            <a:extLst>
              <a:ext uri="{FF2B5EF4-FFF2-40B4-BE49-F238E27FC236}">
                <a16:creationId xmlns:a16="http://schemas.microsoft.com/office/drawing/2014/main" id="{0F749D5F-02E8-BD3F-210F-513D4CB257CE}"/>
              </a:ext>
            </a:extLst>
          </p:cNvPr>
          <p:cNvPicPr>
            <a:picLocks noChangeAspect="1"/>
          </p:cNvPicPr>
          <p:nvPr/>
        </p:nvPicPr>
        <p:blipFill>
          <a:blip r:embed="rId3"/>
          <a:stretch>
            <a:fillRect/>
          </a:stretch>
        </p:blipFill>
        <p:spPr>
          <a:xfrm>
            <a:off x="1126156" y="968114"/>
            <a:ext cx="10327907" cy="5181669"/>
          </a:xfrm>
          <a:prstGeom prst="rect">
            <a:avLst/>
          </a:prstGeom>
        </p:spPr>
      </p:pic>
    </p:spTree>
    <p:extLst>
      <p:ext uri="{BB962C8B-B14F-4D97-AF65-F5344CB8AC3E}">
        <p14:creationId xmlns:p14="http://schemas.microsoft.com/office/powerpoint/2010/main" val="2523552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E06E89C0-4CBA-2D71-3864-E967516832B0}"/>
            </a:ext>
          </a:extLst>
        </p:cNvPr>
        <p:cNvGrpSpPr/>
        <p:nvPr/>
      </p:nvGrpSpPr>
      <p:grpSpPr>
        <a:xfrm>
          <a:off x="0" y="0"/>
          <a:ext cx="0" cy="0"/>
          <a:chOff x="0" y="0"/>
          <a:chExt cx="0" cy="0"/>
        </a:xfrm>
      </p:grpSpPr>
      <p:sp>
        <p:nvSpPr>
          <p:cNvPr id="85" name="Google Shape;85;p13">
            <a:extLst>
              <a:ext uri="{FF2B5EF4-FFF2-40B4-BE49-F238E27FC236}">
                <a16:creationId xmlns:a16="http://schemas.microsoft.com/office/drawing/2014/main" id="{2BA0CD82-7933-DB94-6051-1193BFDA9927}"/>
              </a:ext>
            </a:extLst>
          </p:cNvPr>
          <p:cNvSpPr txBox="1">
            <a:spLocks noGrp="1"/>
          </p:cNvSpPr>
          <p:nvPr>
            <p:ph type="title"/>
          </p:nvPr>
        </p:nvSpPr>
        <p:spPr>
          <a:xfrm>
            <a:off x="891641" y="283210"/>
            <a:ext cx="7863300" cy="443100"/>
          </a:xfrm>
          <a:prstGeom prst="rect">
            <a:avLst/>
          </a:prstGeom>
          <a:noFill/>
          <a:ln>
            <a:noFill/>
          </a:ln>
        </p:spPr>
        <p:txBody>
          <a:bodyPr spcFirstLastPara="1" wrap="square" lIns="0" tIns="12050" rIns="0" bIns="0" anchor="t" anchorCtr="0">
            <a:spAutoFit/>
          </a:bodyPr>
          <a:lstStyle/>
          <a:p>
            <a:pPr marL="12700" lvl="0"/>
            <a:r>
              <a:rPr lang="en-IN" dirty="0"/>
              <a:t>Modules</a:t>
            </a:r>
            <a:endParaRPr dirty="0"/>
          </a:p>
        </p:txBody>
      </p:sp>
      <p:sp>
        <p:nvSpPr>
          <p:cNvPr id="86" name="Google Shape;86;p13">
            <a:extLst>
              <a:ext uri="{FF2B5EF4-FFF2-40B4-BE49-F238E27FC236}">
                <a16:creationId xmlns:a16="http://schemas.microsoft.com/office/drawing/2014/main" id="{6A218BC6-B49E-8729-9377-0A47013AF3AC}"/>
              </a:ext>
            </a:extLst>
          </p:cNvPr>
          <p:cNvSpPr txBox="1"/>
          <p:nvPr/>
        </p:nvSpPr>
        <p:spPr>
          <a:xfrm>
            <a:off x="891641" y="968324"/>
            <a:ext cx="10581673" cy="5552802"/>
          </a:xfrm>
          <a:prstGeom prst="rect">
            <a:avLst/>
          </a:prstGeom>
          <a:noFill/>
          <a:ln>
            <a:noFill/>
          </a:ln>
        </p:spPr>
        <p:txBody>
          <a:bodyPr spcFirstLastPara="1" wrap="square" lIns="0" tIns="12700" rIns="0" bIns="0" anchor="t" anchorCtr="0">
            <a:spAutoFit/>
          </a:bodyPr>
          <a:lstStyle/>
          <a:p>
            <a:r>
              <a:rPr lang="en-US" sz="1800" b="1" dirty="0"/>
              <a:t>1. Document Ingestion Module</a:t>
            </a:r>
          </a:p>
          <a:p>
            <a:r>
              <a:rPr lang="en-US" sz="1800" dirty="0"/>
              <a:t>This module is responsible for loading trusted medical PDF documents into the system. It extracts raw textual content from the documents and prepares them for further processing. It ensures that only verified and curated medical sources are used for knowledge generation.</a:t>
            </a:r>
          </a:p>
          <a:p>
            <a:endParaRPr lang="en-US" sz="1800" dirty="0"/>
          </a:p>
          <a:p>
            <a:r>
              <a:rPr lang="en-US" sz="1800" b="1" dirty="0"/>
              <a:t>2. Text Chunking Module</a:t>
            </a:r>
          </a:p>
          <a:p>
            <a:r>
              <a:rPr lang="en-US" sz="1800" dirty="0"/>
              <a:t>The extracted text is divided into smaller, meaningful chunks to preserve semantic context and improve retrieval accuracy. Chunking ensures that large documents are efficiently processed while maintaining contextual relevance during question answering.</a:t>
            </a:r>
          </a:p>
          <a:p>
            <a:endParaRPr lang="en-US" sz="1800" dirty="0"/>
          </a:p>
          <a:p>
            <a:r>
              <a:rPr lang="en-US" sz="1800" b="1" dirty="0"/>
              <a:t>3. Embedding Generation Module</a:t>
            </a:r>
          </a:p>
          <a:p>
            <a:r>
              <a:rPr lang="en-US" sz="1800" dirty="0"/>
              <a:t>Each text chunk is converted into numerical vector embeddings using pretrained embedding models. These embeddings capture the semantic meaning of the text and enable similarity-based retrieval during query processing.</a:t>
            </a:r>
          </a:p>
          <a:p>
            <a:endParaRPr lang="en-US" sz="1800" dirty="0"/>
          </a:p>
          <a:p>
            <a:r>
              <a:rPr lang="en-US" sz="1800" b="1" dirty="0"/>
              <a:t>4. Vector Storage Module (FAISS)</a:t>
            </a:r>
          </a:p>
          <a:p>
            <a:r>
              <a:rPr lang="en-US" sz="1800" dirty="0"/>
              <a:t>This module stores the generated embeddings in a FAISS vector database. It supports efficient and scalable semantic similarity search, allowing relevant document chunks to be retrieved quickly based on user queries.</a:t>
            </a:r>
            <a:br>
              <a:rPr lang="en-US" sz="1800" dirty="0"/>
            </a:br>
            <a:endParaRPr lang="en-US" sz="1800" dirty="0"/>
          </a:p>
        </p:txBody>
      </p:sp>
    </p:spTree>
    <p:extLst>
      <p:ext uri="{BB962C8B-B14F-4D97-AF65-F5344CB8AC3E}">
        <p14:creationId xmlns:p14="http://schemas.microsoft.com/office/powerpoint/2010/main" val="506478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C330567C-1571-B4C7-6DC3-296956C9F8ED}"/>
            </a:ext>
          </a:extLst>
        </p:cNvPr>
        <p:cNvGrpSpPr/>
        <p:nvPr/>
      </p:nvGrpSpPr>
      <p:grpSpPr>
        <a:xfrm>
          <a:off x="0" y="0"/>
          <a:ext cx="0" cy="0"/>
          <a:chOff x="0" y="0"/>
          <a:chExt cx="0" cy="0"/>
        </a:xfrm>
      </p:grpSpPr>
      <p:sp>
        <p:nvSpPr>
          <p:cNvPr id="85" name="Google Shape;85;p13">
            <a:extLst>
              <a:ext uri="{FF2B5EF4-FFF2-40B4-BE49-F238E27FC236}">
                <a16:creationId xmlns:a16="http://schemas.microsoft.com/office/drawing/2014/main" id="{90987440-BE7D-716D-DE6D-087631D1B6AC}"/>
              </a:ext>
            </a:extLst>
          </p:cNvPr>
          <p:cNvSpPr txBox="1">
            <a:spLocks noGrp="1"/>
          </p:cNvSpPr>
          <p:nvPr>
            <p:ph type="title"/>
          </p:nvPr>
        </p:nvSpPr>
        <p:spPr>
          <a:xfrm>
            <a:off x="891641" y="283210"/>
            <a:ext cx="7863300" cy="443100"/>
          </a:xfrm>
          <a:prstGeom prst="rect">
            <a:avLst/>
          </a:prstGeom>
          <a:noFill/>
          <a:ln>
            <a:noFill/>
          </a:ln>
        </p:spPr>
        <p:txBody>
          <a:bodyPr spcFirstLastPara="1" wrap="square" lIns="0" tIns="12050" rIns="0" bIns="0" anchor="t" anchorCtr="0">
            <a:spAutoFit/>
          </a:bodyPr>
          <a:lstStyle/>
          <a:p>
            <a:pPr marL="12700" lvl="0"/>
            <a:r>
              <a:rPr lang="en-IN" dirty="0"/>
              <a:t>Modules</a:t>
            </a:r>
            <a:endParaRPr dirty="0"/>
          </a:p>
        </p:txBody>
      </p:sp>
      <p:sp>
        <p:nvSpPr>
          <p:cNvPr id="86" name="Google Shape;86;p13">
            <a:extLst>
              <a:ext uri="{FF2B5EF4-FFF2-40B4-BE49-F238E27FC236}">
                <a16:creationId xmlns:a16="http://schemas.microsoft.com/office/drawing/2014/main" id="{89773314-7511-B64C-611E-F31C92852D14}"/>
              </a:ext>
            </a:extLst>
          </p:cNvPr>
          <p:cNvSpPr txBox="1"/>
          <p:nvPr/>
        </p:nvSpPr>
        <p:spPr>
          <a:xfrm>
            <a:off x="891641" y="968326"/>
            <a:ext cx="10658675" cy="5275803"/>
          </a:xfrm>
          <a:prstGeom prst="rect">
            <a:avLst/>
          </a:prstGeom>
          <a:noFill/>
          <a:ln>
            <a:noFill/>
          </a:ln>
        </p:spPr>
        <p:txBody>
          <a:bodyPr spcFirstLastPara="1" wrap="square" lIns="0" tIns="12700" rIns="0" bIns="0" anchor="t" anchorCtr="0">
            <a:spAutoFit/>
          </a:bodyPr>
          <a:lstStyle/>
          <a:p>
            <a:r>
              <a:rPr lang="en-US" sz="1800" b="1" dirty="0"/>
              <a:t>5. Retrieval Module</a:t>
            </a:r>
          </a:p>
          <a:p>
            <a:r>
              <a:rPr lang="en-US" sz="1800" dirty="0"/>
              <a:t>When a user submits a query, this module converts the query into an embedding and performs semantic search over the FAISS vector database. It retrieves the most relevant document chunks required for generating a grounded response.</a:t>
            </a:r>
          </a:p>
          <a:p>
            <a:endParaRPr lang="en-US" sz="1800" dirty="0"/>
          </a:p>
          <a:p>
            <a:r>
              <a:rPr lang="en-US" sz="1800" b="1" dirty="0"/>
              <a:t>6. LLM Integration Module</a:t>
            </a:r>
          </a:p>
          <a:p>
            <a:r>
              <a:rPr lang="en-US" sz="1800" dirty="0"/>
              <a:t>This module integrates the Large Language Model (Mistral via </a:t>
            </a:r>
            <a:r>
              <a:rPr lang="en-US" sz="1800" dirty="0" err="1"/>
              <a:t>HuggingFace</a:t>
            </a:r>
            <a:r>
              <a:rPr lang="en-US" sz="1800" dirty="0"/>
              <a:t>) with the retrieved document context. The language model generates responses strictly based on the retrieved evidence, ensuring factual consistency and reducing hallucination.</a:t>
            </a:r>
          </a:p>
          <a:p>
            <a:endParaRPr lang="en-US" sz="1800" dirty="0"/>
          </a:p>
          <a:p>
            <a:r>
              <a:rPr lang="en-US" sz="1800" b="1" dirty="0"/>
              <a:t>7. RAG Orchestration Module</a:t>
            </a:r>
          </a:p>
          <a:p>
            <a:r>
              <a:rPr lang="en-US" sz="1800" dirty="0"/>
              <a:t>This module manages the end-to-end Retrieval-Augmented Generation pipeline by connecting retrieval and generation steps through </a:t>
            </a:r>
            <a:r>
              <a:rPr lang="en-US" sz="1800" dirty="0" err="1"/>
              <a:t>LangChain</a:t>
            </a:r>
            <a:r>
              <a:rPr lang="en-US" sz="1800" dirty="0"/>
              <a:t>. It ensures smooth coordination between the vector store, language model, and response generation.</a:t>
            </a:r>
            <a:br>
              <a:rPr lang="en-US" sz="1800" dirty="0"/>
            </a:br>
            <a:endParaRPr lang="en-US" sz="1800" dirty="0"/>
          </a:p>
          <a:p>
            <a:r>
              <a:rPr lang="en-US" sz="1800" b="1" dirty="0"/>
              <a:t>8. User Interface Module (</a:t>
            </a:r>
            <a:r>
              <a:rPr lang="en-US" sz="1800" b="1" dirty="0" err="1"/>
              <a:t>Streamlit</a:t>
            </a:r>
            <a:r>
              <a:rPr lang="en-US" sz="1800" b="1" dirty="0"/>
              <a:t>)</a:t>
            </a:r>
          </a:p>
          <a:p>
            <a:r>
              <a:rPr lang="en-US" sz="1800" dirty="0"/>
              <a:t>The </a:t>
            </a:r>
            <a:r>
              <a:rPr lang="en-US" sz="1800" dirty="0" err="1"/>
              <a:t>Streamlit</a:t>
            </a:r>
            <a:r>
              <a:rPr lang="en-US" sz="1800" dirty="0"/>
              <a:t>-based user interface enables users to interact with the chatbot by entering queries and viewing responses. It also caches the vector store to optimize performance and provides a simple, accessible interface for end users.</a:t>
            </a:r>
          </a:p>
        </p:txBody>
      </p:sp>
    </p:spTree>
    <p:extLst>
      <p:ext uri="{BB962C8B-B14F-4D97-AF65-F5344CB8AC3E}">
        <p14:creationId xmlns:p14="http://schemas.microsoft.com/office/powerpoint/2010/main" val="187308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45A613A2-6832-2D09-A4F4-1C2218B24499}"/>
            </a:ext>
          </a:extLst>
        </p:cNvPr>
        <p:cNvGrpSpPr/>
        <p:nvPr/>
      </p:nvGrpSpPr>
      <p:grpSpPr>
        <a:xfrm>
          <a:off x="0" y="0"/>
          <a:ext cx="0" cy="0"/>
          <a:chOff x="0" y="0"/>
          <a:chExt cx="0" cy="0"/>
        </a:xfrm>
      </p:grpSpPr>
      <p:sp>
        <p:nvSpPr>
          <p:cNvPr id="85" name="Google Shape;85;p13">
            <a:extLst>
              <a:ext uri="{FF2B5EF4-FFF2-40B4-BE49-F238E27FC236}">
                <a16:creationId xmlns:a16="http://schemas.microsoft.com/office/drawing/2014/main" id="{284C871C-3523-0517-A017-BBEA8DB37EB6}"/>
              </a:ext>
            </a:extLst>
          </p:cNvPr>
          <p:cNvSpPr txBox="1">
            <a:spLocks noGrp="1"/>
          </p:cNvSpPr>
          <p:nvPr>
            <p:ph type="title"/>
          </p:nvPr>
        </p:nvSpPr>
        <p:spPr>
          <a:xfrm>
            <a:off x="891641" y="283210"/>
            <a:ext cx="10562422" cy="443055"/>
          </a:xfrm>
          <a:prstGeom prst="rect">
            <a:avLst/>
          </a:prstGeom>
          <a:noFill/>
          <a:ln>
            <a:noFill/>
          </a:ln>
        </p:spPr>
        <p:txBody>
          <a:bodyPr spcFirstLastPara="1" wrap="square" lIns="0" tIns="12050" rIns="0" bIns="0" anchor="t" anchorCtr="0">
            <a:spAutoFit/>
          </a:bodyPr>
          <a:lstStyle/>
          <a:p>
            <a:pPr marL="12700" lvl="0"/>
            <a:r>
              <a:rPr lang="en-IN" dirty="0"/>
              <a:t>Hardware and Software Details</a:t>
            </a:r>
            <a:endParaRPr dirty="0"/>
          </a:p>
        </p:txBody>
      </p:sp>
      <p:sp>
        <p:nvSpPr>
          <p:cNvPr id="86" name="Google Shape;86;p13">
            <a:extLst>
              <a:ext uri="{FF2B5EF4-FFF2-40B4-BE49-F238E27FC236}">
                <a16:creationId xmlns:a16="http://schemas.microsoft.com/office/drawing/2014/main" id="{8C3F300B-A980-BC00-EDA6-72D30C8D07C4}"/>
              </a:ext>
            </a:extLst>
          </p:cNvPr>
          <p:cNvSpPr txBox="1"/>
          <p:nvPr/>
        </p:nvSpPr>
        <p:spPr>
          <a:xfrm>
            <a:off x="814639" y="1045329"/>
            <a:ext cx="10658675" cy="4229363"/>
          </a:xfrm>
          <a:prstGeom prst="rect">
            <a:avLst/>
          </a:prstGeom>
          <a:noFill/>
          <a:ln>
            <a:noFill/>
          </a:ln>
        </p:spPr>
        <p:txBody>
          <a:bodyPr spcFirstLastPara="1" wrap="square" lIns="0" tIns="12700" rIns="0" bIns="0" anchor="t" anchorCtr="0">
            <a:spAutoFit/>
          </a:bodyPr>
          <a:lstStyle/>
          <a:p>
            <a:r>
              <a:rPr lang="en-IN" sz="2000" b="1" dirty="0"/>
              <a:t>Hardware Requirements</a:t>
            </a:r>
          </a:p>
          <a:p>
            <a:pPr marL="285750" indent="-285750">
              <a:buFont typeface="Arial" panose="020B0604020202020204" pitchFamily="34" charset="0"/>
              <a:buChar char="•"/>
            </a:pPr>
            <a:r>
              <a:rPr lang="en-IN" sz="1800" dirty="0"/>
              <a:t>Standard personal computer or laptop</a:t>
            </a:r>
          </a:p>
          <a:p>
            <a:pPr marL="285750" indent="-285750">
              <a:buFont typeface="Arial" panose="020B0604020202020204" pitchFamily="34" charset="0"/>
              <a:buChar char="•"/>
            </a:pPr>
            <a:r>
              <a:rPr lang="en-IN" sz="1800" dirty="0"/>
              <a:t>Minimum 8 GB RAM</a:t>
            </a:r>
          </a:p>
          <a:p>
            <a:pPr marL="285750" indent="-285750">
              <a:buFont typeface="Arial" panose="020B0604020202020204" pitchFamily="34" charset="0"/>
              <a:buChar char="•"/>
            </a:pPr>
            <a:r>
              <a:rPr lang="en-IN" sz="1800" dirty="0"/>
              <a:t>CPU-based system (no dedicated GPU required)</a:t>
            </a:r>
          </a:p>
          <a:p>
            <a:pPr marL="285750" indent="-285750">
              <a:buFont typeface="Arial" panose="020B0604020202020204" pitchFamily="34" charset="0"/>
              <a:buChar char="•"/>
            </a:pPr>
            <a:r>
              <a:rPr lang="en-IN" sz="1800" dirty="0"/>
              <a:t>Internet connectivity for model and library access</a:t>
            </a:r>
          </a:p>
          <a:p>
            <a:br>
              <a:rPr lang="en-IN" sz="1800" dirty="0"/>
            </a:br>
            <a:endParaRPr lang="en-IN" sz="1800" dirty="0"/>
          </a:p>
          <a:p>
            <a:r>
              <a:rPr lang="en-IN" sz="2000" b="1" dirty="0"/>
              <a:t>Software Requirements</a:t>
            </a:r>
          </a:p>
          <a:p>
            <a:pPr marL="285750" indent="-285750">
              <a:buFont typeface="Arial" panose="020B0604020202020204" pitchFamily="34" charset="0"/>
              <a:buChar char="•"/>
            </a:pPr>
            <a:r>
              <a:rPr lang="en-IN" sz="1800" dirty="0"/>
              <a:t>Python 3.13 – Core programming language</a:t>
            </a:r>
          </a:p>
          <a:p>
            <a:pPr marL="285750" indent="-285750">
              <a:buFont typeface="Arial" panose="020B0604020202020204" pitchFamily="34" charset="0"/>
              <a:buChar char="•"/>
            </a:pPr>
            <a:r>
              <a:rPr lang="en-IN" sz="1800" dirty="0" err="1"/>
              <a:t>LangChain</a:t>
            </a:r>
            <a:r>
              <a:rPr lang="en-IN" sz="1800" dirty="0"/>
              <a:t> – Framework for building RAG pipelines</a:t>
            </a:r>
          </a:p>
          <a:p>
            <a:pPr marL="285750" indent="-285750">
              <a:buFont typeface="Arial" panose="020B0604020202020204" pitchFamily="34" charset="0"/>
              <a:buChar char="•"/>
            </a:pPr>
            <a:r>
              <a:rPr lang="en-IN" sz="1800" dirty="0" err="1"/>
              <a:t>HuggingFace</a:t>
            </a:r>
            <a:r>
              <a:rPr lang="en-IN" sz="1800" dirty="0"/>
              <a:t> – Model hub for LLM and embeddings</a:t>
            </a:r>
          </a:p>
          <a:p>
            <a:pPr marL="285750" indent="-285750">
              <a:buFont typeface="Arial" panose="020B0604020202020204" pitchFamily="34" charset="0"/>
              <a:buChar char="•"/>
            </a:pPr>
            <a:r>
              <a:rPr lang="en-IN" sz="1800" dirty="0"/>
              <a:t>Mistral – Large Language Model for response generation</a:t>
            </a:r>
          </a:p>
          <a:p>
            <a:pPr marL="285750" indent="-285750">
              <a:buFont typeface="Arial" panose="020B0604020202020204" pitchFamily="34" charset="0"/>
              <a:buChar char="•"/>
            </a:pPr>
            <a:r>
              <a:rPr lang="en-IN" sz="1800" dirty="0"/>
              <a:t>FAISS – Vector database for semantic search</a:t>
            </a:r>
          </a:p>
          <a:p>
            <a:pPr marL="285750" indent="-285750">
              <a:buFont typeface="Arial" panose="020B0604020202020204" pitchFamily="34" charset="0"/>
              <a:buChar char="•"/>
            </a:pPr>
            <a:r>
              <a:rPr lang="en-IN" sz="1800" dirty="0" err="1"/>
              <a:t>Streamlit</a:t>
            </a:r>
            <a:r>
              <a:rPr lang="en-IN" sz="1800" dirty="0"/>
              <a:t> – Web-based chatbot user interface</a:t>
            </a:r>
          </a:p>
          <a:p>
            <a:pPr marL="285750" indent="-285750">
              <a:buFont typeface="Arial" panose="020B0604020202020204" pitchFamily="34" charset="0"/>
              <a:buChar char="•"/>
            </a:pPr>
            <a:r>
              <a:rPr lang="en-IN" sz="1800" dirty="0"/>
              <a:t>VS Code – Integrated Development Environment</a:t>
            </a:r>
          </a:p>
        </p:txBody>
      </p:sp>
    </p:spTree>
    <p:extLst>
      <p:ext uri="{BB962C8B-B14F-4D97-AF65-F5344CB8AC3E}">
        <p14:creationId xmlns:p14="http://schemas.microsoft.com/office/powerpoint/2010/main" val="13238250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FBF0A956-57EA-431D-BF49-1D1E57803F62}"/>
            </a:ext>
          </a:extLst>
        </p:cNvPr>
        <p:cNvGrpSpPr/>
        <p:nvPr/>
      </p:nvGrpSpPr>
      <p:grpSpPr>
        <a:xfrm>
          <a:off x="0" y="0"/>
          <a:ext cx="0" cy="0"/>
          <a:chOff x="0" y="0"/>
          <a:chExt cx="0" cy="0"/>
        </a:xfrm>
      </p:grpSpPr>
      <p:sp>
        <p:nvSpPr>
          <p:cNvPr id="85" name="Google Shape;85;p13">
            <a:extLst>
              <a:ext uri="{FF2B5EF4-FFF2-40B4-BE49-F238E27FC236}">
                <a16:creationId xmlns:a16="http://schemas.microsoft.com/office/drawing/2014/main" id="{3097AF7D-A6F3-6134-BC40-135B99B889C9}"/>
              </a:ext>
            </a:extLst>
          </p:cNvPr>
          <p:cNvSpPr txBox="1">
            <a:spLocks noGrp="1"/>
          </p:cNvSpPr>
          <p:nvPr>
            <p:ph type="title"/>
          </p:nvPr>
        </p:nvSpPr>
        <p:spPr>
          <a:xfrm>
            <a:off x="891641" y="283210"/>
            <a:ext cx="10562422" cy="443055"/>
          </a:xfrm>
          <a:prstGeom prst="rect">
            <a:avLst/>
          </a:prstGeom>
          <a:noFill/>
          <a:ln>
            <a:noFill/>
          </a:ln>
        </p:spPr>
        <p:txBody>
          <a:bodyPr spcFirstLastPara="1" wrap="square" lIns="0" tIns="12050" rIns="0" bIns="0" anchor="t" anchorCtr="0">
            <a:spAutoFit/>
          </a:bodyPr>
          <a:lstStyle/>
          <a:p>
            <a:pPr marL="12700" lvl="0"/>
            <a:r>
              <a:rPr lang="en-IN" dirty="0"/>
              <a:t>Timeline (Gantt Chart)</a:t>
            </a:r>
            <a:endParaRPr dirty="0"/>
          </a:p>
        </p:txBody>
      </p:sp>
      <p:pic>
        <p:nvPicPr>
          <p:cNvPr id="3" name="Picture 2">
            <a:extLst>
              <a:ext uri="{FF2B5EF4-FFF2-40B4-BE49-F238E27FC236}">
                <a16:creationId xmlns:a16="http://schemas.microsoft.com/office/drawing/2014/main" id="{E6D766F2-9EDA-A283-00FA-3BBEEFBD5DE4}"/>
              </a:ext>
            </a:extLst>
          </p:cNvPr>
          <p:cNvPicPr>
            <a:picLocks noChangeAspect="1"/>
          </p:cNvPicPr>
          <p:nvPr/>
        </p:nvPicPr>
        <p:blipFill>
          <a:blip r:embed="rId3"/>
          <a:stretch>
            <a:fillRect/>
          </a:stretch>
        </p:blipFill>
        <p:spPr>
          <a:xfrm>
            <a:off x="737938" y="980079"/>
            <a:ext cx="10658676" cy="5012387"/>
          </a:xfrm>
          <a:prstGeom prst="rect">
            <a:avLst/>
          </a:prstGeom>
        </p:spPr>
      </p:pic>
    </p:spTree>
    <p:extLst>
      <p:ext uri="{BB962C8B-B14F-4D97-AF65-F5344CB8AC3E}">
        <p14:creationId xmlns:p14="http://schemas.microsoft.com/office/powerpoint/2010/main" val="3894733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891641" y="283210"/>
            <a:ext cx="7863205" cy="532891"/>
          </a:xfrm>
          <a:prstGeom prst="rect">
            <a:avLst/>
          </a:prstGeom>
          <a:noFill/>
          <a:ln>
            <a:noFill/>
          </a:ln>
        </p:spPr>
        <p:txBody>
          <a:bodyPr spcFirstLastPara="1" wrap="square" lIns="0" tIns="92825" rIns="0" bIns="0" anchor="t" anchorCtr="0">
            <a:spAutoFit/>
          </a:bodyPr>
          <a:lstStyle/>
          <a:p>
            <a:pPr marL="165100" lvl="0" indent="0" algn="l" rtl="0">
              <a:lnSpc>
                <a:spcPct val="100000"/>
              </a:lnSpc>
              <a:spcBef>
                <a:spcPts val="0"/>
              </a:spcBef>
              <a:spcAft>
                <a:spcPts val="0"/>
              </a:spcAft>
              <a:buNone/>
            </a:pPr>
            <a:r>
              <a:rPr lang="en-US"/>
              <a:t>Github Link</a:t>
            </a:r>
            <a:endParaRPr/>
          </a:p>
        </p:txBody>
      </p:sp>
      <p:sp>
        <p:nvSpPr>
          <p:cNvPr id="92" name="Google Shape;92;p14"/>
          <p:cNvSpPr txBox="1"/>
          <p:nvPr/>
        </p:nvSpPr>
        <p:spPr>
          <a:xfrm>
            <a:off x="891641" y="1043525"/>
            <a:ext cx="8970645" cy="764312"/>
          </a:xfrm>
          <a:prstGeom prst="rect">
            <a:avLst/>
          </a:prstGeom>
          <a:noFill/>
          <a:ln>
            <a:noFill/>
          </a:ln>
        </p:spPr>
        <p:txBody>
          <a:bodyPr spcFirstLastPara="1" wrap="square" lIns="0" tIns="12700" rIns="0" bIns="0" anchor="t" anchorCtr="0">
            <a:spAutoFit/>
          </a:bodyPr>
          <a:lstStyle/>
          <a:p>
            <a:pPr marL="0" lvl="0" indent="0" algn="l" rtl="0">
              <a:lnSpc>
                <a:spcPct val="100000"/>
              </a:lnSpc>
              <a:spcBef>
                <a:spcPts val="65"/>
              </a:spcBef>
              <a:spcAft>
                <a:spcPts val="0"/>
              </a:spcAft>
              <a:buNone/>
            </a:pPr>
            <a:endParaRPr sz="2400" dirty="0">
              <a:latin typeface="Cambria"/>
              <a:ea typeface="Cambria"/>
              <a:cs typeface="Cambria"/>
              <a:sym typeface="Cambria"/>
            </a:endParaRPr>
          </a:p>
          <a:p>
            <a:pPr marL="165100" lvl="0">
              <a:spcBef>
                <a:spcPts val="5"/>
              </a:spcBef>
            </a:pPr>
            <a:r>
              <a:rPr lang="en-US" sz="2400" u="sng" dirty="0">
                <a:solidFill>
                  <a:srgbClr val="0000FF"/>
                </a:solidFill>
                <a:latin typeface="Cambria"/>
                <a:ea typeface="Cambria"/>
                <a:cs typeface="Cambria"/>
                <a:sym typeface="Cambria"/>
              </a:rPr>
              <a:t>https://github.com/Stu-Affan/Medical-Chatbot</a:t>
            </a:r>
            <a:endParaRPr sz="2400" dirty="0">
              <a:latin typeface="Cambria"/>
              <a:ea typeface="Cambria"/>
              <a:cs typeface="Cambria"/>
              <a:sym typeface="Cambri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a:off x="891641" y="283210"/>
            <a:ext cx="7863205" cy="532891"/>
          </a:xfrm>
          <a:prstGeom prst="rect">
            <a:avLst/>
          </a:prstGeom>
          <a:noFill/>
          <a:ln>
            <a:noFill/>
          </a:ln>
        </p:spPr>
        <p:txBody>
          <a:bodyPr spcFirstLastPara="1" wrap="square" lIns="0" tIns="92825" rIns="0" bIns="0" anchor="t" anchorCtr="0">
            <a:spAutoFit/>
          </a:bodyPr>
          <a:lstStyle/>
          <a:p>
            <a:pPr marL="165100" lvl="0" indent="0" algn="l" rtl="0">
              <a:lnSpc>
                <a:spcPct val="100000"/>
              </a:lnSpc>
              <a:spcBef>
                <a:spcPts val="0"/>
              </a:spcBef>
              <a:spcAft>
                <a:spcPts val="0"/>
              </a:spcAft>
              <a:buNone/>
            </a:pPr>
            <a:r>
              <a:rPr lang="en-US"/>
              <a:t>REFERENCES</a:t>
            </a:r>
            <a:endParaRPr/>
          </a:p>
        </p:txBody>
      </p:sp>
      <p:sp>
        <p:nvSpPr>
          <p:cNvPr id="98" name="Google Shape;98;p15"/>
          <p:cNvSpPr txBox="1">
            <a:spLocks noGrp="1"/>
          </p:cNvSpPr>
          <p:nvPr>
            <p:ph type="body" idx="1"/>
          </p:nvPr>
        </p:nvSpPr>
        <p:spPr>
          <a:xfrm>
            <a:off x="891641" y="1170178"/>
            <a:ext cx="10351770" cy="5275803"/>
          </a:xfrm>
          <a:prstGeom prst="rect">
            <a:avLst/>
          </a:prstGeom>
          <a:noFill/>
          <a:ln>
            <a:noFill/>
          </a:ln>
        </p:spPr>
        <p:txBody>
          <a:bodyPr spcFirstLastPara="1" wrap="square" lIns="0" tIns="12700" rIns="0" bIns="0" anchor="t" anchorCtr="0">
            <a:spAutoFit/>
          </a:bodyPr>
          <a:lstStyle/>
          <a:p>
            <a:r>
              <a:rPr lang="en-IN" dirty="0"/>
              <a:t>[1] Laranjo, L., Dunn, A.G., Tong, H.L., </a:t>
            </a:r>
            <a:r>
              <a:rPr lang="en-IN" dirty="0" err="1"/>
              <a:t>Kocaballi</a:t>
            </a:r>
            <a:r>
              <a:rPr lang="en-IN" dirty="0"/>
              <a:t>, A.B., Chen, J., Bashir, R., Surian, D., Gallego, B., </a:t>
            </a:r>
            <a:r>
              <a:rPr lang="en-IN" dirty="0" err="1"/>
              <a:t>Magrabi</a:t>
            </a:r>
            <a:r>
              <a:rPr lang="en-IN" dirty="0"/>
              <a:t>, F., Lau, A.Y.S. and </a:t>
            </a:r>
            <a:r>
              <a:rPr lang="en-IN" dirty="0" err="1"/>
              <a:t>Coiera</a:t>
            </a:r>
            <a:r>
              <a:rPr lang="en-IN" dirty="0"/>
              <a:t>, E., 2018. Conversational agents in healthcare: A systematic review. </a:t>
            </a:r>
            <a:r>
              <a:rPr lang="en-IN" i="1" dirty="0"/>
              <a:t>Journal of the American Medical Informatics Association</a:t>
            </a:r>
            <a:r>
              <a:rPr lang="en-IN" dirty="0"/>
              <a:t>, 25(9), pp.1248–1258. </a:t>
            </a:r>
            <a:br>
              <a:rPr lang="en-IN" dirty="0"/>
            </a:br>
            <a:endParaRPr lang="en-IN" dirty="0"/>
          </a:p>
          <a:p>
            <a:r>
              <a:rPr lang="en-US" dirty="0"/>
              <a:t>[2]Bickmore, T.W., Trinh, H., Asadi, R. and Olafsson, S., 2018. </a:t>
            </a:r>
            <a:r>
              <a:rPr lang="en-US" i="1" dirty="0"/>
              <a:t>Safety first: Conversational agents for health information</a:t>
            </a:r>
            <a:r>
              <a:rPr lang="en-US" dirty="0"/>
              <a:t>. Journal of Biomedical Informatics, 82, pp.1–9.</a:t>
            </a:r>
            <a:br>
              <a:rPr lang="en-IN" dirty="0"/>
            </a:br>
            <a:endParaRPr lang="en-IN" dirty="0"/>
          </a:p>
          <a:p>
            <a:r>
              <a:rPr lang="en-US" dirty="0"/>
              <a:t>[3]Wilson, L. and </a:t>
            </a:r>
            <a:r>
              <a:rPr lang="en-US" dirty="0" err="1"/>
              <a:t>Marasoiu</a:t>
            </a:r>
            <a:r>
              <a:rPr lang="en-US" dirty="0"/>
              <a:t>, M., 2022. The development and use of chatbots in public health: Scoping review. </a:t>
            </a:r>
            <a:r>
              <a:rPr lang="en-US" i="1" dirty="0"/>
              <a:t>JMIR Human Factors</a:t>
            </a:r>
            <a:r>
              <a:rPr lang="en-US" dirty="0"/>
              <a:t>, 9(4), e35882.</a:t>
            </a:r>
          </a:p>
          <a:p>
            <a:endParaRPr lang="en-US" dirty="0"/>
          </a:p>
          <a:p>
            <a:r>
              <a:rPr lang="en-US" dirty="0"/>
              <a:t>[4]Branda F, Stella M, Ceccarelli C, </a:t>
            </a:r>
            <a:r>
              <a:rPr lang="en-US" dirty="0" err="1"/>
              <a:t>Cabitza</a:t>
            </a:r>
            <a:r>
              <a:rPr lang="en-US" dirty="0"/>
              <a:t> F, Ceccarelli G, </a:t>
            </a:r>
            <a:r>
              <a:rPr lang="en-US" dirty="0" err="1"/>
              <a:t>Maruotti</a:t>
            </a:r>
            <a:r>
              <a:rPr lang="en-US" dirty="0"/>
              <a:t> A, </a:t>
            </a:r>
            <a:r>
              <a:rPr lang="en-US" dirty="0" err="1"/>
              <a:t>Ciccozzi</a:t>
            </a:r>
            <a:r>
              <a:rPr lang="en-US" dirty="0"/>
              <a:t> M, Scarpa F. The Role of AI-Based Chatbots in Public Health Emergencies: A Narrative Review. Future Internet. 2025; 17(4):145. https://doi.org/10.3390/fi17040145</a:t>
            </a:r>
            <a:br>
              <a:rPr lang="en-US" dirty="0"/>
            </a:br>
            <a:endParaRPr lang="en-US" dirty="0"/>
          </a:p>
          <a:p>
            <a:r>
              <a:rPr lang="en-IN" dirty="0"/>
              <a:t>[5]Singhal, K., Tu, T., </a:t>
            </a:r>
            <a:r>
              <a:rPr lang="en-IN" dirty="0" err="1"/>
              <a:t>Gottweis</a:t>
            </a:r>
            <a:r>
              <a:rPr lang="en-IN" dirty="0"/>
              <a:t>, J., Sayres, R., </a:t>
            </a:r>
            <a:r>
              <a:rPr lang="en-IN" dirty="0" err="1"/>
              <a:t>Wulczyn</a:t>
            </a:r>
            <a:r>
              <a:rPr lang="en-IN" dirty="0"/>
              <a:t>, E., Hou, L., Clark, K., Pfohl, S., Cole-Lewis, H., Neal, D., </a:t>
            </a:r>
            <a:r>
              <a:rPr lang="en-IN" dirty="0" err="1"/>
              <a:t>Schaekermann</a:t>
            </a:r>
            <a:r>
              <a:rPr lang="en-IN" dirty="0"/>
              <a:t>, M., Wang, A., Amin, M., Seneviratne, S., Wu, Z., </a:t>
            </a:r>
            <a:r>
              <a:rPr lang="en-IN" dirty="0" err="1"/>
              <a:t>Aratow</a:t>
            </a:r>
            <a:r>
              <a:rPr lang="en-IN" dirty="0"/>
              <a:t>, M., Prabhakaran, D., Gao, S., Narayan, R., and Corrado, G., 2023. Large language models encode clinical knowledge. </a:t>
            </a:r>
            <a:r>
              <a:rPr lang="en-IN" i="1" dirty="0"/>
              <a:t>Nature</a:t>
            </a:r>
            <a:r>
              <a:rPr lang="en-IN" dirty="0"/>
              <a:t>, 620, pp.172–180.</a:t>
            </a:r>
            <a:br>
              <a:rPr lang="en-IN" dirty="0"/>
            </a:br>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80C7C25A-C7D3-0491-898F-CDEA5F12F0E1}"/>
            </a:ext>
          </a:extLst>
        </p:cNvPr>
        <p:cNvGrpSpPr/>
        <p:nvPr/>
      </p:nvGrpSpPr>
      <p:grpSpPr>
        <a:xfrm>
          <a:off x="0" y="0"/>
          <a:ext cx="0" cy="0"/>
          <a:chOff x="0" y="0"/>
          <a:chExt cx="0" cy="0"/>
        </a:xfrm>
      </p:grpSpPr>
      <p:sp>
        <p:nvSpPr>
          <p:cNvPr id="97" name="Google Shape;97;p15">
            <a:extLst>
              <a:ext uri="{FF2B5EF4-FFF2-40B4-BE49-F238E27FC236}">
                <a16:creationId xmlns:a16="http://schemas.microsoft.com/office/drawing/2014/main" id="{A90DFC3E-DB46-8B17-24B7-4A749ED18BED}"/>
              </a:ext>
            </a:extLst>
          </p:cNvPr>
          <p:cNvSpPr txBox="1">
            <a:spLocks noGrp="1"/>
          </p:cNvSpPr>
          <p:nvPr>
            <p:ph type="title"/>
          </p:nvPr>
        </p:nvSpPr>
        <p:spPr>
          <a:xfrm>
            <a:off x="891641" y="283210"/>
            <a:ext cx="7863205" cy="532891"/>
          </a:xfrm>
          <a:prstGeom prst="rect">
            <a:avLst/>
          </a:prstGeom>
          <a:noFill/>
          <a:ln>
            <a:noFill/>
          </a:ln>
        </p:spPr>
        <p:txBody>
          <a:bodyPr spcFirstLastPara="1" wrap="square" lIns="0" tIns="92825" rIns="0" bIns="0" anchor="t" anchorCtr="0">
            <a:spAutoFit/>
          </a:bodyPr>
          <a:lstStyle/>
          <a:p>
            <a:pPr marL="165100" lvl="0" indent="0" algn="l" rtl="0">
              <a:lnSpc>
                <a:spcPct val="100000"/>
              </a:lnSpc>
              <a:spcBef>
                <a:spcPts val="0"/>
              </a:spcBef>
              <a:spcAft>
                <a:spcPts val="0"/>
              </a:spcAft>
              <a:buNone/>
            </a:pPr>
            <a:r>
              <a:rPr lang="en-US"/>
              <a:t>REFERENCES</a:t>
            </a:r>
            <a:endParaRPr/>
          </a:p>
        </p:txBody>
      </p:sp>
      <p:sp>
        <p:nvSpPr>
          <p:cNvPr id="98" name="Google Shape;98;p15">
            <a:extLst>
              <a:ext uri="{FF2B5EF4-FFF2-40B4-BE49-F238E27FC236}">
                <a16:creationId xmlns:a16="http://schemas.microsoft.com/office/drawing/2014/main" id="{5F63B3E5-288E-31AE-CDB1-A5BBBFDFF926}"/>
              </a:ext>
            </a:extLst>
          </p:cNvPr>
          <p:cNvSpPr txBox="1">
            <a:spLocks noGrp="1"/>
          </p:cNvSpPr>
          <p:nvPr>
            <p:ph type="body" idx="1"/>
          </p:nvPr>
        </p:nvSpPr>
        <p:spPr>
          <a:xfrm>
            <a:off x="891641" y="1170178"/>
            <a:ext cx="10351770" cy="4721805"/>
          </a:xfrm>
          <a:prstGeom prst="rect">
            <a:avLst/>
          </a:prstGeom>
          <a:noFill/>
          <a:ln>
            <a:noFill/>
          </a:ln>
        </p:spPr>
        <p:txBody>
          <a:bodyPr spcFirstLastPara="1" wrap="square" lIns="0" tIns="12700" rIns="0" bIns="0" anchor="t" anchorCtr="0">
            <a:spAutoFit/>
          </a:bodyPr>
          <a:lstStyle/>
          <a:p>
            <a:pPr algn="just"/>
            <a:r>
              <a:rPr lang="en-IN" dirty="0"/>
              <a:t>[6]Ji, Z., Lee, N., </a:t>
            </a:r>
            <a:r>
              <a:rPr lang="en-IN" dirty="0" err="1"/>
              <a:t>Frieske</a:t>
            </a:r>
            <a:r>
              <a:rPr lang="en-IN" dirty="0"/>
              <a:t>, R., Yu, T., Su, D., Xu, Y., Ishii, E., Bang, Y.J., </a:t>
            </a:r>
            <a:r>
              <a:rPr lang="en-IN" dirty="0" err="1"/>
              <a:t>Madotto</a:t>
            </a:r>
            <a:r>
              <a:rPr lang="en-IN" dirty="0"/>
              <a:t>, A. and Fung, P., 2023. Survey of hallucination in natural language generation. </a:t>
            </a:r>
            <a:r>
              <a:rPr lang="en-IN" i="1" dirty="0"/>
              <a:t>ACM Computing Surveys</a:t>
            </a:r>
            <a:r>
              <a:rPr lang="en-IN" dirty="0"/>
              <a:t>, 55(12), pp.1–38.</a:t>
            </a:r>
            <a:br>
              <a:rPr lang="en-IN" dirty="0"/>
            </a:br>
            <a:endParaRPr lang="en-IN" dirty="0"/>
          </a:p>
          <a:p>
            <a:pPr algn="just"/>
            <a:r>
              <a:rPr lang="en-IN" dirty="0"/>
              <a:t>[7]Lewis, P., Perez, E., </a:t>
            </a:r>
            <a:r>
              <a:rPr lang="en-IN" dirty="0" err="1"/>
              <a:t>Piktus</a:t>
            </a:r>
            <a:r>
              <a:rPr lang="en-IN" dirty="0"/>
              <a:t>, A., Petroni, F., </a:t>
            </a:r>
            <a:r>
              <a:rPr lang="en-IN" dirty="0" err="1"/>
              <a:t>Karpukhin</a:t>
            </a:r>
            <a:r>
              <a:rPr lang="en-IN" dirty="0"/>
              <a:t>, V., Goyal, N., </a:t>
            </a:r>
            <a:r>
              <a:rPr lang="en-IN" dirty="0" err="1"/>
              <a:t>Küttler</a:t>
            </a:r>
            <a:r>
              <a:rPr lang="en-IN" dirty="0"/>
              <a:t>, H., Lewis, M., Yih, W., </a:t>
            </a:r>
            <a:r>
              <a:rPr lang="en-IN" dirty="0" err="1"/>
              <a:t>Rocktäschel</a:t>
            </a:r>
            <a:r>
              <a:rPr lang="en-IN" dirty="0"/>
              <a:t>, T., Riedel, S. and Kiela, D., 2020. Retrieval-augmented generation for knowledge-intensive NLP tasks. </a:t>
            </a:r>
            <a:r>
              <a:rPr lang="en-IN" i="1" dirty="0"/>
              <a:t>Advances in Neural Information Processing Systems (</a:t>
            </a:r>
            <a:r>
              <a:rPr lang="en-IN" i="1" dirty="0" err="1"/>
              <a:t>NeurIPS</a:t>
            </a:r>
            <a:r>
              <a:rPr lang="en-IN" i="1" dirty="0"/>
              <a:t>)</a:t>
            </a:r>
            <a:r>
              <a:rPr lang="en-IN" dirty="0"/>
              <a:t>, 33, pp.9459–9474.</a:t>
            </a:r>
          </a:p>
          <a:p>
            <a:pPr algn="just"/>
            <a:endParaRPr lang="en-IN" dirty="0"/>
          </a:p>
          <a:p>
            <a:pPr algn="just"/>
            <a:r>
              <a:rPr lang="en-IN" dirty="0"/>
              <a:t>[8]Izacard, G. and Grave, E., 2021. Leveraging passage retrieval with generative models for open domain question answering. </a:t>
            </a:r>
            <a:r>
              <a:rPr lang="en-IN" i="1" dirty="0"/>
              <a:t>Proceedings of the 16th Conference of the European Chapter of the Association for Computational Linguistics (EACL)</a:t>
            </a:r>
            <a:r>
              <a:rPr lang="en-IN" dirty="0"/>
              <a:t>, pp.874–880.</a:t>
            </a:r>
            <a:br>
              <a:rPr lang="en-IN" dirty="0"/>
            </a:br>
            <a:endParaRPr lang="en-IN" dirty="0"/>
          </a:p>
          <a:p>
            <a:pPr algn="just"/>
            <a:r>
              <a:rPr lang="en-IN" dirty="0"/>
              <a:t>[9]Miner, A.S., Laranjo, L. and </a:t>
            </a:r>
            <a:r>
              <a:rPr lang="en-IN" dirty="0" err="1"/>
              <a:t>Kocaballi</a:t>
            </a:r>
            <a:r>
              <a:rPr lang="en-IN" dirty="0"/>
              <a:t>, A.B., 2020. Chatbots in the fight against the COVID-19 pandemic. </a:t>
            </a:r>
            <a:r>
              <a:rPr lang="en-IN" i="1" dirty="0" err="1"/>
              <a:t>npj</a:t>
            </a:r>
            <a:r>
              <a:rPr lang="en-IN" i="1" dirty="0"/>
              <a:t> Digital Medicine</a:t>
            </a:r>
            <a:r>
              <a:rPr lang="en-IN" dirty="0"/>
              <a:t>, 3(65), pp.1–4.</a:t>
            </a:r>
          </a:p>
          <a:p>
            <a:pPr algn="just"/>
            <a:endParaRPr lang="en-IN" dirty="0"/>
          </a:p>
          <a:p>
            <a:pPr algn="just"/>
            <a:r>
              <a:rPr lang="en-IN" dirty="0"/>
              <a:t>[10]Devaraj, A., Sharma, A. and Ghosh, P., 2022. Evidence-based clinical decision support using natural language processing and retrieval systems. </a:t>
            </a:r>
            <a:r>
              <a:rPr lang="en-IN" i="1" dirty="0"/>
              <a:t>Journal of Biomedical Informatics</a:t>
            </a:r>
            <a:r>
              <a:rPr lang="en-IN" dirty="0"/>
              <a:t>, 128, 104002.</a:t>
            </a:r>
            <a:br>
              <a:rPr lang="en-IN" dirty="0"/>
            </a:br>
            <a:endParaRPr lang="en-IN" dirty="0"/>
          </a:p>
        </p:txBody>
      </p:sp>
    </p:spTree>
    <p:extLst>
      <p:ext uri="{BB962C8B-B14F-4D97-AF65-F5344CB8AC3E}">
        <p14:creationId xmlns:p14="http://schemas.microsoft.com/office/powerpoint/2010/main" val="660087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103" name="Google Shape;103;p16"/>
          <p:cNvPicPr preferRelativeResize="0"/>
          <p:nvPr/>
        </p:nvPicPr>
        <p:blipFill rotWithShape="1">
          <a:blip r:embed="rId3">
            <a:alphaModFix/>
          </a:blip>
          <a:srcRect/>
          <a:stretch/>
        </p:blipFill>
        <p:spPr>
          <a:xfrm>
            <a:off x="4082796" y="1441322"/>
            <a:ext cx="3893311" cy="393547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TotalTime>
  <Words>2821</Words>
  <Application>Microsoft Office PowerPoint</Application>
  <PresentationFormat>Widescreen</PresentationFormat>
  <Paragraphs>223</Paragraphs>
  <Slides>21</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Cambria</vt:lpstr>
      <vt:lpstr>Trebuchet MS</vt:lpstr>
      <vt:lpstr>Office Theme</vt:lpstr>
      <vt:lpstr>Al-Driven Public Health Chatbot for Disease Awareness - Medibot</vt:lpstr>
      <vt:lpstr>Abstract</vt:lpstr>
      <vt:lpstr>Literature Survey</vt:lpstr>
      <vt:lpstr>Literature Survey</vt:lpstr>
      <vt:lpstr>Literature Survey</vt:lpstr>
      <vt:lpstr>Literature Survey</vt:lpstr>
      <vt:lpstr>Literature Survey</vt:lpstr>
      <vt:lpstr>Literature Survey</vt:lpstr>
      <vt:lpstr>Literature Survey</vt:lpstr>
      <vt:lpstr>Objectives</vt:lpstr>
      <vt:lpstr>Existing Methods and Drawbacks</vt:lpstr>
      <vt:lpstr>Proposed Methodology &amp; Feasibility Study</vt:lpstr>
      <vt:lpstr>Architecture Diagram</vt:lpstr>
      <vt:lpstr>Modules</vt:lpstr>
      <vt:lpstr>Modules</vt:lpstr>
      <vt:lpstr>Hardware and Software Details</vt:lpstr>
      <vt:lpstr>Timeline (Gantt Chart)</vt:lpstr>
      <vt:lpstr>Github Link</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smohammed affan</cp:lastModifiedBy>
  <cp:revision>6</cp:revision>
  <dcterms:modified xsi:type="dcterms:W3CDTF">2026-02-03T03:54:17Z</dcterms:modified>
</cp:coreProperties>
</file>